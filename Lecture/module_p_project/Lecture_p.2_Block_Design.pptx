
<file path=[Content_Types].xml><?xml version="1.0" encoding="utf-8"?>
<Types xmlns="http://schemas.openxmlformats.org/package/2006/content-types">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5"/>
  </p:notesMasterIdLst>
  <p:sldIdLst>
    <p:sldId id="256" r:id="rId2"/>
    <p:sldId id="257" r:id="rId3"/>
    <p:sldId id="268" r:id="rId4"/>
    <p:sldId id="270" r:id="rId5"/>
    <p:sldId id="271" r:id="rId6"/>
    <p:sldId id="272" r:id="rId7"/>
    <p:sldId id="273" r:id="rId8"/>
    <p:sldId id="274" r:id="rId9"/>
    <p:sldId id="275" r:id="rId10"/>
    <p:sldId id="276" r:id="rId11"/>
    <p:sldId id="277" r:id="rId12"/>
    <p:sldId id="278" r:id="rId13"/>
    <p:sldId id="279" r:id="rId14"/>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21818"/>
    <p:restoredTop sz="94610"/>
  </p:normalViewPr>
  <p:slideViewPr>
    <p:cSldViewPr snapToGrid="0" snapToObjects="1">
      <p:cViewPr varScale="1">
        <p:scale>
          <a:sx n="106" d="100"/>
          <a:sy n="106" d="100"/>
        </p:scale>
        <p:origin x="200" y="23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notesMaster" Target="notesMasters/notesMaster1.xml"/><Relationship Id="rId10" Type="http://schemas.openxmlformats.org/officeDocument/2006/relationships/slide" Target="slides/slide9.xml"/><Relationship Id="rId19"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34904297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833275F-84AF-8581-D4B5-8749C6EFA71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4DB3041-7FDA-990F-DB95-C75C32FD574B}"/>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1484C388-AA23-09A9-B62F-ABB0DCF9034C}"/>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4059FAA3-7363-47A3-8CEA-6D54252FAAA2}"/>
              </a:ext>
            </a:extLst>
          </p:cNvPr>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26207183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4FECCA5-1462-0B56-3A31-2E7B82A1EFF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719AFCB-606D-B960-CE5C-1F926E614112}"/>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AA33293B-7147-C034-DD6B-B804A4D367AF}"/>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A8C83860-A23F-282C-4E3C-1C50EBA6FDBA}"/>
              </a:ext>
            </a:extLst>
          </p:cNvPr>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594476216"/>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52026E6-C2C0-C09B-A81B-9EDF35A9DE1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24D7FE8-527A-6FB7-7778-C13C2D063BE4}"/>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9192E272-6618-7065-644B-F6158BB626FA}"/>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4038904C-D3D8-B9A2-A517-71564FAE118B}"/>
              </a:ext>
            </a:extLst>
          </p:cNvPr>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39432105"/>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BD6FE8D-B209-EF7B-8439-1D2D5188BAD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B6CE7F4-815C-7AAD-7C48-966245E70CFA}"/>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959C7EE9-E50F-858D-F879-E483603BBBEB}"/>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143C97F8-CD64-48F7-9CA4-7ABD7702DF4A}"/>
              </a:ext>
            </a:extLst>
          </p:cNvPr>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3513789416"/>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D3F29C7-A82F-1E62-098E-2D76E4F6E31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7B71DC6-E20A-D6F7-D47D-E15232F654F8}"/>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6F77D73-872B-ACC4-161F-6B75C5535416}"/>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E5CC7538-F7F3-59BB-317A-EA6356C2E0A0}"/>
              </a:ext>
            </a:extLst>
          </p:cNvPr>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845310498"/>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96D5FCD-DE3E-B6E8-8068-AD8F09121DA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20BF1B9-581D-33B7-1A18-F54324D721EF}"/>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559E4966-B392-99C4-1AE6-E104F036E296}"/>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608EFA40-467D-55C7-970D-9D4AACDD1319}"/>
              </a:ext>
            </a:extLst>
          </p:cNvPr>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551197243"/>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0ACE610-B31A-1744-5700-DCD67058536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BAAC575-12E4-A629-34E5-57EFCC90299B}"/>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0BF3D47C-90CF-4916-4693-3E6BE1D8728D}"/>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199405F2-0892-C1E7-CB43-3D4E02EDB6B7}"/>
              </a:ext>
            </a:extLst>
          </p:cNvPr>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502961972"/>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D76E4D0-6EA6-F0BD-9F81-7A816DADDDA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052A561-16D1-CD0E-FAE0-07BEA520F09F}"/>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988E3C8A-F74F-B146-4853-5EDE51F14781}"/>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D5A6B95B-419D-5191-8365-672433A3BB4B}"/>
              </a:ext>
            </a:extLst>
          </p:cNvPr>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3104238540"/>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4B63FDE-3332-4986-CF07-152B008D33A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7FBC764-F0AD-8566-9263-BEEF3B42B427}"/>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8626F724-84D1-2D60-0F2F-1528E377A220}"/>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2890ACFC-FDE7-DE61-F9D3-FA06D29C2643}"/>
              </a:ext>
            </a:extLst>
          </p:cNvPr>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3178648750"/>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6C4CF56-C256-437F-A269-A0414C9264C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3E2657A-20C3-841A-22D8-75A004C0E224}"/>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E9D31101-584E-6D89-5461-809F0C375495}"/>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24CEF40F-EE20-DC44-6D5D-38239EE4C36B}"/>
              </a:ext>
            </a:extLst>
          </p:cNvPr>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956229874"/>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5608874-ED8C-53CB-EAE8-C36118B28C2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2406DAD-14AD-DB2E-713B-9F619BB210F2}"/>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5BCB2E2E-65B7-99C9-CA09-F04306AFF1D5}"/>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360A5278-2A88-670D-FAA4-553B3E57F3D0}"/>
              </a:ext>
            </a:extLst>
          </p:cNvPr>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214072647"/>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8FAFC"/>
        </a:solidFill>
        <a:effectLst/>
      </p:bgPr>
    </p:bg>
    <p:spTree>
      <p:nvGrpSpPr>
        <p:cNvPr id="1" name=""/>
        <p:cNvGrpSpPr/>
        <p:nvPr/>
      </p:nvGrpSpPr>
      <p:grpSpPr>
        <a:xfrm>
          <a:off x="0" y="0"/>
          <a:ext cx="0" cy="0"/>
          <a:chOff x="0" y="0"/>
          <a:chExt cx="0" cy="0"/>
        </a:xfrm>
      </p:grpSpPr>
      <p:sp>
        <p:nvSpPr>
          <p:cNvPr id="3" name="Shape 1"/>
          <p:cNvSpPr/>
          <p:nvPr/>
        </p:nvSpPr>
        <p:spPr>
          <a:xfrm>
            <a:off x="305" y="3278125"/>
            <a:ext cx="12191695" cy="45719"/>
          </a:xfrm>
          <a:prstGeom prst="rect">
            <a:avLst/>
          </a:prstGeom>
          <a:solidFill>
            <a:srgbClr val="0F172A"/>
          </a:solidFill>
          <a:ln w="12700">
            <a:solidFill>
              <a:srgbClr val="0F172A"/>
            </a:solidFill>
            <a:prstDash val="solid"/>
          </a:ln>
        </p:spPr>
        <p:txBody>
          <a:bodyPr/>
          <a:lstStyle/>
          <a:p>
            <a:endParaRPr lang="en-US"/>
          </a:p>
        </p:txBody>
      </p:sp>
      <p:sp>
        <p:nvSpPr>
          <p:cNvPr id="4" name="Text 2"/>
          <p:cNvSpPr/>
          <p:nvPr/>
        </p:nvSpPr>
        <p:spPr>
          <a:xfrm>
            <a:off x="685800" y="240591"/>
            <a:ext cx="8138160" cy="2862373"/>
          </a:xfrm>
          <a:prstGeom prst="rect">
            <a:avLst/>
          </a:prstGeom>
          <a:noFill/>
          <a:ln>
            <a:noFill/>
          </a:ln>
        </p:spPr>
        <p:txBody>
          <a:bodyPr wrap="square" rtlCol="0" anchor="ctr"/>
          <a:lstStyle/>
          <a:p>
            <a:pPr>
              <a:lnSpc>
                <a:spcPct val="150000"/>
              </a:lnSpc>
            </a:pPr>
            <a:r>
              <a:rPr lang="en-GB" sz="2800" b="1" cap="all" dirty="0"/>
              <a:t>Python for (Open) Neuroscience</a:t>
            </a:r>
          </a:p>
          <a:p>
            <a:pPr>
              <a:lnSpc>
                <a:spcPct val="150000"/>
              </a:lnSpc>
            </a:pPr>
            <a:r>
              <a:rPr lang="en-GB" sz="2400" b="1" cap="all" dirty="0"/>
              <a:t>Lecture p.2 — </a:t>
            </a:r>
            <a:r>
              <a:rPr lang="en-GB" sz="2400" b="1" i="1" cap="all" dirty="0"/>
              <a:t>Block design in coding projects</a:t>
            </a:r>
            <a:endParaRPr lang="en-GB" sz="2400" b="1" cap="all" dirty="0"/>
          </a:p>
          <a:p>
            <a:pPr>
              <a:lnSpc>
                <a:spcPct val="150000"/>
              </a:lnSpc>
            </a:pPr>
            <a:r>
              <a:rPr lang="en-GB" b="1" i="1" cap="all" dirty="0"/>
              <a:t>Module P - PROJECT</a:t>
            </a:r>
          </a:p>
          <a:p>
            <a:endParaRPr lang="en-GB" b="1" i="1" cap="all" dirty="0"/>
          </a:p>
          <a:p>
            <a:r>
              <a:rPr lang="en-GB" dirty="0"/>
              <a:t>Sara Assecondi</a:t>
            </a:r>
          </a:p>
          <a:p>
            <a:r>
              <a:rPr lang="en-GB" dirty="0"/>
              <a:t>Department of Psychology and Cognitive Sciences</a:t>
            </a:r>
            <a:endParaRPr lang="en-US" sz="2800" b="1" dirty="0">
              <a:solidFill>
                <a:srgbClr val="0F172A"/>
              </a:solidFill>
              <a:latin typeface="Aptos Display" pitchFamily="34" charset="0"/>
              <a:ea typeface="Aptos Display" pitchFamily="34" charset="-122"/>
              <a:cs typeface="Aptos Display" pitchFamily="34" charset="-120"/>
            </a:endParaRPr>
          </a:p>
        </p:txBody>
      </p:sp>
      <p:sp>
        <p:nvSpPr>
          <p:cNvPr id="7" name="Shape 5"/>
          <p:cNvSpPr/>
          <p:nvPr/>
        </p:nvSpPr>
        <p:spPr>
          <a:xfrm>
            <a:off x="822960" y="3657600"/>
            <a:ext cx="1170432" cy="713232"/>
          </a:xfrm>
          <a:prstGeom prst="roundRect">
            <a:avLst>
              <a:gd name="adj" fmla="val 10256"/>
            </a:avLst>
          </a:prstGeom>
          <a:solidFill>
            <a:srgbClr val="1D4ED8"/>
          </a:solidFill>
          <a:ln w="12700">
            <a:solidFill>
              <a:srgbClr val="1D4ED8"/>
            </a:solidFill>
            <a:prstDash val="solid"/>
          </a:ln>
        </p:spPr>
        <p:txBody>
          <a:bodyPr/>
          <a:lstStyle/>
          <a:p>
            <a:endParaRPr lang="en-US"/>
          </a:p>
        </p:txBody>
      </p:sp>
      <p:sp>
        <p:nvSpPr>
          <p:cNvPr id="8" name="Text 6"/>
          <p:cNvSpPr/>
          <p:nvPr/>
        </p:nvSpPr>
        <p:spPr>
          <a:xfrm>
            <a:off x="822960" y="3858768"/>
            <a:ext cx="1170432" cy="201168"/>
          </a:xfrm>
          <a:prstGeom prst="rect">
            <a:avLst/>
          </a:prstGeom>
          <a:noFill/>
          <a:ln/>
        </p:spPr>
        <p:txBody>
          <a:bodyPr wrap="square" rtlCol="0" anchor="ctr"/>
          <a:lstStyle/>
          <a:p>
            <a:pPr marL="0" indent="0" algn="ctr">
              <a:buNone/>
            </a:pPr>
            <a:r>
              <a:rPr lang="en-US" sz="1500" b="1" dirty="0">
                <a:solidFill>
                  <a:srgbClr val="FFFFFF"/>
                </a:solidFill>
              </a:rPr>
              <a:t>Question</a:t>
            </a:r>
            <a:endParaRPr lang="en-US" sz="1500" dirty="0"/>
          </a:p>
        </p:txBody>
      </p:sp>
      <p:sp>
        <p:nvSpPr>
          <p:cNvPr id="9" name="Shape 7"/>
          <p:cNvSpPr/>
          <p:nvPr/>
        </p:nvSpPr>
        <p:spPr>
          <a:xfrm>
            <a:off x="1993392" y="4014216"/>
            <a:ext cx="91440" cy="0"/>
          </a:xfrm>
          <a:prstGeom prst="line">
            <a:avLst/>
          </a:prstGeom>
          <a:noFill/>
          <a:ln w="12700">
            <a:solidFill>
              <a:schemeClr val="tx1"/>
            </a:solidFill>
            <a:prstDash val="solid"/>
            <a:headEnd type="none"/>
            <a:tailEnd type="triangle"/>
          </a:ln>
        </p:spPr>
        <p:txBody>
          <a:bodyPr/>
          <a:lstStyle/>
          <a:p>
            <a:endParaRPr lang="en-US"/>
          </a:p>
        </p:txBody>
      </p:sp>
      <p:sp>
        <p:nvSpPr>
          <p:cNvPr id="10" name="Shape 8"/>
          <p:cNvSpPr/>
          <p:nvPr/>
        </p:nvSpPr>
        <p:spPr>
          <a:xfrm>
            <a:off x="2103120" y="3657600"/>
            <a:ext cx="1170432" cy="713232"/>
          </a:xfrm>
          <a:prstGeom prst="roundRect">
            <a:avLst>
              <a:gd name="adj" fmla="val 10256"/>
            </a:avLst>
          </a:prstGeom>
          <a:solidFill>
            <a:srgbClr val="06B6D4"/>
          </a:solidFill>
          <a:ln w="12700">
            <a:solidFill>
              <a:srgbClr val="06B6D4"/>
            </a:solidFill>
            <a:prstDash val="solid"/>
          </a:ln>
        </p:spPr>
        <p:txBody>
          <a:bodyPr/>
          <a:lstStyle/>
          <a:p>
            <a:endParaRPr lang="en-US"/>
          </a:p>
        </p:txBody>
      </p:sp>
      <p:sp>
        <p:nvSpPr>
          <p:cNvPr id="11" name="Text 9"/>
          <p:cNvSpPr/>
          <p:nvPr/>
        </p:nvSpPr>
        <p:spPr>
          <a:xfrm>
            <a:off x="2103120" y="3858768"/>
            <a:ext cx="1170432" cy="201168"/>
          </a:xfrm>
          <a:prstGeom prst="rect">
            <a:avLst/>
          </a:prstGeom>
          <a:noFill/>
          <a:ln/>
        </p:spPr>
        <p:txBody>
          <a:bodyPr wrap="square" rtlCol="0" anchor="ctr"/>
          <a:lstStyle/>
          <a:p>
            <a:pPr marL="0" indent="0" algn="ctr">
              <a:buNone/>
            </a:pPr>
            <a:r>
              <a:rPr lang="en-US" sz="1500" b="1" dirty="0">
                <a:solidFill>
                  <a:srgbClr val="FFFFFF"/>
                </a:solidFill>
              </a:rPr>
              <a:t>Structure</a:t>
            </a:r>
            <a:endParaRPr lang="en-US" sz="1500" dirty="0"/>
          </a:p>
        </p:txBody>
      </p:sp>
      <p:sp>
        <p:nvSpPr>
          <p:cNvPr id="12" name="Shape 10"/>
          <p:cNvSpPr/>
          <p:nvPr/>
        </p:nvSpPr>
        <p:spPr>
          <a:xfrm>
            <a:off x="3273552" y="4014216"/>
            <a:ext cx="91440" cy="0"/>
          </a:xfrm>
          <a:prstGeom prst="line">
            <a:avLst/>
          </a:prstGeom>
          <a:noFill/>
          <a:ln w="12700">
            <a:solidFill>
              <a:schemeClr val="tx1"/>
            </a:solidFill>
            <a:prstDash val="solid"/>
            <a:headEnd type="none"/>
            <a:tailEnd type="triangle"/>
          </a:ln>
        </p:spPr>
        <p:txBody>
          <a:bodyPr/>
          <a:lstStyle/>
          <a:p>
            <a:endParaRPr lang="en-US"/>
          </a:p>
        </p:txBody>
      </p:sp>
      <p:sp>
        <p:nvSpPr>
          <p:cNvPr id="13" name="Shape 11"/>
          <p:cNvSpPr/>
          <p:nvPr/>
        </p:nvSpPr>
        <p:spPr>
          <a:xfrm>
            <a:off x="3383280" y="3657600"/>
            <a:ext cx="1170432" cy="713232"/>
          </a:xfrm>
          <a:prstGeom prst="roundRect">
            <a:avLst>
              <a:gd name="adj" fmla="val 10256"/>
            </a:avLst>
          </a:prstGeom>
          <a:solidFill>
            <a:srgbClr val="0F766E"/>
          </a:solidFill>
          <a:ln w="12700">
            <a:solidFill>
              <a:srgbClr val="0F766E"/>
            </a:solidFill>
            <a:prstDash val="solid"/>
          </a:ln>
        </p:spPr>
        <p:txBody>
          <a:bodyPr/>
          <a:lstStyle/>
          <a:p>
            <a:endParaRPr lang="en-US"/>
          </a:p>
        </p:txBody>
      </p:sp>
      <p:sp>
        <p:nvSpPr>
          <p:cNvPr id="14" name="Text 12"/>
          <p:cNvSpPr/>
          <p:nvPr/>
        </p:nvSpPr>
        <p:spPr>
          <a:xfrm>
            <a:off x="3383280" y="3858768"/>
            <a:ext cx="1170432" cy="201168"/>
          </a:xfrm>
          <a:prstGeom prst="rect">
            <a:avLst/>
          </a:prstGeom>
          <a:noFill/>
          <a:ln/>
        </p:spPr>
        <p:txBody>
          <a:bodyPr wrap="square" rtlCol="0" anchor="ctr"/>
          <a:lstStyle/>
          <a:p>
            <a:pPr marL="0" indent="0" algn="ctr">
              <a:buNone/>
            </a:pPr>
            <a:r>
              <a:rPr lang="en-US" sz="1500" b="1" dirty="0">
                <a:solidFill>
                  <a:srgbClr val="FFFFFF"/>
                </a:solidFill>
              </a:rPr>
              <a:t>Load</a:t>
            </a:r>
            <a:endParaRPr lang="en-US" sz="1500" dirty="0"/>
          </a:p>
        </p:txBody>
      </p:sp>
      <p:sp>
        <p:nvSpPr>
          <p:cNvPr id="15" name="Shape 13"/>
          <p:cNvSpPr/>
          <p:nvPr/>
        </p:nvSpPr>
        <p:spPr>
          <a:xfrm>
            <a:off x="4553712" y="4014216"/>
            <a:ext cx="91440" cy="0"/>
          </a:xfrm>
          <a:prstGeom prst="line">
            <a:avLst/>
          </a:prstGeom>
          <a:noFill/>
          <a:ln w="12700">
            <a:solidFill>
              <a:schemeClr val="tx1"/>
            </a:solidFill>
            <a:prstDash val="solid"/>
            <a:headEnd type="none"/>
            <a:tailEnd type="triangle"/>
          </a:ln>
        </p:spPr>
        <p:txBody>
          <a:bodyPr/>
          <a:lstStyle/>
          <a:p>
            <a:endParaRPr lang="en-US"/>
          </a:p>
        </p:txBody>
      </p:sp>
      <p:sp>
        <p:nvSpPr>
          <p:cNvPr id="16" name="Shape 14"/>
          <p:cNvSpPr/>
          <p:nvPr/>
        </p:nvSpPr>
        <p:spPr>
          <a:xfrm>
            <a:off x="4663440" y="3657600"/>
            <a:ext cx="1170432" cy="713232"/>
          </a:xfrm>
          <a:prstGeom prst="roundRect">
            <a:avLst>
              <a:gd name="adj" fmla="val 10256"/>
            </a:avLst>
          </a:prstGeom>
          <a:solidFill>
            <a:srgbClr val="F59E0B"/>
          </a:solidFill>
          <a:ln w="12700">
            <a:solidFill>
              <a:srgbClr val="F59E0B"/>
            </a:solidFill>
            <a:prstDash val="solid"/>
          </a:ln>
        </p:spPr>
        <p:txBody>
          <a:bodyPr/>
          <a:lstStyle/>
          <a:p>
            <a:endParaRPr lang="en-US"/>
          </a:p>
        </p:txBody>
      </p:sp>
      <p:sp>
        <p:nvSpPr>
          <p:cNvPr id="17" name="Text 15"/>
          <p:cNvSpPr/>
          <p:nvPr/>
        </p:nvSpPr>
        <p:spPr>
          <a:xfrm>
            <a:off x="4663440" y="3858768"/>
            <a:ext cx="1170432" cy="201168"/>
          </a:xfrm>
          <a:prstGeom prst="rect">
            <a:avLst/>
          </a:prstGeom>
          <a:noFill/>
          <a:ln/>
        </p:spPr>
        <p:txBody>
          <a:bodyPr wrap="square" rtlCol="0" anchor="ctr"/>
          <a:lstStyle/>
          <a:p>
            <a:pPr marL="0" indent="0" algn="ctr">
              <a:buNone/>
            </a:pPr>
            <a:r>
              <a:rPr lang="en-US" sz="1500" b="1" dirty="0">
                <a:solidFill>
                  <a:srgbClr val="FFFFFF"/>
                </a:solidFill>
              </a:rPr>
              <a:t>QC</a:t>
            </a:r>
            <a:endParaRPr lang="en-US" sz="1500" dirty="0"/>
          </a:p>
        </p:txBody>
      </p:sp>
      <p:sp>
        <p:nvSpPr>
          <p:cNvPr id="18" name="Shape 16"/>
          <p:cNvSpPr/>
          <p:nvPr/>
        </p:nvSpPr>
        <p:spPr>
          <a:xfrm>
            <a:off x="5833872" y="4014216"/>
            <a:ext cx="91440" cy="0"/>
          </a:xfrm>
          <a:prstGeom prst="line">
            <a:avLst/>
          </a:prstGeom>
          <a:noFill/>
          <a:ln w="12700">
            <a:solidFill>
              <a:schemeClr val="tx1"/>
            </a:solidFill>
            <a:prstDash val="solid"/>
            <a:headEnd type="none"/>
            <a:tailEnd type="triangle"/>
          </a:ln>
        </p:spPr>
        <p:txBody>
          <a:bodyPr/>
          <a:lstStyle/>
          <a:p>
            <a:endParaRPr lang="en-US"/>
          </a:p>
        </p:txBody>
      </p:sp>
      <p:sp>
        <p:nvSpPr>
          <p:cNvPr id="19" name="Shape 17"/>
          <p:cNvSpPr/>
          <p:nvPr/>
        </p:nvSpPr>
        <p:spPr>
          <a:xfrm>
            <a:off x="5943600" y="3657600"/>
            <a:ext cx="1170432" cy="713232"/>
          </a:xfrm>
          <a:prstGeom prst="roundRect">
            <a:avLst>
              <a:gd name="adj" fmla="val 10256"/>
            </a:avLst>
          </a:prstGeom>
          <a:solidFill>
            <a:srgbClr val="16A34A"/>
          </a:solidFill>
          <a:ln w="12700">
            <a:solidFill>
              <a:srgbClr val="16A34A"/>
            </a:solidFill>
            <a:prstDash val="solid"/>
          </a:ln>
        </p:spPr>
        <p:txBody>
          <a:bodyPr/>
          <a:lstStyle/>
          <a:p>
            <a:endParaRPr lang="en-US"/>
          </a:p>
        </p:txBody>
      </p:sp>
      <p:sp>
        <p:nvSpPr>
          <p:cNvPr id="20" name="Text 18"/>
          <p:cNvSpPr/>
          <p:nvPr/>
        </p:nvSpPr>
        <p:spPr>
          <a:xfrm>
            <a:off x="5943600" y="3858768"/>
            <a:ext cx="1170432" cy="201168"/>
          </a:xfrm>
          <a:prstGeom prst="rect">
            <a:avLst/>
          </a:prstGeom>
          <a:noFill/>
          <a:ln/>
        </p:spPr>
        <p:txBody>
          <a:bodyPr wrap="square" rtlCol="0" anchor="ctr"/>
          <a:lstStyle/>
          <a:p>
            <a:pPr marL="0" indent="0" algn="ctr">
              <a:buNone/>
            </a:pPr>
            <a:r>
              <a:rPr lang="en-US" sz="1500" b="1" dirty="0">
                <a:solidFill>
                  <a:srgbClr val="FFFFFF"/>
                </a:solidFill>
              </a:rPr>
              <a:t>Preprocess</a:t>
            </a:r>
            <a:endParaRPr lang="en-US" sz="1500" dirty="0"/>
          </a:p>
        </p:txBody>
      </p:sp>
      <p:sp>
        <p:nvSpPr>
          <p:cNvPr id="21" name="Shape 19"/>
          <p:cNvSpPr/>
          <p:nvPr/>
        </p:nvSpPr>
        <p:spPr>
          <a:xfrm>
            <a:off x="7114032" y="4014216"/>
            <a:ext cx="91440" cy="0"/>
          </a:xfrm>
          <a:prstGeom prst="line">
            <a:avLst/>
          </a:prstGeom>
          <a:noFill/>
          <a:ln w="12700">
            <a:solidFill>
              <a:schemeClr val="tx1"/>
            </a:solidFill>
            <a:prstDash val="solid"/>
            <a:headEnd type="none"/>
            <a:tailEnd type="triangle"/>
          </a:ln>
        </p:spPr>
        <p:txBody>
          <a:bodyPr/>
          <a:lstStyle/>
          <a:p>
            <a:endParaRPr lang="en-US"/>
          </a:p>
        </p:txBody>
      </p:sp>
      <p:sp>
        <p:nvSpPr>
          <p:cNvPr id="22" name="Shape 20"/>
          <p:cNvSpPr/>
          <p:nvPr/>
        </p:nvSpPr>
        <p:spPr>
          <a:xfrm>
            <a:off x="7223760" y="3657600"/>
            <a:ext cx="1170432" cy="713232"/>
          </a:xfrm>
          <a:prstGeom prst="roundRect">
            <a:avLst>
              <a:gd name="adj" fmla="val 10256"/>
            </a:avLst>
          </a:prstGeom>
          <a:solidFill>
            <a:srgbClr val="1D4ED8"/>
          </a:solidFill>
          <a:ln w="12700">
            <a:solidFill>
              <a:srgbClr val="1D4ED8"/>
            </a:solidFill>
            <a:prstDash val="solid"/>
          </a:ln>
        </p:spPr>
        <p:txBody>
          <a:bodyPr/>
          <a:lstStyle/>
          <a:p>
            <a:endParaRPr lang="en-US"/>
          </a:p>
        </p:txBody>
      </p:sp>
      <p:sp>
        <p:nvSpPr>
          <p:cNvPr id="23" name="Text 21"/>
          <p:cNvSpPr/>
          <p:nvPr/>
        </p:nvSpPr>
        <p:spPr>
          <a:xfrm>
            <a:off x="7223760" y="3858768"/>
            <a:ext cx="1170432" cy="201168"/>
          </a:xfrm>
          <a:prstGeom prst="rect">
            <a:avLst/>
          </a:prstGeom>
          <a:noFill/>
          <a:ln/>
        </p:spPr>
        <p:txBody>
          <a:bodyPr wrap="square" rtlCol="0" anchor="ctr"/>
          <a:lstStyle/>
          <a:p>
            <a:pPr marL="0" indent="0" algn="ctr">
              <a:buNone/>
            </a:pPr>
            <a:r>
              <a:rPr lang="en-US" sz="1500" b="1" dirty="0">
                <a:solidFill>
                  <a:srgbClr val="FFFFFF"/>
                </a:solidFill>
              </a:rPr>
              <a:t>Features</a:t>
            </a:r>
            <a:endParaRPr lang="en-US" sz="1500" dirty="0"/>
          </a:p>
        </p:txBody>
      </p:sp>
      <p:sp>
        <p:nvSpPr>
          <p:cNvPr id="24" name="Shape 22"/>
          <p:cNvSpPr/>
          <p:nvPr/>
        </p:nvSpPr>
        <p:spPr>
          <a:xfrm>
            <a:off x="8394192" y="4014216"/>
            <a:ext cx="91440" cy="0"/>
          </a:xfrm>
          <a:prstGeom prst="line">
            <a:avLst/>
          </a:prstGeom>
          <a:noFill/>
          <a:ln w="12700">
            <a:solidFill>
              <a:schemeClr val="tx1"/>
            </a:solidFill>
            <a:prstDash val="solid"/>
            <a:headEnd type="none"/>
            <a:tailEnd type="triangle"/>
          </a:ln>
        </p:spPr>
        <p:txBody>
          <a:bodyPr/>
          <a:lstStyle/>
          <a:p>
            <a:endParaRPr lang="en-US"/>
          </a:p>
        </p:txBody>
      </p:sp>
      <p:sp>
        <p:nvSpPr>
          <p:cNvPr id="25" name="Shape 23"/>
          <p:cNvSpPr/>
          <p:nvPr/>
        </p:nvSpPr>
        <p:spPr>
          <a:xfrm>
            <a:off x="8503920" y="3657600"/>
            <a:ext cx="1170432" cy="713232"/>
          </a:xfrm>
          <a:prstGeom prst="roundRect">
            <a:avLst>
              <a:gd name="adj" fmla="val 10256"/>
            </a:avLst>
          </a:prstGeom>
          <a:solidFill>
            <a:srgbClr val="0F172A"/>
          </a:solidFill>
          <a:ln w="12700">
            <a:solidFill>
              <a:srgbClr val="0F172A"/>
            </a:solidFill>
            <a:prstDash val="solid"/>
          </a:ln>
        </p:spPr>
        <p:txBody>
          <a:bodyPr/>
          <a:lstStyle/>
          <a:p>
            <a:endParaRPr lang="en-US"/>
          </a:p>
        </p:txBody>
      </p:sp>
      <p:sp>
        <p:nvSpPr>
          <p:cNvPr id="26" name="Text 24"/>
          <p:cNvSpPr/>
          <p:nvPr/>
        </p:nvSpPr>
        <p:spPr>
          <a:xfrm>
            <a:off x="8503920" y="3858768"/>
            <a:ext cx="1170432" cy="201168"/>
          </a:xfrm>
          <a:prstGeom prst="rect">
            <a:avLst/>
          </a:prstGeom>
          <a:noFill/>
          <a:ln/>
        </p:spPr>
        <p:txBody>
          <a:bodyPr wrap="square" rtlCol="0" anchor="ctr"/>
          <a:lstStyle/>
          <a:p>
            <a:pPr marL="0" indent="0" algn="ctr">
              <a:buNone/>
            </a:pPr>
            <a:r>
              <a:rPr lang="en-US" sz="1500" b="1" dirty="0">
                <a:solidFill>
                  <a:srgbClr val="FFFFFF"/>
                </a:solidFill>
              </a:rPr>
              <a:t>Stats</a:t>
            </a:r>
            <a:endParaRPr lang="en-US" sz="1500" dirty="0"/>
          </a:p>
        </p:txBody>
      </p:sp>
      <p:sp>
        <p:nvSpPr>
          <p:cNvPr id="27" name="Shape 25"/>
          <p:cNvSpPr/>
          <p:nvPr/>
        </p:nvSpPr>
        <p:spPr>
          <a:xfrm>
            <a:off x="9674352" y="4014216"/>
            <a:ext cx="91440" cy="0"/>
          </a:xfrm>
          <a:prstGeom prst="line">
            <a:avLst/>
          </a:prstGeom>
          <a:noFill/>
          <a:ln w="12700">
            <a:solidFill>
              <a:schemeClr val="tx1"/>
            </a:solidFill>
            <a:prstDash val="solid"/>
            <a:headEnd type="none"/>
            <a:tailEnd type="triangle"/>
          </a:ln>
        </p:spPr>
        <p:txBody>
          <a:bodyPr/>
          <a:lstStyle/>
          <a:p>
            <a:endParaRPr lang="en-US"/>
          </a:p>
        </p:txBody>
      </p:sp>
      <p:sp>
        <p:nvSpPr>
          <p:cNvPr id="28" name="Shape 26"/>
          <p:cNvSpPr/>
          <p:nvPr/>
        </p:nvSpPr>
        <p:spPr>
          <a:xfrm>
            <a:off x="9784080" y="3657600"/>
            <a:ext cx="1170432" cy="713232"/>
          </a:xfrm>
          <a:prstGeom prst="roundRect">
            <a:avLst>
              <a:gd name="adj" fmla="val 10256"/>
            </a:avLst>
          </a:prstGeom>
          <a:solidFill>
            <a:srgbClr val="475569"/>
          </a:solidFill>
          <a:ln w="12700">
            <a:solidFill>
              <a:srgbClr val="475569"/>
            </a:solidFill>
            <a:prstDash val="solid"/>
          </a:ln>
        </p:spPr>
        <p:txBody>
          <a:bodyPr/>
          <a:lstStyle/>
          <a:p>
            <a:endParaRPr lang="en-US"/>
          </a:p>
        </p:txBody>
      </p:sp>
      <p:sp>
        <p:nvSpPr>
          <p:cNvPr id="29" name="Text 27"/>
          <p:cNvSpPr/>
          <p:nvPr/>
        </p:nvSpPr>
        <p:spPr>
          <a:xfrm>
            <a:off x="9784080" y="3858768"/>
            <a:ext cx="1170432" cy="201168"/>
          </a:xfrm>
          <a:prstGeom prst="rect">
            <a:avLst/>
          </a:prstGeom>
          <a:noFill/>
          <a:ln/>
        </p:spPr>
        <p:txBody>
          <a:bodyPr wrap="square" rtlCol="0" anchor="ctr"/>
          <a:lstStyle/>
          <a:p>
            <a:pPr marL="0" indent="0" algn="ctr">
              <a:buNone/>
            </a:pPr>
            <a:r>
              <a:rPr lang="en-US" sz="1500" b="1" dirty="0">
                <a:solidFill>
                  <a:srgbClr val="FFFFFF"/>
                </a:solidFill>
              </a:rPr>
              <a:t>Output</a:t>
            </a:r>
            <a:endParaRPr lang="en-US" sz="1500" dirty="0"/>
          </a:p>
        </p:txBody>
      </p:sp>
      <p:sp>
        <p:nvSpPr>
          <p:cNvPr id="30" name="Text 28"/>
          <p:cNvSpPr/>
          <p:nvPr/>
        </p:nvSpPr>
        <p:spPr>
          <a:xfrm>
            <a:off x="2703326" y="5370826"/>
            <a:ext cx="8503920" cy="938530"/>
          </a:xfrm>
          <a:prstGeom prst="rect">
            <a:avLst/>
          </a:prstGeom>
          <a:noFill/>
          <a:ln/>
        </p:spPr>
        <p:txBody>
          <a:bodyPr wrap="square" rtlCol="0" anchor="ctr"/>
          <a:lstStyle/>
          <a:p>
            <a:pPr>
              <a:lnSpc>
                <a:spcPct val="150000"/>
              </a:lnSpc>
            </a:pPr>
            <a:r>
              <a:rPr lang="en-GB" sz="2000" b="1" i="1" dirty="0"/>
              <a:t>Goal of this lecture</a:t>
            </a:r>
            <a:r>
              <a:rPr lang="en-US" sz="2000" dirty="0">
                <a:solidFill>
                  <a:srgbClr val="0F172A"/>
                </a:solidFill>
              </a:rPr>
              <a:t>: learn to translate a scientific question into a clean, testable, reusable analysis workflow.</a:t>
            </a:r>
            <a:endParaRPr lang="en-US" sz="2000" dirty="0"/>
          </a:p>
        </p:txBody>
      </p:sp>
      <p:sp>
        <p:nvSpPr>
          <p:cNvPr id="32" name="Shape 1">
            <a:extLst>
              <a:ext uri="{FF2B5EF4-FFF2-40B4-BE49-F238E27FC236}">
                <a16:creationId xmlns:a16="http://schemas.microsoft.com/office/drawing/2014/main" id="{1EE46222-4BE7-06CF-01D7-7D5E8076BE1E}"/>
              </a:ext>
            </a:extLst>
          </p:cNvPr>
          <p:cNvSpPr/>
          <p:nvPr/>
        </p:nvSpPr>
        <p:spPr>
          <a:xfrm rot="5400000">
            <a:off x="2026595" y="5757647"/>
            <a:ext cx="938533" cy="164892"/>
          </a:xfrm>
          <a:prstGeom prst="rect">
            <a:avLst/>
          </a:prstGeom>
          <a:solidFill>
            <a:schemeClr val="bg1">
              <a:lumMod val="65000"/>
            </a:schemeClr>
          </a:solidFill>
          <a:ln w="12700">
            <a:solidFill>
              <a:schemeClr val="bg1">
                <a:lumMod val="65000"/>
              </a:schemeClr>
            </a:solidFill>
            <a:prstDash val="solid"/>
          </a:ln>
        </p:spPr>
        <p:txBody>
          <a:bodyPr/>
          <a:lstStyle/>
          <a:p>
            <a:endParaRPr lang="en-US"/>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a:effectLst/>
      </p:bgPr>
    </p:bg>
    <p:spTree>
      <p:nvGrpSpPr>
        <p:cNvPr id="1" name=""/>
        <p:cNvGrpSpPr/>
        <p:nvPr/>
      </p:nvGrpSpPr>
      <p:grpSpPr>
        <a:xfrm>
          <a:off x="0" y="0"/>
          <a:ext cx="0" cy="0"/>
          <a:chOff x="0" y="0"/>
          <a:chExt cx="0" cy="0"/>
        </a:xfrm>
      </p:grpSpPr>
      <p:sp>
        <p:nvSpPr>
          <p:cNvPr id="4" name="Text 2"/>
          <p:cNvSpPr/>
          <p:nvPr/>
        </p:nvSpPr>
        <p:spPr>
          <a:xfrm>
            <a:off x="502920" y="137014"/>
            <a:ext cx="8046720" cy="786531"/>
          </a:xfrm>
          <a:prstGeom prst="rect">
            <a:avLst/>
          </a:prstGeom>
          <a:noFill/>
          <a:ln/>
        </p:spPr>
        <p:txBody>
          <a:bodyPr wrap="square" rtlCol="0" anchor="ctr"/>
          <a:lstStyle/>
          <a:p>
            <a:pPr marL="0" indent="0">
              <a:buNone/>
            </a:pPr>
            <a:r>
              <a:rPr lang="en-US" sz="2700" dirty="0">
                <a:solidFill>
                  <a:srgbClr val="0F172A"/>
                </a:solidFill>
                <a:latin typeface="Aptos Display" pitchFamily="34" charset="0"/>
                <a:ea typeface="Aptos Display" pitchFamily="34" charset="-122"/>
                <a:cs typeface="Aptos Display" pitchFamily="34" charset="-120"/>
              </a:rPr>
              <a:t>Why design comes first</a:t>
            </a:r>
            <a:endParaRPr lang="en-US" sz="2700" dirty="0"/>
          </a:p>
        </p:txBody>
      </p:sp>
      <p:sp>
        <p:nvSpPr>
          <p:cNvPr id="5" name="Shape 3"/>
          <p:cNvSpPr/>
          <p:nvPr/>
        </p:nvSpPr>
        <p:spPr>
          <a:xfrm>
            <a:off x="518160" y="956224"/>
            <a:ext cx="11155680" cy="0"/>
          </a:xfrm>
          <a:prstGeom prst="line">
            <a:avLst/>
          </a:prstGeom>
          <a:noFill/>
          <a:ln w="12700">
            <a:solidFill>
              <a:srgbClr val="CBD5E1"/>
            </a:solidFill>
            <a:prstDash val="solid"/>
          </a:ln>
        </p:spPr>
        <p:txBody>
          <a:bodyPr/>
          <a:lstStyle/>
          <a:p>
            <a:endParaRPr lang="en-US"/>
          </a:p>
        </p:txBody>
      </p:sp>
      <p:sp>
        <p:nvSpPr>
          <p:cNvPr id="6" name="Shape 4"/>
          <p:cNvSpPr/>
          <p:nvPr/>
        </p:nvSpPr>
        <p:spPr>
          <a:xfrm>
            <a:off x="640080" y="1545265"/>
            <a:ext cx="2151888" cy="1968653"/>
          </a:xfrm>
          <a:prstGeom prst="roundRect">
            <a:avLst>
              <a:gd name="adj" fmla="val 1667"/>
            </a:avLst>
          </a:prstGeom>
          <a:solidFill>
            <a:srgbClr val="FEF2F2"/>
          </a:solidFill>
          <a:ln w="12700">
            <a:solidFill>
              <a:srgbClr val="FECACA"/>
            </a:solidFill>
            <a:prstDash val="solid"/>
          </a:ln>
        </p:spPr>
        <p:txBody>
          <a:bodyPr anchor="ctr"/>
          <a:lstStyle/>
          <a:p>
            <a:pPr algn="ctr"/>
            <a:endParaRPr lang="en-US" b="1" dirty="0">
              <a:solidFill>
                <a:srgbClr val="C00000"/>
              </a:solidFill>
              <a:latin typeface="Aptos" pitchFamily="34" charset="0"/>
              <a:ea typeface="Aptos" pitchFamily="34" charset="-122"/>
              <a:cs typeface="Aptos" pitchFamily="34" charset="-120"/>
            </a:endParaRPr>
          </a:p>
          <a:p>
            <a:pPr algn="ctr"/>
            <a:r>
              <a:rPr lang="en-US" sz="2400" dirty="0">
                <a:solidFill>
                  <a:srgbClr val="C00000"/>
                </a:solidFill>
              </a:rPr>
              <a:t>Without explicit design</a:t>
            </a:r>
          </a:p>
          <a:p>
            <a:pPr algn="ctr"/>
            <a:endParaRPr lang="en-US" b="1" dirty="0">
              <a:solidFill>
                <a:srgbClr val="C00000"/>
              </a:solidFill>
              <a:latin typeface="Aptos" pitchFamily="34" charset="0"/>
              <a:ea typeface="Aptos" pitchFamily="34" charset="-122"/>
              <a:cs typeface="Aptos" pitchFamily="34" charset="-120"/>
            </a:endParaRPr>
          </a:p>
        </p:txBody>
      </p:sp>
      <p:sp>
        <p:nvSpPr>
          <p:cNvPr id="7" name="Shape 5"/>
          <p:cNvSpPr/>
          <p:nvPr/>
        </p:nvSpPr>
        <p:spPr>
          <a:xfrm>
            <a:off x="640080" y="3998546"/>
            <a:ext cx="2151888" cy="1968653"/>
          </a:xfrm>
          <a:prstGeom prst="roundRect">
            <a:avLst>
              <a:gd name="adj" fmla="val 1667"/>
            </a:avLst>
          </a:prstGeom>
          <a:solidFill>
            <a:srgbClr val="F0FDF4"/>
          </a:solidFill>
          <a:ln w="12700">
            <a:solidFill>
              <a:srgbClr val="BBF7D0"/>
            </a:solidFill>
            <a:prstDash val="solid"/>
          </a:ln>
        </p:spPr>
        <p:txBody>
          <a:bodyPr anchor="ctr"/>
          <a:lstStyle/>
          <a:p>
            <a:pPr algn="ctr"/>
            <a:r>
              <a:rPr lang="en-US" sz="2400" dirty="0">
                <a:solidFill>
                  <a:srgbClr val="16A34A"/>
                </a:solidFill>
              </a:rPr>
              <a:t>With block design</a:t>
            </a:r>
            <a:endParaRPr lang="en-US" sz="2400" dirty="0"/>
          </a:p>
        </p:txBody>
      </p:sp>
      <p:sp>
        <p:nvSpPr>
          <p:cNvPr id="12" name="Text 10"/>
          <p:cNvSpPr/>
          <p:nvPr/>
        </p:nvSpPr>
        <p:spPr>
          <a:xfrm>
            <a:off x="9093783" y="2744481"/>
            <a:ext cx="2727960" cy="1968642"/>
          </a:xfrm>
          <a:prstGeom prst="rect">
            <a:avLst/>
          </a:prstGeom>
          <a:noFill/>
          <a:ln/>
        </p:spPr>
        <p:txBody>
          <a:bodyPr wrap="square" rtlCol="0" anchor="ctr"/>
          <a:lstStyle/>
          <a:p>
            <a:pPr marL="0" indent="0" algn="ctr">
              <a:buNone/>
            </a:pPr>
            <a:r>
              <a:rPr lang="en-US" sz="2000" dirty="0"/>
              <a:t>Design is the bridge between the scientific question and the implementation.</a:t>
            </a:r>
          </a:p>
        </p:txBody>
      </p:sp>
      <p:sp>
        <p:nvSpPr>
          <p:cNvPr id="14" name="Shape 4">
            <a:extLst>
              <a:ext uri="{FF2B5EF4-FFF2-40B4-BE49-F238E27FC236}">
                <a16:creationId xmlns:a16="http://schemas.microsoft.com/office/drawing/2014/main" id="{651EAC50-7FDD-9464-244A-F37B11AE4B12}"/>
              </a:ext>
            </a:extLst>
          </p:cNvPr>
          <p:cNvSpPr/>
          <p:nvPr/>
        </p:nvSpPr>
        <p:spPr>
          <a:xfrm>
            <a:off x="3066288" y="1545265"/>
            <a:ext cx="5483352" cy="1968658"/>
          </a:xfrm>
          <a:prstGeom prst="roundRect">
            <a:avLst>
              <a:gd name="adj" fmla="val 1667"/>
            </a:avLst>
          </a:prstGeom>
          <a:solidFill>
            <a:srgbClr val="FEF2F2"/>
          </a:solidFill>
          <a:ln w="12700">
            <a:solidFill>
              <a:srgbClr val="FECACA"/>
            </a:solidFill>
            <a:prstDash val="solid"/>
          </a:ln>
        </p:spPr>
        <p:txBody>
          <a:bodyPr anchor="ctr"/>
          <a:lstStyle/>
          <a:p>
            <a:r>
              <a:rPr lang="en-US" sz="2000" b="1" dirty="0">
                <a:latin typeface="Aptos" pitchFamily="34" charset="0"/>
                <a:ea typeface="Aptos" pitchFamily="34" charset="-122"/>
                <a:cs typeface="Aptos" pitchFamily="34" charset="-120"/>
              </a:rPr>
              <a:t>• </a:t>
            </a:r>
            <a:r>
              <a:rPr lang="en-US" sz="2000" dirty="0">
                <a:latin typeface="Aptos" pitchFamily="34" charset="0"/>
                <a:ea typeface="Aptos" pitchFamily="34" charset="-122"/>
                <a:cs typeface="Aptos" pitchFamily="34" charset="-120"/>
              </a:rPr>
              <a:t>one giant notebook or script
</a:t>
            </a:r>
            <a:r>
              <a:rPr lang="en-US" sz="2000" b="1" dirty="0">
                <a:latin typeface="Aptos" pitchFamily="34" charset="0"/>
                <a:ea typeface="Aptos" pitchFamily="34" charset="-122"/>
                <a:cs typeface="Aptos" pitchFamily="34" charset="-120"/>
              </a:rPr>
              <a:t>• </a:t>
            </a:r>
            <a:r>
              <a:rPr lang="en-US" sz="2000" dirty="0">
                <a:latin typeface="Aptos" pitchFamily="34" charset="0"/>
                <a:ea typeface="Aptos" pitchFamily="34" charset="-122"/>
                <a:cs typeface="Aptos" pitchFamily="34" charset="-120"/>
              </a:rPr>
              <a:t>mixed preprocessing and statistics
</a:t>
            </a:r>
            <a:r>
              <a:rPr lang="en-US" sz="2000" b="1" dirty="0">
                <a:latin typeface="Aptos" pitchFamily="34" charset="0"/>
                <a:ea typeface="Aptos" pitchFamily="34" charset="-122"/>
                <a:cs typeface="Aptos" pitchFamily="34" charset="-120"/>
              </a:rPr>
              <a:t>• </a:t>
            </a:r>
            <a:r>
              <a:rPr lang="en-US" sz="2000" dirty="0">
                <a:latin typeface="Aptos" pitchFamily="34" charset="0"/>
                <a:ea typeface="Aptos" pitchFamily="34" charset="-122"/>
                <a:cs typeface="Aptos" pitchFamily="34" charset="-120"/>
              </a:rPr>
              <a:t>hidden assumptions about files or trials
</a:t>
            </a:r>
            <a:r>
              <a:rPr lang="en-US" sz="2000" b="1" dirty="0">
                <a:latin typeface="Aptos" pitchFamily="34" charset="0"/>
                <a:ea typeface="Aptos" pitchFamily="34" charset="-122"/>
                <a:cs typeface="Aptos" pitchFamily="34" charset="-120"/>
              </a:rPr>
              <a:t>• </a:t>
            </a:r>
            <a:r>
              <a:rPr lang="en-US" sz="2000" dirty="0">
                <a:latin typeface="Aptos" pitchFamily="34" charset="0"/>
                <a:ea typeface="Aptos" pitchFamily="34" charset="-122"/>
                <a:cs typeface="Aptos" pitchFamily="34" charset="-120"/>
              </a:rPr>
              <a:t>hard to debug or rerun later
</a:t>
            </a:r>
            <a:r>
              <a:rPr lang="en-US" sz="2000" b="1" dirty="0">
                <a:latin typeface="Aptos" pitchFamily="34" charset="0"/>
                <a:ea typeface="Aptos" pitchFamily="34" charset="-122"/>
                <a:cs typeface="Aptos" pitchFamily="34" charset="-120"/>
              </a:rPr>
              <a:t>• weak reproducibility</a:t>
            </a:r>
            <a:endParaRPr lang="en-US" sz="2000" b="1" dirty="0"/>
          </a:p>
        </p:txBody>
      </p:sp>
      <p:sp>
        <p:nvSpPr>
          <p:cNvPr id="15" name="Shape 5">
            <a:extLst>
              <a:ext uri="{FF2B5EF4-FFF2-40B4-BE49-F238E27FC236}">
                <a16:creationId xmlns:a16="http://schemas.microsoft.com/office/drawing/2014/main" id="{D4ED3EAC-670C-DF6A-04AC-1EC93CB16D28}"/>
              </a:ext>
            </a:extLst>
          </p:cNvPr>
          <p:cNvSpPr/>
          <p:nvPr/>
        </p:nvSpPr>
        <p:spPr>
          <a:xfrm>
            <a:off x="3050498" y="3998547"/>
            <a:ext cx="5499142" cy="1968652"/>
          </a:xfrm>
          <a:prstGeom prst="roundRect">
            <a:avLst>
              <a:gd name="adj" fmla="val 1667"/>
            </a:avLst>
          </a:prstGeom>
          <a:solidFill>
            <a:srgbClr val="F0FDF4"/>
          </a:solidFill>
          <a:ln w="12700">
            <a:solidFill>
              <a:srgbClr val="BBF7D0"/>
            </a:solidFill>
            <a:prstDash val="solid"/>
          </a:ln>
        </p:spPr>
        <p:txBody>
          <a:bodyPr anchor="ctr"/>
          <a:lstStyle/>
          <a:p>
            <a:r>
              <a:rPr lang="en-US" sz="2000" dirty="0">
                <a:latin typeface="Aptos" pitchFamily="34" charset="0"/>
              </a:rPr>
              <a:t>• clear data flow between stages
• </a:t>
            </a:r>
            <a:r>
              <a:rPr lang="en-US" sz="2000" b="1" dirty="0">
                <a:latin typeface="Aptos" pitchFamily="34" charset="0"/>
              </a:rPr>
              <a:t>reusable</a:t>
            </a:r>
            <a:r>
              <a:rPr lang="en-US" sz="2000" dirty="0">
                <a:latin typeface="Aptos" pitchFamily="34" charset="0"/>
              </a:rPr>
              <a:t> preprocessing and QC
• parameters kept </a:t>
            </a:r>
            <a:r>
              <a:rPr lang="en-US" sz="2000" b="1" dirty="0">
                <a:latin typeface="Aptos" pitchFamily="34" charset="0"/>
              </a:rPr>
              <a:t>explicit</a:t>
            </a:r>
            <a:r>
              <a:rPr lang="en-US" sz="2000" dirty="0">
                <a:latin typeface="Aptos" pitchFamily="34" charset="0"/>
              </a:rPr>
              <a:t>
• easier testing and debugging
• cleaner collaboration and </a:t>
            </a:r>
            <a:r>
              <a:rPr lang="en-US" sz="2000" b="1" dirty="0">
                <a:latin typeface="Aptos" pitchFamily="34" charset="0"/>
              </a:rPr>
              <a:t>replication</a:t>
            </a:r>
          </a:p>
        </p:txBody>
      </p:sp>
      <p:cxnSp>
        <p:nvCxnSpPr>
          <p:cNvPr id="19" name="Elbow Connector 18">
            <a:extLst>
              <a:ext uri="{FF2B5EF4-FFF2-40B4-BE49-F238E27FC236}">
                <a16:creationId xmlns:a16="http://schemas.microsoft.com/office/drawing/2014/main" id="{664A34F7-069D-4FBA-3878-FD25DF60A631}"/>
              </a:ext>
            </a:extLst>
          </p:cNvPr>
          <p:cNvCxnSpPr>
            <a:cxnSpLocks/>
            <a:stCxn id="14" idx="3"/>
            <a:endCxn id="12" idx="0"/>
          </p:cNvCxnSpPr>
          <p:nvPr/>
        </p:nvCxnSpPr>
        <p:spPr>
          <a:xfrm>
            <a:off x="8549640" y="2529594"/>
            <a:ext cx="1908123" cy="214887"/>
          </a:xfrm>
          <a:prstGeom prst="bentConnector2">
            <a:avLst/>
          </a:prstGeom>
          <a:ln w="28575">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21" name="Elbow Connector 20">
            <a:extLst>
              <a:ext uri="{FF2B5EF4-FFF2-40B4-BE49-F238E27FC236}">
                <a16:creationId xmlns:a16="http://schemas.microsoft.com/office/drawing/2014/main" id="{24B8B430-B4BB-A52A-B762-35CC2B7E3AF1}"/>
              </a:ext>
            </a:extLst>
          </p:cNvPr>
          <p:cNvCxnSpPr>
            <a:cxnSpLocks/>
            <a:stCxn id="15" idx="3"/>
            <a:endCxn id="12" idx="2"/>
          </p:cNvCxnSpPr>
          <p:nvPr/>
        </p:nvCxnSpPr>
        <p:spPr>
          <a:xfrm flipV="1">
            <a:off x="8549640" y="4713123"/>
            <a:ext cx="1908123" cy="269750"/>
          </a:xfrm>
          <a:prstGeom prst="bentConnector2">
            <a:avLst/>
          </a:prstGeom>
          <a:ln w="28575">
            <a:solidFill>
              <a:schemeClr val="tx1"/>
            </a:solidFill>
            <a:tailEnd type="triangle"/>
          </a:ln>
        </p:spPr>
        <p:style>
          <a:lnRef idx="1">
            <a:schemeClr val="accent1"/>
          </a:lnRef>
          <a:fillRef idx="0">
            <a:schemeClr val="accent1"/>
          </a:fillRef>
          <a:effectRef idx="0">
            <a:schemeClr val="accent1"/>
          </a:effectRef>
          <a:fontRef idx="minor">
            <a:schemeClr val="tx1"/>
          </a:fontRef>
        </p:style>
      </p:cxn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DEC9F43-48CA-1EAF-9B88-64ED92ABBFE7}"/>
            </a:ext>
          </a:extLst>
        </p:cNvPr>
        <p:cNvGrpSpPr/>
        <p:nvPr/>
      </p:nvGrpSpPr>
      <p:grpSpPr>
        <a:xfrm>
          <a:off x="0" y="0"/>
          <a:ext cx="0" cy="0"/>
          <a:chOff x="0" y="0"/>
          <a:chExt cx="0" cy="0"/>
        </a:xfrm>
      </p:grpSpPr>
      <p:sp>
        <p:nvSpPr>
          <p:cNvPr id="4" name="Text 2">
            <a:extLst>
              <a:ext uri="{FF2B5EF4-FFF2-40B4-BE49-F238E27FC236}">
                <a16:creationId xmlns:a16="http://schemas.microsoft.com/office/drawing/2014/main" id="{FA2AD1A9-0897-C9E0-9FDE-1CD25D408E9B}"/>
              </a:ext>
            </a:extLst>
          </p:cNvPr>
          <p:cNvSpPr/>
          <p:nvPr/>
        </p:nvSpPr>
        <p:spPr>
          <a:xfrm>
            <a:off x="502920" y="137014"/>
            <a:ext cx="8046720" cy="786531"/>
          </a:xfrm>
          <a:prstGeom prst="rect">
            <a:avLst/>
          </a:prstGeom>
          <a:noFill/>
          <a:ln/>
        </p:spPr>
        <p:txBody>
          <a:bodyPr wrap="square" rtlCol="0" anchor="ctr"/>
          <a:lstStyle/>
          <a:p>
            <a:r>
              <a:rPr lang="en-US" sz="2700" dirty="0">
                <a:solidFill>
                  <a:srgbClr val="0F172A"/>
                </a:solidFill>
                <a:latin typeface="Aptos Display" pitchFamily="34" charset="0"/>
                <a:ea typeface="Aptos Display" pitchFamily="34" charset="-122"/>
                <a:cs typeface="Aptos Display" pitchFamily="34" charset="-120"/>
              </a:rPr>
              <a:t>What is a block?</a:t>
            </a:r>
            <a:endParaRPr lang="en-US" sz="2700" dirty="0"/>
          </a:p>
        </p:txBody>
      </p:sp>
      <p:sp>
        <p:nvSpPr>
          <p:cNvPr id="5" name="Shape 3">
            <a:extLst>
              <a:ext uri="{FF2B5EF4-FFF2-40B4-BE49-F238E27FC236}">
                <a16:creationId xmlns:a16="http://schemas.microsoft.com/office/drawing/2014/main" id="{E1A182DB-19C4-CA9E-CC82-26D12BC7D4D4}"/>
              </a:ext>
            </a:extLst>
          </p:cNvPr>
          <p:cNvSpPr/>
          <p:nvPr/>
        </p:nvSpPr>
        <p:spPr>
          <a:xfrm>
            <a:off x="518160" y="956224"/>
            <a:ext cx="11155680" cy="0"/>
          </a:xfrm>
          <a:prstGeom prst="line">
            <a:avLst/>
          </a:prstGeom>
          <a:noFill/>
          <a:ln w="12700">
            <a:solidFill>
              <a:srgbClr val="CBD5E1"/>
            </a:solidFill>
            <a:prstDash val="solid"/>
          </a:ln>
        </p:spPr>
        <p:txBody>
          <a:bodyPr/>
          <a:lstStyle/>
          <a:p>
            <a:endParaRPr lang="en-US"/>
          </a:p>
        </p:txBody>
      </p:sp>
      <p:sp>
        <p:nvSpPr>
          <p:cNvPr id="2" name="Text 4">
            <a:extLst>
              <a:ext uri="{FF2B5EF4-FFF2-40B4-BE49-F238E27FC236}">
                <a16:creationId xmlns:a16="http://schemas.microsoft.com/office/drawing/2014/main" id="{884ADCD6-AA67-7120-8B4A-B8097DA80BD3}"/>
              </a:ext>
            </a:extLst>
          </p:cNvPr>
          <p:cNvSpPr/>
          <p:nvPr/>
        </p:nvSpPr>
        <p:spPr>
          <a:xfrm>
            <a:off x="502920" y="1241791"/>
            <a:ext cx="11155680" cy="929389"/>
          </a:xfrm>
          <a:prstGeom prst="rect">
            <a:avLst/>
          </a:prstGeom>
          <a:noFill/>
          <a:ln/>
        </p:spPr>
        <p:txBody>
          <a:bodyPr wrap="square" rtlCol="0" anchor="ctr"/>
          <a:lstStyle/>
          <a:p>
            <a:pPr marL="0" indent="0">
              <a:buNone/>
            </a:pPr>
            <a:r>
              <a:rPr lang="en-US" sz="2200" dirty="0">
                <a:solidFill>
                  <a:srgbClr val="0F172A"/>
                </a:solidFill>
              </a:rPr>
              <a:t>A block is one functional unit with one main job, defined inputs, defined outputs, and a clear place in the pipeline.</a:t>
            </a:r>
            <a:endParaRPr lang="en-US" sz="2200" dirty="0"/>
          </a:p>
        </p:txBody>
      </p:sp>
      <p:sp>
        <p:nvSpPr>
          <p:cNvPr id="3" name="Shape 5">
            <a:extLst>
              <a:ext uri="{FF2B5EF4-FFF2-40B4-BE49-F238E27FC236}">
                <a16:creationId xmlns:a16="http://schemas.microsoft.com/office/drawing/2014/main" id="{284D0F74-1AED-C537-74E7-6448CB98DCF5}"/>
              </a:ext>
            </a:extLst>
          </p:cNvPr>
          <p:cNvSpPr/>
          <p:nvPr/>
        </p:nvSpPr>
        <p:spPr>
          <a:xfrm>
            <a:off x="688049" y="2407207"/>
            <a:ext cx="2518346" cy="502843"/>
          </a:xfrm>
          <a:prstGeom prst="roundRect">
            <a:avLst>
              <a:gd name="adj" fmla="val 26087"/>
            </a:avLst>
          </a:prstGeom>
          <a:solidFill>
            <a:srgbClr val="1D4ED8"/>
          </a:solidFill>
          <a:ln w="12700">
            <a:solidFill>
              <a:srgbClr val="1D4ED8"/>
            </a:solidFill>
            <a:prstDash val="solid"/>
          </a:ln>
          <a:effectLst>
            <a:outerShdw blurRad="12700" dist="6350" dir="2700000" algn="bl" rotWithShape="0">
              <a:srgbClr val="000000">
                <a:alpha val="12000"/>
              </a:srgbClr>
            </a:outerShdw>
          </a:effectLst>
        </p:spPr>
        <p:txBody>
          <a:bodyPr/>
          <a:lstStyle/>
          <a:p>
            <a:pPr algn="ctr"/>
            <a:r>
              <a:rPr lang="en-US" sz="2000" b="1" dirty="0">
                <a:solidFill>
                  <a:srgbClr val="FFFFFF"/>
                </a:solidFill>
              </a:rPr>
              <a:t>INPUT</a:t>
            </a:r>
            <a:endParaRPr lang="en-US" sz="2000" dirty="0"/>
          </a:p>
        </p:txBody>
      </p:sp>
      <p:sp>
        <p:nvSpPr>
          <p:cNvPr id="8" name="Text 6">
            <a:extLst>
              <a:ext uri="{FF2B5EF4-FFF2-40B4-BE49-F238E27FC236}">
                <a16:creationId xmlns:a16="http://schemas.microsoft.com/office/drawing/2014/main" id="{0CA5F8A9-57B4-74F8-A3B7-7D38F7725A53}"/>
              </a:ext>
            </a:extLst>
          </p:cNvPr>
          <p:cNvSpPr/>
          <p:nvPr/>
        </p:nvSpPr>
        <p:spPr>
          <a:xfrm>
            <a:off x="688049" y="2799345"/>
            <a:ext cx="2011680" cy="256032"/>
          </a:xfrm>
          <a:prstGeom prst="rect">
            <a:avLst/>
          </a:prstGeom>
          <a:noFill/>
          <a:ln/>
        </p:spPr>
        <p:txBody>
          <a:bodyPr wrap="square" rtlCol="0" anchor="ctr"/>
          <a:lstStyle/>
          <a:p>
            <a:pPr marL="0" indent="0" algn="ctr">
              <a:buNone/>
            </a:pPr>
            <a:endParaRPr lang="en-US" sz="1600" dirty="0"/>
          </a:p>
        </p:txBody>
      </p:sp>
      <p:sp>
        <p:nvSpPr>
          <p:cNvPr id="9" name="Shape 7">
            <a:extLst>
              <a:ext uri="{FF2B5EF4-FFF2-40B4-BE49-F238E27FC236}">
                <a16:creationId xmlns:a16="http://schemas.microsoft.com/office/drawing/2014/main" id="{19A0B96F-C85E-4C53-1CB8-512BDCE84A98}"/>
              </a:ext>
            </a:extLst>
          </p:cNvPr>
          <p:cNvSpPr/>
          <p:nvPr/>
        </p:nvSpPr>
        <p:spPr>
          <a:xfrm>
            <a:off x="4083673" y="2412662"/>
            <a:ext cx="2518347" cy="497388"/>
          </a:xfrm>
          <a:prstGeom prst="roundRect">
            <a:avLst>
              <a:gd name="adj" fmla="val 26087"/>
            </a:avLst>
          </a:prstGeom>
          <a:solidFill>
            <a:srgbClr val="0F766E"/>
          </a:solidFill>
          <a:ln w="12700">
            <a:solidFill>
              <a:srgbClr val="0F766E"/>
            </a:solidFill>
            <a:prstDash val="solid"/>
          </a:ln>
          <a:effectLst>
            <a:outerShdw blurRad="12700" dist="6350" dir="2700000" algn="bl" rotWithShape="0">
              <a:srgbClr val="000000">
                <a:alpha val="12000"/>
              </a:srgbClr>
            </a:outerShdw>
          </a:effectLst>
        </p:spPr>
        <p:txBody>
          <a:bodyPr/>
          <a:lstStyle/>
          <a:p>
            <a:pPr algn="ctr"/>
            <a:r>
              <a:rPr lang="en-US" b="1" dirty="0">
                <a:solidFill>
                  <a:srgbClr val="FFFFFF"/>
                </a:solidFill>
              </a:rPr>
              <a:t>PROCESS</a:t>
            </a:r>
            <a:endParaRPr lang="en-US" dirty="0"/>
          </a:p>
        </p:txBody>
      </p:sp>
      <p:sp>
        <p:nvSpPr>
          <p:cNvPr id="11" name="Shape 9">
            <a:extLst>
              <a:ext uri="{FF2B5EF4-FFF2-40B4-BE49-F238E27FC236}">
                <a16:creationId xmlns:a16="http://schemas.microsoft.com/office/drawing/2014/main" id="{D5664AC1-70C5-B2CC-9EDD-31FF9B39B3D0}"/>
              </a:ext>
            </a:extLst>
          </p:cNvPr>
          <p:cNvSpPr/>
          <p:nvPr/>
        </p:nvSpPr>
        <p:spPr>
          <a:xfrm>
            <a:off x="7479298" y="2412662"/>
            <a:ext cx="2518347" cy="497388"/>
          </a:xfrm>
          <a:prstGeom prst="roundRect">
            <a:avLst>
              <a:gd name="adj" fmla="val 26087"/>
            </a:avLst>
          </a:prstGeom>
          <a:solidFill>
            <a:srgbClr val="F59E0B"/>
          </a:solidFill>
          <a:ln w="12700">
            <a:solidFill>
              <a:srgbClr val="F59E0B"/>
            </a:solidFill>
            <a:prstDash val="solid"/>
          </a:ln>
          <a:effectLst>
            <a:outerShdw blurRad="12700" dist="6350" dir="2700000" algn="bl" rotWithShape="0">
              <a:srgbClr val="000000">
                <a:alpha val="12000"/>
              </a:srgbClr>
            </a:outerShdw>
          </a:effectLst>
        </p:spPr>
        <p:txBody>
          <a:bodyPr/>
          <a:lstStyle/>
          <a:p>
            <a:pPr algn="ctr"/>
            <a:r>
              <a:rPr lang="en-US" b="1" dirty="0">
                <a:solidFill>
                  <a:srgbClr val="FFFFFF"/>
                </a:solidFill>
              </a:rPr>
              <a:t>OUTPUT</a:t>
            </a:r>
            <a:endParaRPr lang="en-US" dirty="0"/>
          </a:p>
        </p:txBody>
      </p:sp>
      <p:sp>
        <p:nvSpPr>
          <p:cNvPr id="18" name="Text 13">
            <a:extLst>
              <a:ext uri="{FF2B5EF4-FFF2-40B4-BE49-F238E27FC236}">
                <a16:creationId xmlns:a16="http://schemas.microsoft.com/office/drawing/2014/main" id="{F13E3C32-0BBE-EC37-D5EF-E25ED13D7644}"/>
              </a:ext>
            </a:extLst>
          </p:cNvPr>
          <p:cNvSpPr/>
          <p:nvPr/>
        </p:nvSpPr>
        <p:spPr>
          <a:xfrm>
            <a:off x="688049" y="2988063"/>
            <a:ext cx="2518346" cy="791934"/>
          </a:xfrm>
          <a:prstGeom prst="rect">
            <a:avLst/>
          </a:prstGeom>
          <a:noFill/>
          <a:ln/>
        </p:spPr>
        <p:txBody>
          <a:bodyPr wrap="square" rtlCol="0" anchor="ctr"/>
          <a:lstStyle/>
          <a:p>
            <a:pPr marL="0" indent="0" algn="ctr">
              <a:buNone/>
            </a:pPr>
            <a:r>
              <a:rPr lang="en-US" dirty="0">
                <a:solidFill>
                  <a:srgbClr val="475569"/>
                </a:solidFill>
              </a:rPr>
              <a:t>files, arrays,</a:t>
            </a:r>
            <a:endParaRPr lang="en-US" dirty="0"/>
          </a:p>
          <a:p>
            <a:pPr marL="0" indent="0" algn="ctr">
              <a:buNone/>
            </a:pPr>
            <a:r>
              <a:rPr lang="en-US" dirty="0">
                <a:solidFill>
                  <a:srgbClr val="475569"/>
                </a:solidFill>
              </a:rPr>
              <a:t>metadata, parameters</a:t>
            </a:r>
            <a:endParaRPr lang="en-US" dirty="0"/>
          </a:p>
        </p:txBody>
      </p:sp>
      <p:sp>
        <p:nvSpPr>
          <p:cNvPr id="20" name="Text 14">
            <a:extLst>
              <a:ext uri="{FF2B5EF4-FFF2-40B4-BE49-F238E27FC236}">
                <a16:creationId xmlns:a16="http://schemas.microsoft.com/office/drawing/2014/main" id="{BF21B9F4-0B84-9E92-29ED-AD3B2F04C9D2}"/>
              </a:ext>
            </a:extLst>
          </p:cNvPr>
          <p:cNvSpPr/>
          <p:nvPr/>
        </p:nvSpPr>
        <p:spPr>
          <a:xfrm>
            <a:off x="4083672" y="3055376"/>
            <a:ext cx="2518347" cy="710981"/>
          </a:xfrm>
          <a:prstGeom prst="rect">
            <a:avLst/>
          </a:prstGeom>
          <a:noFill/>
          <a:ln/>
        </p:spPr>
        <p:txBody>
          <a:bodyPr wrap="square" rtlCol="0" anchor="ctr"/>
          <a:lstStyle/>
          <a:p>
            <a:pPr algn="ctr"/>
            <a:r>
              <a:rPr lang="en-US" dirty="0">
                <a:solidFill>
                  <a:srgbClr val="475569"/>
                </a:solidFill>
              </a:rPr>
              <a:t>transform, clean,</a:t>
            </a:r>
          </a:p>
          <a:p>
            <a:pPr algn="ctr"/>
            <a:r>
              <a:rPr lang="en-US" dirty="0">
                <a:solidFill>
                  <a:srgbClr val="475569"/>
                </a:solidFill>
              </a:rPr>
              <a:t>compute, validate</a:t>
            </a:r>
          </a:p>
        </p:txBody>
      </p:sp>
      <p:sp>
        <p:nvSpPr>
          <p:cNvPr id="22" name="Text 15">
            <a:extLst>
              <a:ext uri="{FF2B5EF4-FFF2-40B4-BE49-F238E27FC236}">
                <a16:creationId xmlns:a16="http://schemas.microsoft.com/office/drawing/2014/main" id="{62597A87-86DC-0E6D-EF5D-824CDCEAD613}"/>
              </a:ext>
            </a:extLst>
          </p:cNvPr>
          <p:cNvSpPr/>
          <p:nvPr/>
        </p:nvSpPr>
        <p:spPr>
          <a:xfrm>
            <a:off x="7479296" y="3113162"/>
            <a:ext cx="2518349" cy="594360"/>
          </a:xfrm>
          <a:prstGeom prst="rect">
            <a:avLst/>
          </a:prstGeom>
          <a:noFill/>
          <a:ln/>
        </p:spPr>
        <p:txBody>
          <a:bodyPr wrap="square" rtlCol="0" anchor="ctr"/>
          <a:lstStyle/>
          <a:p>
            <a:pPr algn="ctr"/>
            <a:r>
              <a:rPr lang="en-US" dirty="0">
                <a:solidFill>
                  <a:srgbClr val="475569"/>
                </a:solidFill>
              </a:rPr>
              <a:t>cleaned data, metrics,</a:t>
            </a:r>
          </a:p>
          <a:p>
            <a:pPr algn="ctr"/>
            <a:r>
              <a:rPr lang="en-US" dirty="0">
                <a:solidFill>
                  <a:srgbClr val="475569"/>
                </a:solidFill>
              </a:rPr>
              <a:t>plots, saved artifacts</a:t>
            </a:r>
          </a:p>
        </p:txBody>
      </p:sp>
      <p:sp>
        <p:nvSpPr>
          <p:cNvPr id="23" name="Shape 16">
            <a:extLst>
              <a:ext uri="{FF2B5EF4-FFF2-40B4-BE49-F238E27FC236}">
                <a16:creationId xmlns:a16="http://schemas.microsoft.com/office/drawing/2014/main" id="{E4EE9FCE-1A8B-2147-B4A2-946565863246}"/>
              </a:ext>
            </a:extLst>
          </p:cNvPr>
          <p:cNvSpPr/>
          <p:nvPr/>
        </p:nvSpPr>
        <p:spPr>
          <a:xfrm>
            <a:off x="688049" y="4196645"/>
            <a:ext cx="2845882" cy="2124856"/>
          </a:xfrm>
          <a:prstGeom prst="roundRect">
            <a:avLst>
              <a:gd name="adj" fmla="val 3636"/>
            </a:avLst>
          </a:prstGeom>
          <a:solidFill>
            <a:srgbClr val="F8FAFC"/>
          </a:solidFill>
          <a:ln w="12700">
            <a:solidFill>
              <a:srgbClr val="CBD5E1"/>
            </a:solidFill>
            <a:prstDash val="solid"/>
          </a:ln>
        </p:spPr>
        <p:txBody>
          <a:bodyPr/>
          <a:lstStyle/>
          <a:p>
            <a:r>
              <a:rPr lang="en-US" dirty="0">
                <a:solidFill>
                  <a:srgbClr val="0F172A"/>
                </a:solidFill>
              </a:rPr>
              <a:t>Every block should answer:</a:t>
            </a:r>
            <a:endParaRPr lang="en-US" dirty="0"/>
          </a:p>
          <a:p>
            <a:endParaRPr lang="en-US" dirty="0"/>
          </a:p>
          <a:p>
            <a:r>
              <a:rPr lang="en-US" dirty="0">
                <a:solidFill>
                  <a:srgbClr val="0F172A"/>
                </a:solidFill>
              </a:rPr>
              <a:t>• What does it do?</a:t>
            </a:r>
            <a:endParaRPr lang="en-US" dirty="0"/>
          </a:p>
          <a:p>
            <a:r>
              <a:rPr lang="en-US" dirty="0">
                <a:solidFill>
                  <a:srgbClr val="0F172A"/>
                </a:solidFill>
              </a:rPr>
              <a:t>• What does it need?</a:t>
            </a:r>
            <a:endParaRPr lang="en-US" dirty="0"/>
          </a:p>
          <a:p>
            <a:r>
              <a:rPr lang="en-US" dirty="0">
                <a:solidFill>
                  <a:srgbClr val="0F172A"/>
                </a:solidFill>
              </a:rPr>
              <a:t>• What does it produce?</a:t>
            </a:r>
            <a:endParaRPr lang="en-US" dirty="0"/>
          </a:p>
        </p:txBody>
      </p:sp>
      <p:sp>
        <p:nvSpPr>
          <p:cNvPr id="25" name="Text 18">
            <a:extLst>
              <a:ext uri="{FF2B5EF4-FFF2-40B4-BE49-F238E27FC236}">
                <a16:creationId xmlns:a16="http://schemas.microsoft.com/office/drawing/2014/main" id="{775166C1-FDDE-DA3E-5DF9-836111C91E07}"/>
              </a:ext>
            </a:extLst>
          </p:cNvPr>
          <p:cNvSpPr/>
          <p:nvPr/>
        </p:nvSpPr>
        <p:spPr>
          <a:xfrm>
            <a:off x="5236815" y="4564656"/>
            <a:ext cx="5496143" cy="1051553"/>
          </a:xfrm>
          <a:prstGeom prst="rect">
            <a:avLst/>
          </a:prstGeom>
          <a:noFill/>
          <a:ln/>
        </p:spPr>
        <p:txBody>
          <a:bodyPr wrap="square" rtlCol="0" anchor="ctr"/>
          <a:lstStyle/>
          <a:p>
            <a:r>
              <a:rPr lang="en-US" sz="2000" dirty="0"/>
              <a:t>if you </a:t>
            </a:r>
            <a:r>
              <a:rPr lang="en-US" sz="2000" b="1" dirty="0"/>
              <a:t>cannot describe</a:t>
            </a:r>
            <a:r>
              <a:rPr lang="en-US" sz="2000" dirty="0"/>
              <a:t> a block in one sentence, it is probably </a:t>
            </a:r>
            <a:r>
              <a:rPr lang="en-US" sz="2000" b="1" dirty="0"/>
              <a:t>too vague </a:t>
            </a:r>
            <a:r>
              <a:rPr lang="en-US" sz="2000" dirty="0"/>
              <a:t>or </a:t>
            </a:r>
            <a:r>
              <a:rPr lang="en-US" sz="2000" b="1" dirty="0"/>
              <a:t>too big.</a:t>
            </a:r>
          </a:p>
        </p:txBody>
      </p:sp>
      <p:cxnSp>
        <p:nvCxnSpPr>
          <p:cNvPr id="28" name="Elbow Connector 27">
            <a:extLst>
              <a:ext uri="{FF2B5EF4-FFF2-40B4-BE49-F238E27FC236}">
                <a16:creationId xmlns:a16="http://schemas.microsoft.com/office/drawing/2014/main" id="{09A825BE-B39F-8507-49A4-BD2D83C2CA8B}"/>
              </a:ext>
            </a:extLst>
          </p:cNvPr>
          <p:cNvCxnSpPr>
            <a:cxnSpLocks/>
            <a:stCxn id="3" idx="3"/>
            <a:endCxn id="9" idx="1"/>
          </p:cNvCxnSpPr>
          <p:nvPr/>
        </p:nvCxnSpPr>
        <p:spPr>
          <a:xfrm>
            <a:off x="3206395" y="2658629"/>
            <a:ext cx="877278" cy="2727"/>
          </a:xfrm>
          <a:prstGeom prst="straightConnector1">
            <a:avLst/>
          </a:prstGeom>
          <a:ln w="28575">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33" name="Elbow Connector 27">
            <a:extLst>
              <a:ext uri="{FF2B5EF4-FFF2-40B4-BE49-F238E27FC236}">
                <a16:creationId xmlns:a16="http://schemas.microsoft.com/office/drawing/2014/main" id="{77E28C2F-FE4A-59BC-BFEE-D9C01141D205}"/>
              </a:ext>
            </a:extLst>
          </p:cNvPr>
          <p:cNvCxnSpPr>
            <a:cxnSpLocks/>
            <a:stCxn id="9" idx="3"/>
            <a:endCxn id="11" idx="1"/>
          </p:cNvCxnSpPr>
          <p:nvPr/>
        </p:nvCxnSpPr>
        <p:spPr>
          <a:xfrm>
            <a:off x="6602020" y="2661356"/>
            <a:ext cx="877278" cy="0"/>
          </a:xfrm>
          <a:prstGeom prst="straightConnector1">
            <a:avLst/>
          </a:prstGeom>
          <a:ln w="28575">
            <a:solidFill>
              <a:schemeClr val="tx1"/>
            </a:solidFill>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51109629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7401B58-70CE-508B-0FBA-481EBD412661}"/>
            </a:ext>
          </a:extLst>
        </p:cNvPr>
        <p:cNvGrpSpPr/>
        <p:nvPr/>
      </p:nvGrpSpPr>
      <p:grpSpPr>
        <a:xfrm>
          <a:off x="0" y="0"/>
          <a:ext cx="0" cy="0"/>
          <a:chOff x="0" y="0"/>
          <a:chExt cx="0" cy="0"/>
        </a:xfrm>
      </p:grpSpPr>
      <p:sp>
        <p:nvSpPr>
          <p:cNvPr id="4" name="Text 2">
            <a:extLst>
              <a:ext uri="{FF2B5EF4-FFF2-40B4-BE49-F238E27FC236}">
                <a16:creationId xmlns:a16="http://schemas.microsoft.com/office/drawing/2014/main" id="{7A38A3F7-E0DC-94E0-41D2-ADDAED47CD03}"/>
              </a:ext>
            </a:extLst>
          </p:cNvPr>
          <p:cNvSpPr/>
          <p:nvPr/>
        </p:nvSpPr>
        <p:spPr>
          <a:xfrm>
            <a:off x="502920" y="137014"/>
            <a:ext cx="8046720" cy="786531"/>
          </a:xfrm>
          <a:prstGeom prst="rect">
            <a:avLst/>
          </a:prstGeom>
          <a:noFill/>
          <a:ln/>
        </p:spPr>
        <p:txBody>
          <a:bodyPr wrap="square" rtlCol="0" anchor="ctr"/>
          <a:lstStyle/>
          <a:p>
            <a:r>
              <a:rPr lang="en-US" sz="2700" dirty="0">
                <a:solidFill>
                  <a:srgbClr val="0F172A"/>
                </a:solidFill>
                <a:latin typeface="Aptos Display" pitchFamily="34" charset="0"/>
                <a:ea typeface="Aptos Display" pitchFamily="34" charset="-122"/>
                <a:cs typeface="Aptos Display" pitchFamily="34" charset="-120"/>
              </a:rPr>
              <a:t>What good block design looks like</a:t>
            </a:r>
          </a:p>
        </p:txBody>
      </p:sp>
      <p:sp>
        <p:nvSpPr>
          <p:cNvPr id="5" name="Shape 3">
            <a:extLst>
              <a:ext uri="{FF2B5EF4-FFF2-40B4-BE49-F238E27FC236}">
                <a16:creationId xmlns:a16="http://schemas.microsoft.com/office/drawing/2014/main" id="{668DB811-A139-3E6A-9B41-E431AC2FECD9}"/>
              </a:ext>
            </a:extLst>
          </p:cNvPr>
          <p:cNvSpPr/>
          <p:nvPr/>
        </p:nvSpPr>
        <p:spPr>
          <a:xfrm>
            <a:off x="518160" y="956224"/>
            <a:ext cx="11155680" cy="0"/>
          </a:xfrm>
          <a:prstGeom prst="line">
            <a:avLst/>
          </a:prstGeom>
          <a:noFill/>
          <a:ln w="12700">
            <a:solidFill>
              <a:srgbClr val="CBD5E1"/>
            </a:solidFill>
            <a:prstDash val="solid"/>
          </a:ln>
        </p:spPr>
        <p:txBody>
          <a:bodyPr/>
          <a:lstStyle/>
          <a:p>
            <a:endParaRPr lang="en-US"/>
          </a:p>
        </p:txBody>
      </p:sp>
      <p:sp>
        <p:nvSpPr>
          <p:cNvPr id="3" name="Shape 4">
            <a:extLst>
              <a:ext uri="{FF2B5EF4-FFF2-40B4-BE49-F238E27FC236}">
                <a16:creationId xmlns:a16="http://schemas.microsoft.com/office/drawing/2014/main" id="{8D3DE411-3D04-07C5-3713-E26550F1939D}"/>
              </a:ext>
            </a:extLst>
          </p:cNvPr>
          <p:cNvSpPr/>
          <p:nvPr/>
        </p:nvSpPr>
        <p:spPr>
          <a:xfrm>
            <a:off x="822960" y="1318387"/>
            <a:ext cx="4937760" cy="1329932"/>
          </a:xfrm>
          <a:prstGeom prst="roundRect">
            <a:avLst>
              <a:gd name="adj" fmla="val 4571"/>
            </a:avLst>
          </a:prstGeom>
          <a:solidFill>
            <a:srgbClr val="F8FAFC"/>
          </a:solidFill>
          <a:ln w="12700">
            <a:solidFill>
              <a:srgbClr val="CBD5E1"/>
            </a:solidFill>
            <a:prstDash val="solid"/>
          </a:ln>
          <a:effectLst>
            <a:outerShdw blurRad="12700" dist="5080" dir="2700000" algn="bl" rotWithShape="0">
              <a:srgbClr val="000000">
                <a:alpha val="8000"/>
              </a:srgbClr>
            </a:outerShdw>
          </a:effectLst>
        </p:spPr>
        <p:txBody>
          <a:bodyPr/>
          <a:lstStyle/>
          <a:p>
            <a:endParaRPr lang="en-US"/>
          </a:p>
        </p:txBody>
      </p:sp>
      <p:sp>
        <p:nvSpPr>
          <p:cNvPr id="6" name="Text 5">
            <a:extLst>
              <a:ext uri="{FF2B5EF4-FFF2-40B4-BE49-F238E27FC236}">
                <a16:creationId xmlns:a16="http://schemas.microsoft.com/office/drawing/2014/main" id="{339EB7B6-D995-F2CA-3A78-9A492D7C0BA7}"/>
              </a:ext>
            </a:extLst>
          </p:cNvPr>
          <p:cNvSpPr/>
          <p:nvPr/>
        </p:nvSpPr>
        <p:spPr>
          <a:xfrm>
            <a:off x="1051560" y="1477883"/>
            <a:ext cx="4297680" cy="274320"/>
          </a:xfrm>
          <a:prstGeom prst="rect">
            <a:avLst/>
          </a:prstGeom>
          <a:noFill/>
          <a:ln/>
        </p:spPr>
        <p:txBody>
          <a:bodyPr wrap="square" rtlCol="0" anchor="ctr"/>
          <a:lstStyle/>
          <a:p>
            <a:pPr marL="0" indent="0">
              <a:buNone/>
            </a:pPr>
            <a:r>
              <a:rPr lang="en-US" sz="2100" dirty="0">
                <a:solidFill>
                  <a:srgbClr val="0F172A"/>
                </a:solidFill>
              </a:rPr>
              <a:t>One responsibility</a:t>
            </a:r>
            <a:endParaRPr lang="en-US" sz="2100" dirty="0"/>
          </a:p>
        </p:txBody>
      </p:sp>
      <p:sp>
        <p:nvSpPr>
          <p:cNvPr id="7" name="Text 6">
            <a:extLst>
              <a:ext uri="{FF2B5EF4-FFF2-40B4-BE49-F238E27FC236}">
                <a16:creationId xmlns:a16="http://schemas.microsoft.com/office/drawing/2014/main" id="{783AE40F-4EA6-A878-DB14-46E9CA197839}"/>
              </a:ext>
            </a:extLst>
          </p:cNvPr>
          <p:cNvSpPr/>
          <p:nvPr/>
        </p:nvSpPr>
        <p:spPr>
          <a:xfrm>
            <a:off x="1051560" y="1976755"/>
            <a:ext cx="4389120" cy="502920"/>
          </a:xfrm>
          <a:prstGeom prst="rect">
            <a:avLst/>
          </a:prstGeom>
          <a:noFill/>
          <a:ln/>
        </p:spPr>
        <p:txBody>
          <a:bodyPr wrap="square" rtlCol="0" anchor="ctr"/>
          <a:lstStyle/>
          <a:p>
            <a:pPr marL="0" indent="0">
              <a:buNone/>
            </a:pPr>
            <a:r>
              <a:rPr lang="en-US" dirty="0">
                <a:solidFill>
                  <a:srgbClr val="475569"/>
                </a:solidFill>
              </a:rPr>
              <a:t>Each block should do one main thing well.</a:t>
            </a:r>
            <a:endParaRPr lang="en-US" dirty="0"/>
          </a:p>
        </p:txBody>
      </p:sp>
      <p:sp>
        <p:nvSpPr>
          <p:cNvPr id="8" name="Shape 7">
            <a:extLst>
              <a:ext uri="{FF2B5EF4-FFF2-40B4-BE49-F238E27FC236}">
                <a16:creationId xmlns:a16="http://schemas.microsoft.com/office/drawing/2014/main" id="{AAF5CCB5-A379-3ADC-3625-0FE14733A342}"/>
              </a:ext>
            </a:extLst>
          </p:cNvPr>
          <p:cNvSpPr/>
          <p:nvPr/>
        </p:nvSpPr>
        <p:spPr>
          <a:xfrm>
            <a:off x="6355080" y="1318387"/>
            <a:ext cx="4937760" cy="1329932"/>
          </a:xfrm>
          <a:prstGeom prst="roundRect">
            <a:avLst>
              <a:gd name="adj" fmla="val 4571"/>
            </a:avLst>
          </a:prstGeom>
          <a:solidFill>
            <a:srgbClr val="F8FAFC"/>
          </a:solidFill>
          <a:ln w="12700">
            <a:solidFill>
              <a:srgbClr val="CBD5E1"/>
            </a:solidFill>
            <a:prstDash val="solid"/>
          </a:ln>
          <a:effectLst>
            <a:outerShdw blurRad="12700" dist="5080" dir="2700000" algn="bl" rotWithShape="0">
              <a:srgbClr val="000000">
                <a:alpha val="8000"/>
              </a:srgbClr>
            </a:outerShdw>
          </a:effectLst>
        </p:spPr>
        <p:txBody>
          <a:bodyPr/>
          <a:lstStyle/>
          <a:p>
            <a:endParaRPr lang="en-US"/>
          </a:p>
        </p:txBody>
      </p:sp>
      <p:sp>
        <p:nvSpPr>
          <p:cNvPr id="9" name="Text 8">
            <a:extLst>
              <a:ext uri="{FF2B5EF4-FFF2-40B4-BE49-F238E27FC236}">
                <a16:creationId xmlns:a16="http://schemas.microsoft.com/office/drawing/2014/main" id="{B5E810B0-4EBF-48B9-2C87-BFB290B3D4CF}"/>
              </a:ext>
            </a:extLst>
          </p:cNvPr>
          <p:cNvSpPr/>
          <p:nvPr/>
        </p:nvSpPr>
        <p:spPr>
          <a:xfrm>
            <a:off x="6583680" y="1431791"/>
            <a:ext cx="4297680" cy="274320"/>
          </a:xfrm>
          <a:prstGeom prst="rect">
            <a:avLst/>
          </a:prstGeom>
          <a:noFill/>
          <a:ln/>
        </p:spPr>
        <p:txBody>
          <a:bodyPr wrap="square" rtlCol="0" anchor="ctr"/>
          <a:lstStyle/>
          <a:p>
            <a:pPr marL="0" indent="0">
              <a:buNone/>
            </a:pPr>
            <a:r>
              <a:rPr lang="en-US" sz="2100" dirty="0">
                <a:solidFill>
                  <a:srgbClr val="0F172A"/>
                </a:solidFill>
              </a:rPr>
              <a:t>Explicit interfaces</a:t>
            </a:r>
            <a:endParaRPr lang="en-US" sz="2100" dirty="0"/>
          </a:p>
        </p:txBody>
      </p:sp>
      <p:sp>
        <p:nvSpPr>
          <p:cNvPr id="10" name="Text 9">
            <a:extLst>
              <a:ext uri="{FF2B5EF4-FFF2-40B4-BE49-F238E27FC236}">
                <a16:creationId xmlns:a16="http://schemas.microsoft.com/office/drawing/2014/main" id="{E7388B32-F693-917D-0942-CC78D683D20C}"/>
              </a:ext>
            </a:extLst>
          </p:cNvPr>
          <p:cNvSpPr/>
          <p:nvPr/>
        </p:nvSpPr>
        <p:spPr>
          <a:xfrm>
            <a:off x="6583680" y="1976755"/>
            <a:ext cx="4389120" cy="502920"/>
          </a:xfrm>
          <a:prstGeom prst="rect">
            <a:avLst/>
          </a:prstGeom>
          <a:noFill/>
          <a:ln/>
        </p:spPr>
        <p:txBody>
          <a:bodyPr wrap="square" rtlCol="0" anchor="ctr"/>
          <a:lstStyle/>
          <a:p>
            <a:pPr marL="0" indent="0">
              <a:buNone/>
            </a:pPr>
            <a:r>
              <a:rPr lang="en-US" dirty="0">
                <a:solidFill>
                  <a:srgbClr val="475569"/>
                </a:solidFill>
              </a:rPr>
              <a:t>Inputs, outputs, and parameters are visible.</a:t>
            </a:r>
            <a:endParaRPr lang="en-US" dirty="0"/>
          </a:p>
        </p:txBody>
      </p:sp>
      <p:sp>
        <p:nvSpPr>
          <p:cNvPr id="11" name="Shape 10">
            <a:extLst>
              <a:ext uri="{FF2B5EF4-FFF2-40B4-BE49-F238E27FC236}">
                <a16:creationId xmlns:a16="http://schemas.microsoft.com/office/drawing/2014/main" id="{A1966D12-AE57-DAE0-532F-B496989DD3EC}"/>
              </a:ext>
            </a:extLst>
          </p:cNvPr>
          <p:cNvSpPr/>
          <p:nvPr/>
        </p:nvSpPr>
        <p:spPr>
          <a:xfrm>
            <a:off x="822960" y="3091724"/>
            <a:ext cx="4937760" cy="1329932"/>
          </a:xfrm>
          <a:prstGeom prst="roundRect">
            <a:avLst>
              <a:gd name="adj" fmla="val 4571"/>
            </a:avLst>
          </a:prstGeom>
          <a:solidFill>
            <a:srgbClr val="F8FAFC"/>
          </a:solidFill>
          <a:ln w="12700">
            <a:solidFill>
              <a:srgbClr val="CBD5E1"/>
            </a:solidFill>
            <a:prstDash val="solid"/>
          </a:ln>
          <a:effectLst>
            <a:outerShdw blurRad="12700" dist="5080" dir="2700000" algn="bl" rotWithShape="0">
              <a:srgbClr val="000000">
                <a:alpha val="8000"/>
              </a:srgbClr>
            </a:outerShdw>
          </a:effectLst>
        </p:spPr>
        <p:txBody>
          <a:bodyPr/>
          <a:lstStyle/>
          <a:p>
            <a:endParaRPr lang="en-US"/>
          </a:p>
        </p:txBody>
      </p:sp>
      <p:sp>
        <p:nvSpPr>
          <p:cNvPr id="12" name="Text 11">
            <a:extLst>
              <a:ext uri="{FF2B5EF4-FFF2-40B4-BE49-F238E27FC236}">
                <a16:creationId xmlns:a16="http://schemas.microsoft.com/office/drawing/2014/main" id="{0348F4F1-ED57-4624-163A-7300E8996DCA}"/>
              </a:ext>
            </a:extLst>
          </p:cNvPr>
          <p:cNvSpPr/>
          <p:nvPr/>
        </p:nvSpPr>
        <p:spPr>
          <a:xfrm>
            <a:off x="1051560" y="3266210"/>
            <a:ext cx="4297680" cy="274320"/>
          </a:xfrm>
          <a:prstGeom prst="rect">
            <a:avLst/>
          </a:prstGeom>
          <a:noFill/>
          <a:ln/>
        </p:spPr>
        <p:txBody>
          <a:bodyPr wrap="square" rtlCol="0" anchor="ctr"/>
          <a:lstStyle/>
          <a:p>
            <a:pPr marL="0" indent="0">
              <a:buNone/>
            </a:pPr>
            <a:r>
              <a:rPr lang="en-US" sz="2100" dirty="0">
                <a:solidFill>
                  <a:srgbClr val="0F172A"/>
                </a:solidFill>
              </a:rPr>
              <a:t>Independently testable</a:t>
            </a:r>
            <a:endParaRPr lang="en-US" sz="2100" dirty="0"/>
          </a:p>
        </p:txBody>
      </p:sp>
      <p:sp>
        <p:nvSpPr>
          <p:cNvPr id="13" name="Text 12">
            <a:extLst>
              <a:ext uri="{FF2B5EF4-FFF2-40B4-BE49-F238E27FC236}">
                <a16:creationId xmlns:a16="http://schemas.microsoft.com/office/drawing/2014/main" id="{D13EAAAA-60B8-3C47-AF7F-4E5B3BC2FB31}"/>
              </a:ext>
            </a:extLst>
          </p:cNvPr>
          <p:cNvSpPr/>
          <p:nvPr/>
        </p:nvSpPr>
        <p:spPr>
          <a:xfrm>
            <a:off x="1051560" y="3750092"/>
            <a:ext cx="4389120" cy="502920"/>
          </a:xfrm>
          <a:prstGeom prst="rect">
            <a:avLst/>
          </a:prstGeom>
          <a:noFill/>
          <a:ln/>
        </p:spPr>
        <p:txBody>
          <a:bodyPr wrap="square" rtlCol="0" anchor="ctr"/>
          <a:lstStyle/>
          <a:p>
            <a:pPr marL="0" indent="0">
              <a:buNone/>
            </a:pPr>
            <a:r>
              <a:rPr lang="en-US" dirty="0">
                <a:solidFill>
                  <a:srgbClr val="475569"/>
                </a:solidFill>
              </a:rPr>
              <a:t>Problems should become visible at one block.</a:t>
            </a:r>
            <a:endParaRPr lang="en-US" dirty="0"/>
          </a:p>
        </p:txBody>
      </p:sp>
      <p:sp>
        <p:nvSpPr>
          <p:cNvPr id="14" name="Shape 13">
            <a:extLst>
              <a:ext uri="{FF2B5EF4-FFF2-40B4-BE49-F238E27FC236}">
                <a16:creationId xmlns:a16="http://schemas.microsoft.com/office/drawing/2014/main" id="{53123402-E108-F2F7-6B28-8AC57777D597}"/>
              </a:ext>
            </a:extLst>
          </p:cNvPr>
          <p:cNvSpPr/>
          <p:nvPr/>
        </p:nvSpPr>
        <p:spPr>
          <a:xfrm>
            <a:off x="6355080" y="3091724"/>
            <a:ext cx="4937760" cy="1329932"/>
          </a:xfrm>
          <a:prstGeom prst="roundRect">
            <a:avLst>
              <a:gd name="adj" fmla="val 4571"/>
            </a:avLst>
          </a:prstGeom>
          <a:solidFill>
            <a:srgbClr val="F8FAFC"/>
          </a:solidFill>
          <a:ln w="12700">
            <a:solidFill>
              <a:srgbClr val="CBD5E1"/>
            </a:solidFill>
            <a:prstDash val="solid"/>
          </a:ln>
          <a:effectLst>
            <a:outerShdw blurRad="12700" dist="5080" dir="2700000" algn="bl" rotWithShape="0">
              <a:srgbClr val="000000">
                <a:alpha val="8000"/>
              </a:srgbClr>
            </a:outerShdw>
          </a:effectLst>
        </p:spPr>
        <p:txBody>
          <a:bodyPr/>
          <a:lstStyle/>
          <a:p>
            <a:endParaRPr lang="en-US"/>
          </a:p>
        </p:txBody>
      </p:sp>
      <p:sp>
        <p:nvSpPr>
          <p:cNvPr id="15" name="Text 14">
            <a:extLst>
              <a:ext uri="{FF2B5EF4-FFF2-40B4-BE49-F238E27FC236}">
                <a16:creationId xmlns:a16="http://schemas.microsoft.com/office/drawing/2014/main" id="{896ABC58-BD18-765E-1641-04EC1115A01A}"/>
              </a:ext>
            </a:extLst>
          </p:cNvPr>
          <p:cNvSpPr/>
          <p:nvPr/>
        </p:nvSpPr>
        <p:spPr>
          <a:xfrm>
            <a:off x="6583680" y="3251220"/>
            <a:ext cx="4297680" cy="274320"/>
          </a:xfrm>
          <a:prstGeom prst="rect">
            <a:avLst/>
          </a:prstGeom>
          <a:noFill/>
          <a:ln/>
        </p:spPr>
        <p:txBody>
          <a:bodyPr wrap="square" rtlCol="0" anchor="ctr"/>
          <a:lstStyle/>
          <a:p>
            <a:pPr marL="0" indent="0">
              <a:buNone/>
            </a:pPr>
            <a:r>
              <a:rPr lang="en-US" sz="2100" dirty="0">
                <a:solidFill>
                  <a:srgbClr val="0F172A"/>
                </a:solidFill>
              </a:rPr>
              <a:t>Reusable and swappable</a:t>
            </a:r>
            <a:endParaRPr lang="en-US" sz="2100" dirty="0"/>
          </a:p>
        </p:txBody>
      </p:sp>
      <p:sp>
        <p:nvSpPr>
          <p:cNvPr id="16" name="Text 15">
            <a:extLst>
              <a:ext uri="{FF2B5EF4-FFF2-40B4-BE49-F238E27FC236}">
                <a16:creationId xmlns:a16="http://schemas.microsoft.com/office/drawing/2014/main" id="{8752DBE8-2184-B579-B47B-F7CE8A422813}"/>
              </a:ext>
            </a:extLst>
          </p:cNvPr>
          <p:cNvSpPr/>
          <p:nvPr/>
        </p:nvSpPr>
        <p:spPr>
          <a:xfrm>
            <a:off x="6583680" y="3750092"/>
            <a:ext cx="4389120" cy="502920"/>
          </a:xfrm>
          <a:prstGeom prst="rect">
            <a:avLst/>
          </a:prstGeom>
          <a:noFill/>
          <a:ln/>
        </p:spPr>
        <p:txBody>
          <a:bodyPr wrap="square" rtlCol="0" anchor="ctr"/>
          <a:lstStyle/>
          <a:p>
            <a:pPr marL="0" indent="0">
              <a:buNone/>
            </a:pPr>
            <a:r>
              <a:rPr lang="en-US" dirty="0">
                <a:solidFill>
                  <a:srgbClr val="475569"/>
                </a:solidFill>
              </a:rPr>
              <a:t>A method can change without rewriting everything else.</a:t>
            </a:r>
            <a:endParaRPr lang="en-US" dirty="0"/>
          </a:p>
        </p:txBody>
      </p:sp>
      <p:sp>
        <p:nvSpPr>
          <p:cNvPr id="18" name="TextBox 17">
            <a:extLst>
              <a:ext uri="{FF2B5EF4-FFF2-40B4-BE49-F238E27FC236}">
                <a16:creationId xmlns:a16="http://schemas.microsoft.com/office/drawing/2014/main" id="{4663AF1C-176A-BEAB-836E-DBE3B218EF05}"/>
              </a:ext>
            </a:extLst>
          </p:cNvPr>
          <p:cNvSpPr txBox="1"/>
          <p:nvPr/>
        </p:nvSpPr>
        <p:spPr>
          <a:xfrm>
            <a:off x="822960" y="5269795"/>
            <a:ext cx="10469880" cy="769441"/>
          </a:xfrm>
          <a:prstGeom prst="rect">
            <a:avLst/>
          </a:prstGeom>
          <a:noFill/>
          <a:ln/>
        </p:spPr>
        <p:txBody>
          <a:bodyPr wrap="square" rtlCol="0" anchor="ctr"/>
          <a:lstStyle>
            <a:lvl1pPr indent="0">
              <a:buNone/>
              <a:defRPr sz="2200">
                <a:solidFill>
                  <a:srgbClr val="0F172A"/>
                </a:solidFill>
              </a:defRPr>
            </a:lvl1pPr>
          </a:lstStyle>
          <a:p>
            <a:pPr algn="ctr"/>
            <a:r>
              <a:rPr lang="en-US" b="1" dirty="0"/>
              <a:t>Good design </a:t>
            </a:r>
            <a:r>
              <a:rPr lang="en-US" dirty="0"/>
              <a:t>supports </a:t>
            </a:r>
            <a:r>
              <a:rPr lang="en-US" b="1" dirty="0"/>
              <a:t>debugging</a:t>
            </a:r>
            <a:r>
              <a:rPr lang="en-US" dirty="0"/>
              <a:t>, </a:t>
            </a:r>
            <a:r>
              <a:rPr lang="en-US" b="1" dirty="0"/>
              <a:t>replication</a:t>
            </a:r>
            <a:r>
              <a:rPr lang="en-US" dirty="0"/>
              <a:t>, </a:t>
            </a:r>
            <a:r>
              <a:rPr lang="en-US" b="1" dirty="0"/>
              <a:t>collaboration</a:t>
            </a:r>
            <a:r>
              <a:rPr lang="en-US" dirty="0"/>
              <a:t>, and later </a:t>
            </a:r>
            <a:r>
              <a:rPr lang="en-US" b="1" dirty="0"/>
              <a:t>extension</a:t>
            </a:r>
            <a:r>
              <a:rPr lang="en-US" dirty="0"/>
              <a:t>.</a:t>
            </a:r>
          </a:p>
        </p:txBody>
      </p:sp>
    </p:spTree>
    <p:extLst>
      <p:ext uri="{BB962C8B-B14F-4D97-AF65-F5344CB8AC3E}">
        <p14:creationId xmlns:p14="http://schemas.microsoft.com/office/powerpoint/2010/main" val="98357547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3479417-A270-C8D1-C1EB-35AE94BE41E1}"/>
            </a:ext>
          </a:extLst>
        </p:cNvPr>
        <p:cNvGrpSpPr/>
        <p:nvPr/>
      </p:nvGrpSpPr>
      <p:grpSpPr>
        <a:xfrm>
          <a:off x="0" y="0"/>
          <a:ext cx="0" cy="0"/>
          <a:chOff x="0" y="0"/>
          <a:chExt cx="0" cy="0"/>
        </a:xfrm>
      </p:grpSpPr>
      <p:sp>
        <p:nvSpPr>
          <p:cNvPr id="4" name="Text 2">
            <a:extLst>
              <a:ext uri="{FF2B5EF4-FFF2-40B4-BE49-F238E27FC236}">
                <a16:creationId xmlns:a16="http://schemas.microsoft.com/office/drawing/2014/main" id="{72436C0C-1D13-5CA6-2BC4-BE129F1567F1}"/>
              </a:ext>
            </a:extLst>
          </p:cNvPr>
          <p:cNvSpPr/>
          <p:nvPr/>
        </p:nvSpPr>
        <p:spPr>
          <a:xfrm>
            <a:off x="502920" y="137014"/>
            <a:ext cx="8046720" cy="786531"/>
          </a:xfrm>
          <a:prstGeom prst="rect">
            <a:avLst/>
          </a:prstGeom>
          <a:noFill/>
          <a:ln/>
        </p:spPr>
        <p:txBody>
          <a:bodyPr wrap="square" rtlCol="0" anchor="ctr"/>
          <a:lstStyle/>
          <a:p>
            <a:r>
              <a:rPr lang="en-US" sz="2700" dirty="0">
                <a:solidFill>
                  <a:srgbClr val="0F172A"/>
                </a:solidFill>
                <a:latin typeface="Aptos Display" pitchFamily="34" charset="0"/>
                <a:ea typeface="Aptos Display" pitchFamily="34" charset="-122"/>
                <a:cs typeface="Aptos Display" pitchFamily="34" charset="-120"/>
              </a:rPr>
              <a:t>A generic neuroscience project pipeline</a:t>
            </a:r>
          </a:p>
        </p:txBody>
      </p:sp>
      <p:sp>
        <p:nvSpPr>
          <p:cNvPr id="5" name="Shape 3">
            <a:extLst>
              <a:ext uri="{FF2B5EF4-FFF2-40B4-BE49-F238E27FC236}">
                <a16:creationId xmlns:a16="http://schemas.microsoft.com/office/drawing/2014/main" id="{83A39841-B3E7-8B71-4819-43F8E0E4D8E4}"/>
              </a:ext>
            </a:extLst>
          </p:cNvPr>
          <p:cNvSpPr/>
          <p:nvPr/>
        </p:nvSpPr>
        <p:spPr>
          <a:xfrm>
            <a:off x="518160" y="956224"/>
            <a:ext cx="11155680" cy="0"/>
          </a:xfrm>
          <a:prstGeom prst="line">
            <a:avLst/>
          </a:prstGeom>
          <a:noFill/>
          <a:ln w="12700">
            <a:solidFill>
              <a:srgbClr val="CBD5E1"/>
            </a:solidFill>
            <a:prstDash val="solid"/>
          </a:ln>
        </p:spPr>
        <p:txBody>
          <a:bodyPr/>
          <a:lstStyle/>
          <a:p>
            <a:endParaRPr lang="en-US"/>
          </a:p>
        </p:txBody>
      </p:sp>
      <p:sp>
        <p:nvSpPr>
          <p:cNvPr id="2" name="Text 4">
            <a:extLst>
              <a:ext uri="{FF2B5EF4-FFF2-40B4-BE49-F238E27FC236}">
                <a16:creationId xmlns:a16="http://schemas.microsoft.com/office/drawing/2014/main" id="{1EEB6139-5A63-2EF2-7CAF-3222EF6E851E}"/>
              </a:ext>
            </a:extLst>
          </p:cNvPr>
          <p:cNvSpPr/>
          <p:nvPr/>
        </p:nvSpPr>
        <p:spPr>
          <a:xfrm>
            <a:off x="502920" y="1117519"/>
            <a:ext cx="11155680" cy="929389"/>
          </a:xfrm>
          <a:prstGeom prst="rect">
            <a:avLst/>
          </a:prstGeom>
          <a:noFill/>
          <a:ln/>
        </p:spPr>
        <p:txBody>
          <a:bodyPr wrap="square" rtlCol="0" anchor="ctr"/>
          <a:lstStyle/>
          <a:p>
            <a:r>
              <a:rPr lang="en-US" sz="2200" dirty="0">
                <a:solidFill>
                  <a:srgbClr val="0F172A"/>
                </a:solidFill>
              </a:rPr>
              <a:t>Each stage receives well-defined inputs and returns outputs that the next stage can trust.</a:t>
            </a:r>
          </a:p>
        </p:txBody>
      </p:sp>
      <p:sp>
        <p:nvSpPr>
          <p:cNvPr id="6" name="Text 36">
            <a:extLst>
              <a:ext uri="{FF2B5EF4-FFF2-40B4-BE49-F238E27FC236}">
                <a16:creationId xmlns:a16="http://schemas.microsoft.com/office/drawing/2014/main" id="{778572A3-025D-4F1F-6B2E-2CA2612A4864}"/>
              </a:ext>
            </a:extLst>
          </p:cNvPr>
          <p:cNvSpPr/>
          <p:nvPr/>
        </p:nvSpPr>
        <p:spPr>
          <a:xfrm>
            <a:off x="1143260" y="4347444"/>
            <a:ext cx="7955280" cy="1642975"/>
          </a:xfrm>
          <a:prstGeom prst="rect">
            <a:avLst/>
          </a:prstGeom>
          <a:noFill/>
          <a:ln/>
        </p:spPr>
        <p:txBody>
          <a:bodyPr wrap="square" lIns="0" tIns="0" rIns="0" bIns="0" rtlCol="0" anchor="t"/>
          <a:lstStyle/>
          <a:p>
            <a:pPr marL="0" indent="0">
              <a:lnSpc>
                <a:spcPct val="150000"/>
              </a:lnSpc>
              <a:buNone/>
            </a:pPr>
            <a:r>
              <a:rPr lang="en-US" sz="2000" b="1" dirty="0">
                <a:latin typeface="Aptos" pitchFamily="34" charset="0"/>
                <a:ea typeface="Aptos" pitchFamily="34" charset="-122"/>
                <a:cs typeface="Aptos" pitchFamily="34" charset="-120"/>
              </a:rPr>
              <a:t>• </a:t>
            </a:r>
            <a:r>
              <a:rPr lang="en-US" sz="2000" dirty="0">
                <a:latin typeface="Aptos" pitchFamily="34" charset="0"/>
                <a:ea typeface="Aptos" pitchFamily="34" charset="-122"/>
                <a:cs typeface="Aptos" pitchFamily="34" charset="-120"/>
              </a:rPr>
              <a:t>Which stages consume raw vs derived data?
</a:t>
            </a:r>
            <a:r>
              <a:rPr lang="en-US" sz="2000" b="1" dirty="0">
                <a:latin typeface="Aptos" pitchFamily="34" charset="0"/>
                <a:ea typeface="Aptos" pitchFamily="34" charset="-122"/>
                <a:cs typeface="Aptos" pitchFamily="34" charset="-120"/>
              </a:rPr>
              <a:t>• </a:t>
            </a:r>
            <a:r>
              <a:rPr lang="en-US" sz="2000" dirty="0">
                <a:latin typeface="Aptos" pitchFamily="34" charset="0"/>
                <a:ea typeface="Aptos" pitchFamily="34" charset="-122"/>
                <a:cs typeface="Aptos" pitchFamily="34" charset="-120"/>
              </a:rPr>
              <a:t>Which stages are reusable across studies?
</a:t>
            </a:r>
            <a:r>
              <a:rPr lang="en-US" sz="2000" b="1" dirty="0">
                <a:latin typeface="Aptos" pitchFamily="34" charset="0"/>
                <a:ea typeface="Aptos" pitchFamily="34" charset="-122"/>
                <a:cs typeface="Aptos" pitchFamily="34" charset="-120"/>
              </a:rPr>
              <a:t>• </a:t>
            </a:r>
            <a:r>
              <a:rPr lang="en-US" sz="2000" dirty="0">
                <a:latin typeface="Aptos" pitchFamily="34" charset="0"/>
                <a:ea typeface="Aptos" pitchFamily="34" charset="-122"/>
                <a:cs typeface="Aptos" pitchFamily="34" charset="-120"/>
              </a:rPr>
              <a:t>Where should checkpoints be saved or cached?</a:t>
            </a:r>
            <a:endParaRPr lang="en-US" sz="2000" dirty="0"/>
          </a:p>
        </p:txBody>
      </p:sp>
      <p:sp>
        <p:nvSpPr>
          <p:cNvPr id="7" name="Shape 4">
            <a:extLst>
              <a:ext uri="{FF2B5EF4-FFF2-40B4-BE49-F238E27FC236}">
                <a16:creationId xmlns:a16="http://schemas.microsoft.com/office/drawing/2014/main" id="{80B94F68-D2CF-F3CB-033B-E9039D06F1F8}"/>
              </a:ext>
            </a:extLst>
          </p:cNvPr>
          <p:cNvSpPr/>
          <p:nvPr/>
        </p:nvSpPr>
        <p:spPr>
          <a:xfrm>
            <a:off x="320300" y="2171180"/>
            <a:ext cx="1353312" cy="1609345"/>
          </a:xfrm>
          <a:prstGeom prst="roundRect">
            <a:avLst>
              <a:gd name="adj" fmla="val 4800"/>
            </a:avLst>
          </a:prstGeom>
          <a:solidFill>
            <a:srgbClr val="1D4ED8"/>
          </a:solidFill>
          <a:ln w="12700">
            <a:solidFill>
              <a:srgbClr val="1D4ED8"/>
            </a:solidFill>
            <a:prstDash val="solid"/>
          </a:ln>
        </p:spPr>
        <p:txBody>
          <a:bodyPr/>
          <a:lstStyle/>
          <a:p>
            <a:endParaRPr lang="en-US"/>
          </a:p>
        </p:txBody>
      </p:sp>
      <p:sp>
        <p:nvSpPr>
          <p:cNvPr id="8" name="Text 5">
            <a:extLst>
              <a:ext uri="{FF2B5EF4-FFF2-40B4-BE49-F238E27FC236}">
                <a16:creationId xmlns:a16="http://schemas.microsoft.com/office/drawing/2014/main" id="{770644F2-19EA-BE65-1AD9-2A5AA13371B1}"/>
              </a:ext>
            </a:extLst>
          </p:cNvPr>
          <p:cNvSpPr/>
          <p:nvPr/>
        </p:nvSpPr>
        <p:spPr>
          <a:xfrm>
            <a:off x="320300" y="2327379"/>
            <a:ext cx="1353312" cy="201168"/>
          </a:xfrm>
          <a:prstGeom prst="rect">
            <a:avLst/>
          </a:prstGeom>
          <a:noFill/>
          <a:ln/>
        </p:spPr>
        <p:txBody>
          <a:bodyPr wrap="square" rtlCol="0" anchor="ctr"/>
          <a:lstStyle/>
          <a:p>
            <a:pPr marL="0" indent="0" algn="ctr">
              <a:buNone/>
            </a:pPr>
            <a:r>
              <a:rPr lang="en-US" sz="2000" b="1" dirty="0">
                <a:solidFill>
                  <a:srgbClr val="FFFFFF"/>
                </a:solidFill>
              </a:rPr>
              <a:t>Question</a:t>
            </a:r>
            <a:endParaRPr lang="en-US" sz="2000" dirty="0"/>
          </a:p>
        </p:txBody>
      </p:sp>
      <p:sp>
        <p:nvSpPr>
          <p:cNvPr id="9" name="Text 6">
            <a:extLst>
              <a:ext uri="{FF2B5EF4-FFF2-40B4-BE49-F238E27FC236}">
                <a16:creationId xmlns:a16="http://schemas.microsoft.com/office/drawing/2014/main" id="{727B2D53-B7A3-7E93-F42B-16E11FBBD8F9}"/>
              </a:ext>
            </a:extLst>
          </p:cNvPr>
          <p:cNvSpPr/>
          <p:nvPr/>
        </p:nvSpPr>
        <p:spPr>
          <a:xfrm>
            <a:off x="320300" y="2698093"/>
            <a:ext cx="1362456" cy="1097279"/>
          </a:xfrm>
          <a:prstGeom prst="rect">
            <a:avLst/>
          </a:prstGeom>
          <a:noFill/>
          <a:ln/>
        </p:spPr>
        <p:txBody>
          <a:bodyPr wrap="square" rtlCol="0" anchor="ctr"/>
          <a:lstStyle/>
          <a:p>
            <a:pPr marL="0" indent="0" algn="ctr">
              <a:buNone/>
            </a:pPr>
            <a:r>
              <a:rPr lang="en-US" sz="1600" dirty="0">
                <a:solidFill>
                  <a:srgbClr val="FFFFFF"/>
                </a:solidFill>
              </a:rPr>
              <a:t>hypothesis, variable, comparison</a:t>
            </a:r>
            <a:endParaRPr lang="en-US" sz="1600" dirty="0"/>
          </a:p>
        </p:txBody>
      </p:sp>
      <p:sp>
        <p:nvSpPr>
          <p:cNvPr id="11" name="Shape 8">
            <a:extLst>
              <a:ext uri="{FF2B5EF4-FFF2-40B4-BE49-F238E27FC236}">
                <a16:creationId xmlns:a16="http://schemas.microsoft.com/office/drawing/2014/main" id="{0FEE8DD4-712C-6204-641B-10FDF77A771C}"/>
              </a:ext>
            </a:extLst>
          </p:cNvPr>
          <p:cNvSpPr/>
          <p:nvPr/>
        </p:nvSpPr>
        <p:spPr>
          <a:xfrm>
            <a:off x="1783340" y="2171180"/>
            <a:ext cx="1353312" cy="1609345"/>
          </a:xfrm>
          <a:prstGeom prst="roundRect">
            <a:avLst>
              <a:gd name="adj" fmla="val 4800"/>
            </a:avLst>
          </a:prstGeom>
          <a:solidFill>
            <a:srgbClr val="06B6D4"/>
          </a:solidFill>
          <a:ln w="12700">
            <a:solidFill>
              <a:srgbClr val="06B6D4"/>
            </a:solidFill>
            <a:prstDash val="solid"/>
          </a:ln>
        </p:spPr>
        <p:txBody>
          <a:bodyPr/>
          <a:lstStyle/>
          <a:p>
            <a:endParaRPr lang="en-US"/>
          </a:p>
        </p:txBody>
      </p:sp>
      <p:sp>
        <p:nvSpPr>
          <p:cNvPr id="12" name="Text 9">
            <a:extLst>
              <a:ext uri="{FF2B5EF4-FFF2-40B4-BE49-F238E27FC236}">
                <a16:creationId xmlns:a16="http://schemas.microsoft.com/office/drawing/2014/main" id="{189871EA-259D-4C70-1531-4458FED59A58}"/>
              </a:ext>
            </a:extLst>
          </p:cNvPr>
          <p:cNvSpPr/>
          <p:nvPr/>
        </p:nvSpPr>
        <p:spPr>
          <a:xfrm>
            <a:off x="1783340" y="2327379"/>
            <a:ext cx="1353312" cy="201168"/>
          </a:xfrm>
          <a:prstGeom prst="rect">
            <a:avLst/>
          </a:prstGeom>
          <a:noFill/>
          <a:ln/>
        </p:spPr>
        <p:txBody>
          <a:bodyPr wrap="square" rtlCol="0" anchor="ctr"/>
          <a:lstStyle/>
          <a:p>
            <a:pPr marL="0" indent="0" algn="ctr">
              <a:buNone/>
            </a:pPr>
            <a:r>
              <a:rPr lang="en-US" sz="2000" b="1" dirty="0">
                <a:solidFill>
                  <a:srgbClr val="FFFFFF"/>
                </a:solidFill>
              </a:rPr>
              <a:t>Structure</a:t>
            </a:r>
            <a:endParaRPr lang="en-US" sz="2000" dirty="0"/>
          </a:p>
        </p:txBody>
      </p:sp>
      <p:sp>
        <p:nvSpPr>
          <p:cNvPr id="13" name="Text 10">
            <a:extLst>
              <a:ext uri="{FF2B5EF4-FFF2-40B4-BE49-F238E27FC236}">
                <a16:creationId xmlns:a16="http://schemas.microsoft.com/office/drawing/2014/main" id="{D7BE9CD1-EA68-82E0-03ED-5062E8B73286}"/>
              </a:ext>
            </a:extLst>
          </p:cNvPr>
          <p:cNvSpPr/>
          <p:nvPr/>
        </p:nvSpPr>
        <p:spPr>
          <a:xfrm>
            <a:off x="1783340" y="2698093"/>
            <a:ext cx="1362456" cy="1097279"/>
          </a:xfrm>
          <a:prstGeom prst="rect">
            <a:avLst/>
          </a:prstGeom>
          <a:noFill/>
          <a:ln/>
        </p:spPr>
        <p:txBody>
          <a:bodyPr wrap="square" rtlCol="0" anchor="ctr"/>
          <a:lstStyle/>
          <a:p>
            <a:pPr marL="0" indent="0" algn="ctr">
              <a:buNone/>
            </a:pPr>
            <a:r>
              <a:rPr lang="en-US" sz="1600" dirty="0">
                <a:solidFill>
                  <a:srgbClr val="FFFFFF"/>
                </a:solidFill>
              </a:rPr>
              <a:t>subjects, sessions, metadata</a:t>
            </a:r>
            <a:endParaRPr lang="en-US" sz="1600" dirty="0"/>
          </a:p>
        </p:txBody>
      </p:sp>
      <p:sp>
        <p:nvSpPr>
          <p:cNvPr id="15" name="Shape 12">
            <a:extLst>
              <a:ext uri="{FF2B5EF4-FFF2-40B4-BE49-F238E27FC236}">
                <a16:creationId xmlns:a16="http://schemas.microsoft.com/office/drawing/2014/main" id="{4393C8E6-B2F0-7FEB-ADF8-D69AD2F9861B}"/>
              </a:ext>
            </a:extLst>
          </p:cNvPr>
          <p:cNvSpPr/>
          <p:nvPr/>
        </p:nvSpPr>
        <p:spPr>
          <a:xfrm>
            <a:off x="3246380" y="2171180"/>
            <a:ext cx="1353312" cy="1609345"/>
          </a:xfrm>
          <a:prstGeom prst="roundRect">
            <a:avLst>
              <a:gd name="adj" fmla="val 4800"/>
            </a:avLst>
          </a:prstGeom>
          <a:solidFill>
            <a:srgbClr val="0F766E"/>
          </a:solidFill>
          <a:ln w="12700">
            <a:solidFill>
              <a:srgbClr val="0F766E"/>
            </a:solidFill>
            <a:prstDash val="solid"/>
          </a:ln>
        </p:spPr>
        <p:txBody>
          <a:bodyPr/>
          <a:lstStyle/>
          <a:p>
            <a:endParaRPr lang="en-US"/>
          </a:p>
        </p:txBody>
      </p:sp>
      <p:sp>
        <p:nvSpPr>
          <p:cNvPr id="16" name="Text 13">
            <a:extLst>
              <a:ext uri="{FF2B5EF4-FFF2-40B4-BE49-F238E27FC236}">
                <a16:creationId xmlns:a16="http://schemas.microsoft.com/office/drawing/2014/main" id="{A0EF4AA9-5FB1-DFE1-CDE4-B99662BA1858}"/>
              </a:ext>
            </a:extLst>
          </p:cNvPr>
          <p:cNvSpPr/>
          <p:nvPr/>
        </p:nvSpPr>
        <p:spPr>
          <a:xfrm>
            <a:off x="3246380" y="2327379"/>
            <a:ext cx="1353312" cy="201168"/>
          </a:xfrm>
          <a:prstGeom prst="rect">
            <a:avLst/>
          </a:prstGeom>
          <a:noFill/>
          <a:ln/>
        </p:spPr>
        <p:txBody>
          <a:bodyPr wrap="square" rtlCol="0" anchor="ctr"/>
          <a:lstStyle/>
          <a:p>
            <a:pPr marL="0" indent="0" algn="ctr">
              <a:buNone/>
            </a:pPr>
            <a:r>
              <a:rPr lang="en-US" sz="2000" b="1" dirty="0">
                <a:solidFill>
                  <a:srgbClr val="FFFFFF"/>
                </a:solidFill>
              </a:rPr>
              <a:t>Load</a:t>
            </a:r>
            <a:endParaRPr lang="en-US" sz="2000" dirty="0"/>
          </a:p>
        </p:txBody>
      </p:sp>
      <p:sp>
        <p:nvSpPr>
          <p:cNvPr id="17" name="Text 14">
            <a:extLst>
              <a:ext uri="{FF2B5EF4-FFF2-40B4-BE49-F238E27FC236}">
                <a16:creationId xmlns:a16="http://schemas.microsoft.com/office/drawing/2014/main" id="{34C932D4-76D0-87E8-3B12-FB68B0686739}"/>
              </a:ext>
            </a:extLst>
          </p:cNvPr>
          <p:cNvSpPr/>
          <p:nvPr/>
        </p:nvSpPr>
        <p:spPr>
          <a:xfrm>
            <a:off x="3246380" y="2698093"/>
            <a:ext cx="1362456" cy="1097279"/>
          </a:xfrm>
          <a:prstGeom prst="rect">
            <a:avLst/>
          </a:prstGeom>
          <a:noFill/>
          <a:ln/>
        </p:spPr>
        <p:txBody>
          <a:bodyPr wrap="square" rtlCol="0" anchor="ctr"/>
          <a:lstStyle/>
          <a:p>
            <a:pPr marL="0" indent="0" algn="ctr">
              <a:buNone/>
            </a:pPr>
            <a:r>
              <a:rPr lang="en-US" sz="1600" dirty="0">
                <a:solidFill>
                  <a:srgbClr val="FFFFFF"/>
                </a:solidFill>
              </a:rPr>
              <a:t>raw data and logs</a:t>
            </a:r>
            <a:endParaRPr lang="en-US" sz="1600" dirty="0"/>
          </a:p>
        </p:txBody>
      </p:sp>
      <p:sp>
        <p:nvSpPr>
          <p:cNvPr id="19" name="Shape 16">
            <a:extLst>
              <a:ext uri="{FF2B5EF4-FFF2-40B4-BE49-F238E27FC236}">
                <a16:creationId xmlns:a16="http://schemas.microsoft.com/office/drawing/2014/main" id="{BD4C8847-0F3F-0745-0EB5-9A730319849F}"/>
              </a:ext>
            </a:extLst>
          </p:cNvPr>
          <p:cNvSpPr/>
          <p:nvPr/>
        </p:nvSpPr>
        <p:spPr>
          <a:xfrm>
            <a:off x="4709420" y="2171180"/>
            <a:ext cx="1353312" cy="1609345"/>
          </a:xfrm>
          <a:prstGeom prst="roundRect">
            <a:avLst>
              <a:gd name="adj" fmla="val 4800"/>
            </a:avLst>
          </a:prstGeom>
          <a:solidFill>
            <a:srgbClr val="F59E0B"/>
          </a:solidFill>
          <a:ln w="12700">
            <a:solidFill>
              <a:srgbClr val="F59E0B"/>
            </a:solidFill>
            <a:prstDash val="solid"/>
          </a:ln>
        </p:spPr>
        <p:txBody>
          <a:bodyPr/>
          <a:lstStyle/>
          <a:p>
            <a:endParaRPr lang="en-US"/>
          </a:p>
        </p:txBody>
      </p:sp>
      <p:sp>
        <p:nvSpPr>
          <p:cNvPr id="20" name="Text 17">
            <a:extLst>
              <a:ext uri="{FF2B5EF4-FFF2-40B4-BE49-F238E27FC236}">
                <a16:creationId xmlns:a16="http://schemas.microsoft.com/office/drawing/2014/main" id="{9043D92F-3CEB-01FE-CF41-99568AE2BEE6}"/>
              </a:ext>
            </a:extLst>
          </p:cNvPr>
          <p:cNvSpPr/>
          <p:nvPr/>
        </p:nvSpPr>
        <p:spPr>
          <a:xfrm>
            <a:off x="4709420" y="2327379"/>
            <a:ext cx="1353312" cy="201168"/>
          </a:xfrm>
          <a:prstGeom prst="rect">
            <a:avLst/>
          </a:prstGeom>
          <a:noFill/>
          <a:ln/>
        </p:spPr>
        <p:txBody>
          <a:bodyPr wrap="square" rtlCol="0" anchor="ctr"/>
          <a:lstStyle/>
          <a:p>
            <a:pPr marL="0" indent="0" algn="ctr">
              <a:buNone/>
            </a:pPr>
            <a:r>
              <a:rPr lang="en-US" sz="2000" b="1" dirty="0">
                <a:solidFill>
                  <a:srgbClr val="FFFFFF"/>
                </a:solidFill>
              </a:rPr>
              <a:t>QC</a:t>
            </a:r>
            <a:endParaRPr lang="en-US" sz="2000" dirty="0"/>
          </a:p>
        </p:txBody>
      </p:sp>
      <p:sp>
        <p:nvSpPr>
          <p:cNvPr id="21" name="Text 18">
            <a:extLst>
              <a:ext uri="{FF2B5EF4-FFF2-40B4-BE49-F238E27FC236}">
                <a16:creationId xmlns:a16="http://schemas.microsoft.com/office/drawing/2014/main" id="{70B4405B-6D30-3DAC-4117-1CC15F42A10E}"/>
              </a:ext>
            </a:extLst>
          </p:cNvPr>
          <p:cNvSpPr/>
          <p:nvPr/>
        </p:nvSpPr>
        <p:spPr>
          <a:xfrm>
            <a:off x="4700276" y="2738110"/>
            <a:ext cx="1362456" cy="1057262"/>
          </a:xfrm>
          <a:prstGeom prst="rect">
            <a:avLst/>
          </a:prstGeom>
          <a:noFill/>
          <a:ln/>
        </p:spPr>
        <p:txBody>
          <a:bodyPr wrap="square" rtlCol="0" anchor="ctr"/>
          <a:lstStyle/>
          <a:p>
            <a:pPr marL="0" indent="0" algn="ctr">
              <a:buNone/>
            </a:pPr>
            <a:r>
              <a:rPr lang="en-US" sz="1600" dirty="0">
                <a:solidFill>
                  <a:srgbClr val="FFFFFF"/>
                </a:solidFill>
              </a:rPr>
              <a:t>missing files, dimensions, alignment</a:t>
            </a:r>
            <a:endParaRPr lang="en-US" sz="1600" dirty="0"/>
          </a:p>
        </p:txBody>
      </p:sp>
      <p:sp>
        <p:nvSpPr>
          <p:cNvPr id="23" name="Shape 20">
            <a:extLst>
              <a:ext uri="{FF2B5EF4-FFF2-40B4-BE49-F238E27FC236}">
                <a16:creationId xmlns:a16="http://schemas.microsoft.com/office/drawing/2014/main" id="{6E595DFB-5945-8012-12BC-413828A57DBB}"/>
              </a:ext>
            </a:extLst>
          </p:cNvPr>
          <p:cNvSpPr/>
          <p:nvPr/>
        </p:nvSpPr>
        <p:spPr>
          <a:xfrm>
            <a:off x="6172460" y="2171180"/>
            <a:ext cx="1353312" cy="1609345"/>
          </a:xfrm>
          <a:prstGeom prst="roundRect">
            <a:avLst>
              <a:gd name="adj" fmla="val 4800"/>
            </a:avLst>
          </a:prstGeom>
          <a:solidFill>
            <a:srgbClr val="16A34A"/>
          </a:solidFill>
          <a:ln w="12700">
            <a:solidFill>
              <a:srgbClr val="16A34A"/>
            </a:solidFill>
            <a:prstDash val="solid"/>
          </a:ln>
        </p:spPr>
        <p:txBody>
          <a:bodyPr/>
          <a:lstStyle/>
          <a:p>
            <a:endParaRPr lang="en-US"/>
          </a:p>
        </p:txBody>
      </p:sp>
      <p:sp>
        <p:nvSpPr>
          <p:cNvPr id="24" name="Text 21">
            <a:extLst>
              <a:ext uri="{FF2B5EF4-FFF2-40B4-BE49-F238E27FC236}">
                <a16:creationId xmlns:a16="http://schemas.microsoft.com/office/drawing/2014/main" id="{7A788907-B848-9D6D-F0A2-42A803171A0A}"/>
              </a:ext>
            </a:extLst>
          </p:cNvPr>
          <p:cNvSpPr/>
          <p:nvPr/>
        </p:nvSpPr>
        <p:spPr>
          <a:xfrm>
            <a:off x="6172460" y="2327379"/>
            <a:ext cx="1353312" cy="201168"/>
          </a:xfrm>
          <a:prstGeom prst="rect">
            <a:avLst/>
          </a:prstGeom>
          <a:noFill/>
          <a:ln/>
        </p:spPr>
        <p:txBody>
          <a:bodyPr wrap="square" rtlCol="0" anchor="ctr"/>
          <a:lstStyle/>
          <a:p>
            <a:pPr marL="0" indent="0" algn="ctr">
              <a:buNone/>
            </a:pPr>
            <a:r>
              <a:rPr lang="en-US" sz="1600" b="1" dirty="0">
                <a:solidFill>
                  <a:srgbClr val="FFFFFF"/>
                </a:solidFill>
              </a:rPr>
              <a:t>Preprocess</a:t>
            </a:r>
            <a:endParaRPr lang="en-US" sz="2000" dirty="0"/>
          </a:p>
        </p:txBody>
      </p:sp>
      <p:sp>
        <p:nvSpPr>
          <p:cNvPr id="25" name="Text 22">
            <a:extLst>
              <a:ext uri="{FF2B5EF4-FFF2-40B4-BE49-F238E27FC236}">
                <a16:creationId xmlns:a16="http://schemas.microsoft.com/office/drawing/2014/main" id="{27F86028-63BA-D25E-8103-83996C2F969B}"/>
              </a:ext>
            </a:extLst>
          </p:cNvPr>
          <p:cNvSpPr/>
          <p:nvPr/>
        </p:nvSpPr>
        <p:spPr>
          <a:xfrm>
            <a:off x="6172460" y="2698093"/>
            <a:ext cx="1350466" cy="1082422"/>
          </a:xfrm>
          <a:prstGeom prst="rect">
            <a:avLst/>
          </a:prstGeom>
          <a:noFill/>
          <a:ln/>
        </p:spPr>
        <p:txBody>
          <a:bodyPr wrap="square" rtlCol="0" anchor="ctr"/>
          <a:lstStyle/>
          <a:p>
            <a:pPr marL="0" indent="0" algn="ctr">
              <a:buNone/>
            </a:pPr>
            <a:r>
              <a:rPr lang="en-US" sz="1600" dirty="0">
                <a:solidFill>
                  <a:srgbClr val="FFFFFF"/>
                </a:solidFill>
              </a:rPr>
              <a:t>filter, clean, normalize, segment</a:t>
            </a:r>
            <a:endParaRPr lang="en-US" sz="1600" dirty="0"/>
          </a:p>
        </p:txBody>
      </p:sp>
      <p:sp>
        <p:nvSpPr>
          <p:cNvPr id="27" name="Shape 24">
            <a:extLst>
              <a:ext uri="{FF2B5EF4-FFF2-40B4-BE49-F238E27FC236}">
                <a16:creationId xmlns:a16="http://schemas.microsoft.com/office/drawing/2014/main" id="{21A468D1-FFB0-4007-CDE5-C3F2A583382B}"/>
              </a:ext>
            </a:extLst>
          </p:cNvPr>
          <p:cNvSpPr/>
          <p:nvPr/>
        </p:nvSpPr>
        <p:spPr>
          <a:xfrm>
            <a:off x="7635500" y="2171180"/>
            <a:ext cx="1353312" cy="1609345"/>
          </a:xfrm>
          <a:prstGeom prst="roundRect">
            <a:avLst>
              <a:gd name="adj" fmla="val 4800"/>
            </a:avLst>
          </a:prstGeom>
          <a:solidFill>
            <a:srgbClr val="1D4ED8"/>
          </a:solidFill>
          <a:ln w="12700">
            <a:solidFill>
              <a:srgbClr val="1D4ED8"/>
            </a:solidFill>
            <a:prstDash val="solid"/>
          </a:ln>
        </p:spPr>
        <p:txBody>
          <a:bodyPr/>
          <a:lstStyle/>
          <a:p>
            <a:endParaRPr lang="en-US"/>
          </a:p>
        </p:txBody>
      </p:sp>
      <p:sp>
        <p:nvSpPr>
          <p:cNvPr id="28" name="Text 25">
            <a:extLst>
              <a:ext uri="{FF2B5EF4-FFF2-40B4-BE49-F238E27FC236}">
                <a16:creationId xmlns:a16="http://schemas.microsoft.com/office/drawing/2014/main" id="{0B6C8845-A5A9-A560-36A4-BA84F3843827}"/>
              </a:ext>
            </a:extLst>
          </p:cNvPr>
          <p:cNvSpPr/>
          <p:nvPr/>
        </p:nvSpPr>
        <p:spPr>
          <a:xfrm>
            <a:off x="7635500" y="2327379"/>
            <a:ext cx="1353312" cy="201168"/>
          </a:xfrm>
          <a:prstGeom prst="rect">
            <a:avLst/>
          </a:prstGeom>
          <a:noFill/>
          <a:ln/>
        </p:spPr>
        <p:txBody>
          <a:bodyPr wrap="square" rtlCol="0" anchor="ctr"/>
          <a:lstStyle/>
          <a:p>
            <a:pPr marL="0" indent="0" algn="ctr">
              <a:buNone/>
            </a:pPr>
            <a:r>
              <a:rPr lang="en-US" sz="2000" b="1" dirty="0">
                <a:solidFill>
                  <a:srgbClr val="FFFFFF"/>
                </a:solidFill>
              </a:rPr>
              <a:t>Features</a:t>
            </a:r>
            <a:endParaRPr lang="en-US" sz="2000" dirty="0"/>
          </a:p>
        </p:txBody>
      </p:sp>
      <p:sp>
        <p:nvSpPr>
          <p:cNvPr id="29" name="Text 26">
            <a:extLst>
              <a:ext uri="{FF2B5EF4-FFF2-40B4-BE49-F238E27FC236}">
                <a16:creationId xmlns:a16="http://schemas.microsoft.com/office/drawing/2014/main" id="{1E570273-B933-F7F4-C14D-40EC45F70E9F}"/>
              </a:ext>
            </a:extLst>
          </p:cNvPr>
          <p:cNvSpPr/>
          <p:nvPr/>
        </p:nvSpPr>
        <p:spPr>
          <a:xfrm>
            <a:off x="7635500" y="2698093"/>
            <a:ext cx="1350466" cy="1082422"/>
          </a:xfrm>
          <a:prstGeom prst="rect">
            <a:avLst/>
          </a:prstGeom>
          <a:noFill/>
          <a:ln/>
        </p:spPr>
        <p:txBody>
          <a:bodyPr wrap="square" rtlCol="0" anchor="ctr"/>
          <a:lstStyle/>
          <a:p>
            <a:pPr marL="0" indent="0" algn="ctr">
              <a:buNone/>
            </a:pPr>
            <a:r>
              <a:rPr lang="en-US" sz="1600" dirty="0">
                <a:solidFill>
                  <a:srgbClr val="FFFFFF"/>
                </a:solidFill>
              </a:rPr>
              <a:t>ERP, firing rate, ROI, spectra</a:t>
            </a:r>
            <a:endParaRPr lang="en-US" sz="1600" dirty="0"/>
          </a:p>
        </p:txBody>
      </p:sp>
      <p:sp>
        <p:nvSpPr>
          <p:cNvPr id="31" name="Shape 28">
            <a:extLst>
              <a:ext uri="{FF2B5EF4-FFF2-40B4-BE49-F238E27FC236}">
                <a16:creationId xmlns:a16="http://schemas.microsoft.com/office/drawing/2014/main" id="{23506F14-2550-9C0A-C197-B0A1F2756461}"/>
              </a:ext>
            </a:extLst>
          </p:cNvPr>
          <p:cNvSpPr/>
          <p:nvPr/>
        </p:nvSpPr>
        <p:spPr>
          <a:xfrm>
            <a:off x="9098540" y="2171180"/>
            <a:ext cx="1353312" cy="1609345"/>
          </a:xfrm>
          <a:prstGeom prst="roundRect">
            <a:avLst>
              <a:gd name="adj" fmla="val 4800"/>
            </a:avLst>
          </a:prstGeom>
          <a:solidFill>
            <a:srgbClr val="0F172A"/>
          </a:solidFill>
          <a:ln w="12700">
            <a:solidFill>
              <a:srgbClr val="0F172A"/>
            </a:solidFill>
            <a:prstDash val="solid"/>
          </a:ln>
        </p:spPr>
        <p:txBody>
          <a:bodyPr/>
          <a:lstStyle/>
          <a:p>
            <a:endParaRPr lang="en-US"/>
          </a:p>
        </p:txBody>
      </p:sp>
      <p:sp>
        <p:nvSpPr>
          <p:cNvPr id="32" name="Text 29">
            <a:extLst>
              <a:ext uri="{FF2B5EF4-FFF2-40B4-BE49-F238E27FC236}">
                <a16:creationId xmlns:a16="http://schemas.microsoft.com/office/drawing/2014/main" id="{12A655BF-0F5F-362B-CDE6-FDF33EC4C18A}"/>
              </a:ext>
            </a:extLst>
          </p:cNvPr>
          <p:cNvSpPr/>
          <p:nvPr/>
        </p:nvSpPr>
        <p:spPr>
          <a:xfrm>
            <a:off x="9098540" y="2327379"/>
            <a:ext cx="1353312" cy="201168"/>
          </a:xfrm>
          <a:prstGeom prst="rect">
            <a:avLst/>
          </a:prstGeom>
          <a:noFill/>
          <a:ln/>
        </p:spPr>
        <p:txBody>
          <a:bodyPr wrap="square" rtlCol="0" anchor="ctr"/>
          <a:lstStyle/>
          <a:p>
            <a:pPr marL="0" indent="0" algn="ctr">
              <a:buNone/>
            </a:pPr>
            <a:r>
              <a:rPr lang="en-US" sz="2000" b="1" dirty="0">
                <a:solidFill>
                  <a:srgbClr val="FFFFFF"/>
                </a:solidFill>
              </a:rPr>
              <a:t>Stats</a:t>
            </a:r>
            <a:endParaRPr lang="en-US" sz="2000" dirty="0"/>
          </a:p>
        </p:txBody>
      </p:sp>
      <p:sp>
        <p:nvSpPr>
          <p:cNvPr id="33" name="Text 30">
            <a:extLst>
              <a:ext uri="{FF2B5EF4-FFF2-40B4-BE49-F238E27FC236}">
                <a16:creationId xmlns:a16="http://schemas.microsoft.com/office/drawing/2014/main" id="{C175FB5E-3CD6-7458-DF84-7AA664CA8984}"/>
              </a:ext>
            </a:extLst>
          </p:cNvPr>
          <p:cNvSpPr/>
          <p:nvPr/>
        </p:nvSpPr>
        <p:spPr>
          <a:xfrm>
            <a:off x="9098540" y="2683245"/>
            <a:ext cx="1353312" cy="1097270"/>
          </a:xfrm>
          <a:prstGeom prst="rect">
            <a:avLst/>
          </a:prstGeom>
          <a:noFill/>
          <a:ln/>
        </p:spPr>
        <p:txBody>
          <a:bodyPr wrap="square" rtlCol="0" anchor="ctr"/>
          <a:lstStyle/>
          <a:p>
            <a:pPr marL="0" indent="0" algn="ctr">
              <a:buNone/>
            </a:pPr>
            <a:r>
              <a:rPr lang="en-US" sz="1600" dirty="0">
                <a:solidFill>
                  <a:srgbClr val="FFFFFF"/>
                </a:solidFill>
              </a:rPr>
              <a:t>test, model, decode, compare</a:t>
            </a:r>
            <a:endParaRPr lang="en-US" sz="1600" dirty="0"/>
          </a:p>
        </p:txBody>
      </p:sp>
      <p:sp>
        <p:nvSpPr>
          <p:cNvPr id="35" name="Shape 32">
            <a:extLst>
              <a:ext uri="{FF2B5EF4-FFF2-40B4-BE49-F238E27FC236}">
                <a16:creationId xmlns:a16="http://schemas.microsoft.com/office/drawing/2014/main" id="{0A5A92E5-82E9-DFB7-E211-D5164348D04A}"/>
              </a:ext>
            </a:extLst>
          </p:cNvPr>
          <p:cNvSpPr/>
          <p:nvPr/>
        </p:nvSpPr>
        <p:spPr>
          <a:xfrm>
            <a:off x="10561580" y="2171180"/>
            <a:ext cx="1353312" cy="1609345"/>
          </a:xfrm>
          <a:prstGeom prst="roundRect">
            <a:avLst>
              <a:gd name="adj" fmla="val 4800"/>
            </a:avLst>
          </a:prstGeom>
          <a:solidFill>
            <a:srgbClr val="475569"/>
          </a:solidFill>
          <a:ln w="12700">
            <a:solidFill>
              <a:srgbClr val="475569"/>
            </a:solidFill>
            <a:prstDash val="solid"/>
          </a:ln>
        </p:spPr>
        <p:txBody>
          <a:bodyPr/>
          <a:lstStyle/>
          <a:p>
            <a:endParaRPr lang="en-US"/>
          </a:p>
        </p:txBody>
      </p:sp>
      <p:sp>
        <p:nvSpPr>
          <p:cNvPr id="36" name="Text 33">
            <a:extLst>
              <a:ext uri="{FF2B5EF4-FFF2-40B4-BE49-F238E27FC236}">
                <a16:creationId xmlns:a16="http://schemas.microsoft.com/office/drawing/2014/main" id="{3D50ED83-66DB-5ADD-7E35-E3BA63C87AE7}"/>
              </a:ext>
            </a:extLst>
          </p:cNvPr>
          <p:cNvSpPr/>
          <p:nvPr/>
        </p:nvSpPr>
        <p:spPr>
          <a:xfrm>
            <a:off x="10561580" y="2327379"/>
            <a:ext cx="1353312" cy="201168"/>
          </a:xfrm>
          <a:prstGeom prst="rect">
            <a:avLst/>
          </a:prstGeom>
          <a:noFill/>
          <a:ln/>
        </p:spPr>
        <p:txBody>
          <a:bodyPr wrap="square" rtlCol="0" anchor="ctr"/>
          <a:lstStyle/>
          <a:p>
            <a:pPr marL="0" indent="0" algn="ctr">
              <a:buNone/>
            </a:pPr>
            <a:r>
              <a:rPr lang="en-US" sz="2000" b="1" dirty="0">
                <a:solidFill>
                  <a:srgbClr val="FFFFFF"/>
                </a:solidFill>
              </a:rPr>
              <a:t>Output</a:t>
            </a:r>
            <a:endParaRPr lang="en-US" sz="2000" dirty="0"/>
          </a:p>
        </p:txBody>
      </p:sp>
      <p:sp>
        <p:nvSpPr>
          <p:cNvPr id="37" name="Text 34">
            <a:extLst>
              <a:ext uri="{FF2B5EF4-FFF2-40B4-BE49-F238E27FC236}">
                <a16:creationId xmlns:a16="http://schemas.microsoft.com/office/drawing/2014/main" id="{21D7A648-EF57-D90C-6009-21988B69E4C2}"/>
              </a:ext>
            </a:extLst>
          </p:cNvPr>
          <p:cNvSpPr/>
          <p:nvPr/>
        </p:nvSpPr>
        <p:spPr>
          <a:xfrm>
            <a:off x="10561580" y="2683245"/>
            <a:ext cx="1353312" cy="1097270"/>
          </a:xfrm>
          <a:prstGeom prst="rect">
            <a:avLst/>
          </a:prstGeom>
          <a:noFill/>
          <a:ln/>
        </p:spPr>
        <p:txBody>
          <a:bodyPr wrap="square" rtlCol="0" anchor="ctr"/>
          <a:lstStyle/>
          <a:p>
            <a:pPr marL="0" indent="0" algn="ctr">
              <a:buNone/>
            </a:pPr>
            <a:r>
              <a:rPr lang="en-US" sz="1600" dirty="0">
                <a:solidFill>
                  <a:srgbClr val="FFFFFF"/>
                </a:solidFill>
              </a:rPr>
              <a:t>figures, tables, serialized results</a:t>
            </a:r>
            <a:endParaRPr lang="en-US" sz="1600" dirty="0"/>
          </a:p>
        </p:txBody>
      </p:sp>
      <p:cxnSp>
        <p:nvCxnSpPr>
          <p:cNvPr id="39" name="Straight Arrow Connector 38">
            <a:extLst>
              <a:ext uri="{FF2B5EF4-FFF2-40B4-BE49-F238E27FC236}">
                <a16:creationId xmlns:a16="http://schemas.microsoft.com/office/drawing/2014/main" id="{7346DB53-8CED-DB9F-9D88-480495456C91}"/>
              </a:ext>
            </a:extLst>
          </p:cNvPr>
          <p:cNvCxnSpPr/>
          <p:nvPr/>
        </p:nvCxnSpPr>
        <p:spPr>
          <a:xfrm>
            <a:off x="518160" y="4080802"/>
            <a:ext cx="11155680" cy="0"/>
          </a:xfrm>
          <a:prstGeom prst="straightConnector1">
            <a:avLst/>
          </a:prstGeom>
          <a:ln w="76200">
            <a:solidFill>
              <a:schemeClr val="tx1">
                <a:lumMod val="50000"/>
                <a:lumOff val="50000"/>
              </a:schemeClr>
            </a:solidFill>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79470398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8A5DDB7-71B3-2564-4653-4F530D568EAA}"/>
            </a:ext>
          </a:extLst>
        </p:cNvPr>
        <p:cNvGrpSpPr/>
        <p:nvPr/>
      </p:nvGrpSpPr>
      <p:grpSpPr>
        <a:xfrm>
          <a:off x="0" y="0"/>
          <a:ext cx="0" cy="0"/>
          <a:chOff x="0" y="0"/>
          <a:chExt cx="0" cy="0"/>
        </a:xfrm>
      </p:grpSpPr>
      <p:sp>
        <p:nvSpPr>
          <p:cNvPr id="4" name="Text 2">
            <a:extLst>
              <a:ext uri="{FF2B5EF4-FFF2-40B4-BE49-F238E27FC236}">
                <a16:creationId xmlns:a16="http://schemas.microsoft.com/office/drawing/2014/main" id="{1AA8E4EB-305D-82C4-6DF5-179BFC18B285}"/>
              </a:ext>
            </a:extLst>
          </p:cNvPr>
          <p:cNvSpPr/>
          <p:nvPr/>
        </p:nvSpPr>
        <p:spPr>
          <a:xfrm>
            <a:off x="502920" y="137014"/>
            <a:ext cx="8046720" cy="786531"/>
          </a:xfrm>
          <a:prstGeom prst="rect">
            <a:avLst/>
          </a:prstGeom>
          <a:noFill/>
          <a:ln/>
        </p:spPr>
        <p:txBody>
          <a:bodyPr wrap="square" rtlCol="0" anchor="ctr"/>
          <a:lstStyle/>
          <a:p>
            <a:r>
              <a:rPr lang="en-US" sz="2700" dirty="0">
                <a:solidFill>
                  <a:srgbClr val="0F172A"/>
                </a:solidFill>
                <a:latin typeface="Aptos Display" pitchFamily="34" charset="0"/>
                <a:ea typeface="Aptos Display" pitchFamily="34" charset="-122"/>
                <a:cs typeface="Aptos Display" pitchFamily="34" charset="-120"/>
              </a:rPr>
              <a:t>From scientific question to code architecture</a:t>
            </a:r>
          </a:p>
        </p:txBody>
      </p:sp>
      <p:sp>
        <p:nvSpPr>
          <p:cNvPr id="5" name="Shape 3">
            <a:extLst>
              <a:ext uri="{FF2B5EF4-FFF2-40B4-BE49-F238E27FC236}">
                <a16:creationId xmlns:a16="http://schemas.microsoft.com/office/drawing/2014/main" id="{BCC5EEAE-9EB2-CB2E-437F-6FFF81C3EF99}"/>
              </a:ext>
            </a:extLst>
          </p:cNvPr>
          <p:cNvSpPr/>
          <p:nvPr/>
        </p:nvSpPr>
        <p:spPr>
          <a:xfrm>
            <a:off x="518160" y="956224"/>
            <a:ext cx="11155680" cy="0"/>
          </a:xfrm>
          <a:prstGeom prst="line">
            <a:avLst/>
          </a:prstGeom>
          <a:noFill/>
          <a:ln w="12700">
            <a:solidFill>
              <a:srgbClr val="CBD5E1"/>
            </a:solidFill>
            <a:prstDash val="solid"/>
          </a:ln>
        </p:spPr>
        <p:txBody>
          <a:bodyPr/>
          <a:lstStyle/>
          <a:p>
            <a:endParaRPr lang="en-US"/>
          </a:p>
        </p:txBody>
      </p:sp>
      <p:sp>
        <p:nvSpPr>
          <p:cNvPr id="2" name="Text 4">
            <a:extLst>
              <a:ext uri="{FF2B5EF4-FFF2-40B4-BE49-F238E27FC236}">
                <a16:creationId xmlns:a16="http://schemas.microsoft.com/office/drawing/2014/main" id="{E53FFDD3-632C-3E02-C3FB-0E9ED535FB67}"/>
              </a:ext>
            </a:extLst>
          </p:cNvPr>
          <p:cNvSpPr/>
          <p:nvPr/>
        </p:nvSpPr>
        <p:spPr>
          <a:xfrm>
            <a:off x="1142998" y="5791597"/>
            <a:ext cx="9921241" cy="929389"/>
          </a:xfrm>
          <a:prstGeom prst="rect">
            <a:avLst/>
          </a:prstGeom>
          <a:noFill/>
          <a:ln/>
        </p:spPr>
        <p:txBody>
          <a:bodyPr wrap="square" rtlCol="0" anchor="ctr"/>
          <a:lstStyle/>
          <a:p>
            <a:pPr algn="ctr"/>
            <a:r>
              <a:rPr lang="en-US" sz="2200" dirty="0">
                <a:solidFill>
                  <a:srgbClr val="0F172A"/>
                </a:solidFill>
              </a:rPr>
              <a:t>Separate scientific intent from implementation details</a:t>
            </a:r>
          </a:p>
        </p:txBody>
      </p:sp>
      <p:sp>
        <p:nvSpPr>
          <p:cNvPr id="3" name="Shape 4">
            <a:extLst>
              <a:ext uri="{FF2B5EF4-FFF2-40B4-BE49-F238E27FC236}">
                <a16:creationId xmlns:a16="http://schemas.microsoft.com/office/drawing/2014/main" id="{9931FF9F-003F-A00F-F0D6-49AD4E02D349}"/>
              </a:ext>
            </a:extLst>
          </p:cNvPr>
          <p:cNvSpPr/>
          <p:nvPr/>
        </p:nvSpPr>
        <p:spPr>
          <a:xfrm>
            <a:off x="1143000" y="1265821"/>
            <a:ext cx="9921240" cy="813816"/>
          </a:xfrm>
          <a:prstGeom prst="roundRect">
            <a:avLst>
              <a:gd name="adj" fmla="val 7813"/>
            </a:avLst>
          </a:prstGeom>
          <a:solidFill>
            <a:srgbClr val="0F172A"/>
          </a:solidFill>
          <a:ln w="12700">
            <a:solidFill>
              <a:srgbClr val="0F172A"/>
            </a:solidFill>
            <a:prstDash val="solid"/>
          </a:ln>
        </p:spPr>
        <p:txBody>
          <a:bodyPr/>
          <a:lstStyle/>
          <a:p>
            <a:endParaRPr lang="en-US"/>
          </a:p>
        </p:txBody>
      </p:sp>
      <p:sp>
        <p:nvSpPr>
          <p:cNvPr id="6" name="Text 5">
            <a:extLst>
              <a:ext uri="{FF2B5EF4-FFF2-40B4-BE49-F238E27FC236}">
                <a16:creationId xmlns:a16="http://schemas.microsoft.com/office/drawing/2014/main" id="{5F5A2DB1-37CF-77AA-0A8B-3CE3A290E222}"/>
              </a:ext>
            </a:extLst>
          </p:cNvPr>
          <p:cNvSpPr/>
          <p:nvPr/>
        </p:nvSpPr>
        <p:spPr>
          <a:xfrm>
            <a:off x="1434353" y="1388138"/>
            <a:ext cx="2563905" cy="569182"/>
          </a:xfrm>
          <a:prstGeom prst="rect">
            <a:avLst/>
          </a:prstGeom>
          <a:noFill/>
          <a:ln/>
        </p:spPr>
        <p:txBody>
          <a:bodyPr wrap="square" rtlCol="0" anchor="ctr"/>
          <a:lstStyle/>
          <a:p>
            <a:pPr marL="0" indent="0">
              <a:buNone/>
            </a:pPr>
            <a:r>
              <a:rPr lang="en-US" sz="2400" b="1" dirty="0">
                <a:solidFill>
                  <a:srgbClr val="FFFFFF"/>
                </a:solidFill>
              </a:rPr>
              <a:t>Scientific layer</a:t>
            </a:r>
            <a:endParaRPr lang="en-US" sz="2400" dirty="0"/>
          </a:p>
        </p:txBody>
      </p:sp>
      <p:sp>
        <p:nvSpPr>
          <p:cNvPr id="7" name="Text 6">
            <a:extLst>
              <a:ext uri="{FF2B5EF4-FFF2-40B4-BE49-F238E27FC236}">
                <a16:creationId xmlns:a16="http://schemas.microsoft.com/office/drawing/2014/main" id="{7DA29B97-9A94-D830-D3CA-FE691A8E25C2}"/>
              </a:ext>
            </a:extLst>
          </p:cNvPr>
          <p:cNvSpPr/>
          <p:nvPr/>
        </p:nvSpPr>
        <p:spPr>
          <a:xfrm>
            <a:off x="4141693" y="1388138"/>
            <a:ext cx="6931505" cy="569182"/>
          </a:xfrm>
          <a:prstGeom prst="rect">
            <a:avLst/>
          </a:prstGeom>
          <a:noFill/>
          <a:ln/>
        </p:spPr>
        <p:txBody>
          <a:bodyPr wrap="square" rtlCol="0" anchor="ctr"/>
          <a:lstStyle/>
          <a:p>
            <a:pPr marL="0" indent="0">
              <a:buNone/>
            </a:pPr>
            <a:r>
              <a:rPr lang="en-US" sz="2000" dirty="0">
                <a:solidFill>
                  <a:srgbClr val="FFFFFF"/>
                </a:solidFill>
              </a:rPr>
              <a:t>question, hypothesis, contrast, inference target</a:t>
            </a:r>
            <a:endParaRPr lang="en-US" sz="2000" dirty="0"/>
          </a:p>
        </p:txBody>
      </p:sp>
      <p:sp>
        <p:nvSpPr>
          <p:cNvPr id="8" name="Shape 7">
            <a:extLst>
              <a:ext uri="{FF2B5EF4-FFF2-40B4-BE49-F238E27FC236}">
                <a16:creationId xmlns:a16="http://schemas.microsoft.com/office/drawing/2014/main" id="{FA511DA5-7B8F-5A1A-3890-E42536899B6A}"/>
              </a:ext>
            </a:extLst>
          </p:cNvPr>
          <p:cNvSpPr/>
          <p:nvPr/>
        </p:nvSpPr>
        <p:spPr>
          <a:xfrm>
            <a:off x="1143000" y="2196436"/>
            <a:ext cx="9921240" cy="813816"/>
          </a:xfrm>
          <a:prstGeom prst="roundRect">
            <a:avLst>
              <a:gd name="adj" fmla="val 7813"/>
            </a:avLst>
          </a:prstGeom>
          <a:solidFill>
            <a:srgbClr val="1D4ED8"/>
          </a:solidFill>
          <a:ln w="12700">
            <a:solidFill>
              <a:srgbClr val="1D4ED8"/>
            </a:solidFill>
            <a:prstDash val="solid"/>
          </a:ln>
        </p:spPr>
        <p:txBody>
          <a:bodyPr/>
          <a:lstStyle/>
          <a:p>
            <a:endParaRPr lang="en-US"/>
          </a:p>
        </p:txBody>
      </p:sp>
      <p:sp>
        <p:nvSpPr>
          <p:cNvPr id="9" name="Text 8">
            <a:extLst>
              <a:ext uri="{FF2B5EF4-FFF2-40B4-BE49-F238E27FC236}">
                <a16:creationId xmlns:a16="http://schemas.microsoft.com/office/drawing/2014/main" id="{7E240710-A150-C3E8-E5EA-A2AD9B0380D8}"/>
              </a:ext>
            </a:extLst>
          </p:cNvPr>
          <p:cNvSpPr/>
          <p:nvPr/>
        </p:nvSpPr>
        <p:spPr>
          <a:xfrm>
            <a:off x="1434353" y="2318753"/>
            <a:ext cx="2563905" cy="569182"/>
          </a:xfrm>
          <a:prstGeom prst="rect">
            <a:avLst/>
          </a:prstGeom>
          <a:noFill/>
          <a:ln/>
        </p:spPr>
        <p:txBody>
          <a:bodyPr wrap="square" rtlCol="0" anchor="ctr"/>
          <a:lstStyle/>
          <a:p>
            <a:pPr marL="0" indent="0">
              <a:buNone/>
            </a:pPr>
            <a:r>
              <a:rPr lang="en-US" sz="2400" b="1" dirty="0">
                <a:solidFill>
                  <a:srgbClr val="FFFFFF"/>
                </a:solidFill>
              </a:rPr>
              <a:t>Data layer</a:t>
            </a:r>
            <a:endParaRPr lang="en-US" sz="2400" dirty="0"/>
          </a:p>
        </p:txBody>
      </p:sp>
      <p:sp>
        <p:nvSpPr>
          <p:cNvPr id="10" name="Text 9">
            <a:extLst>
              <a:ext uri="{FF2B5EF4-FFF2-40B4-BE49-F238E27FC236}">
                <a16:creationId xmlns:a16="http://schemas.microsoft.com/office/drawing/2014/main" id="{37BE446E-DDDD-6604-FDCC-46245827E95D}"/>
              </a:ext>
            </a:extLst>
          </p:cNvPr>
          <p:cNvSpPr/>
          <p:nvPr/>
        </p:nvSpPr>
        <p:spPr>
          <a:xfrm>
            <a:off x="4141693" y="2318753"/>
            <a:ext cx="6931505" cy="569182"/>
          </a:xfrm>
          <a:prstGeom prst="rect">
            <a:avLst/>
          </a:prstGeom>
          <a:noFill/>
          <a:ln/>
        </p:spPr>
        <p:txBody>
          <a:bodyPr wrap="square" rtlCol="0" anchor="ctr"/>
          <a:lstStyle/>
          <a:p>
            <a:pPr marL="0" indent="0">
              <a:buNone/>
            </a:pPr>
            <a:r>
              <a:rPr lang="en-US" sz="2000" dirty="0">
                <a:solidFill>
                  <a:srgbClr val="FFFFFF"/>
                </a:solidFill>
              </a:rPr>
              <a:t>files, metadata, units, subject/session structure</a:t>
            </a:r>
            <a:endParaRPr lang="en-US" sz="2000" dirty="0"/>
          </a:p>
        </p:txBody>
      </p:sp>
      <p:sp>
        <p:nvSpPr>
          <p:cNvPr id="11" name="Shape 10">
            <a:extLst>
              <a:ext uri="{FF2B5EF4-FFF2-40B4-BE49-F238E27FC236}">
                <a16:creationId xmlns:a16="http://schemas.microsoft.com/office/drawing/2014/main" id="{441DD7EC-4A41-B0AA-A94D-A313B4C4A41A}"/>
              </a:ext>
            </a:extLst>
          </p:cNvPr>
          <p:cNvSpPr/>
          <p:nvPr/>
        </p:nvSpPr>
        <p:spPr>
          <a:xfrm>
            <a:off x="1143000" y="3145536"/>
            <a:ext cx="9921240" cy="813816"/>
          </a:xfrm>
          <a:prstGeom prst="roundRect">
            <a:avLst>
              <a:gd name="adj" fmla="val 7813"/>
            </a:avLst>
          </a:prstGeom>
          <a:solidFill>
            <a:srgbClr val="0F766E"/>
          </a:solidFill>
          <a:ln w="12700">
            <a:solidFill>
              <a:srgbClr val="0F766E"/>
            </a:solidFill>
            <a:prstDash val="solid"/>
          </a:ln>
        </p:spPr>
        <p:txBody>
          <a:bodyPr/>
          <a:lstStyle/>
          <a:p>
            <a:endParaRPr lang="en-US"/>
          </a:p>
        </p:txBody>
      </p:sp>
      <p:sp>
        <p:nvSpPr>
          <p:cNvPr id="12" name="Text 11">
            <a:extLst>
              <a:ext uri="{FF2B5EF4-FFF2-40B4-BE49-F238E27FC236}">
                <a16:creationId xmlns:a16="http://schemas.microsoft.com/office/drawing/2014/main" id="{BE95F702-0DC6-AAC0-ED40-8B49B40AF196}"/>
              </a:ext>
            </a:extLst>
          </p:cNvPr>
          <p:cNvSpPr/>
          <p:nvPr/>
        </p:nvSpPr>
        <p:spPr>
          <a:xfrm>
            <a:off x="1434353" y="3267853"/>
            <a:ext cx="2563905" cy="569182"/>
          </a:xfrm>
          <a:prstGeom prst="rect">
            <a:avLst/>
          </a:prstGeom>
          <a:noFill/>
          <a:ln/>
        </p:spPr>
        <p:txBody>
          <a:bodyPr wrap="square" rtlCol="0" anchor="ctr"/>
          <a:lstStyle/>
          <a:p>
            <a:pPr marL="0" indent="0">
              <a:buNone/>
            </a:pPr>
            <a:r>
              <a:rPr lang="en-US" sz="2400" b="1" dirty="0">
                <a:solidFill>
                  <a:srgbClr val="FFFFFF"/>
                </a:solidFill>
              </a:rPr>
              <a:t>Transform layer</a:t>
            </a:r>
            <a:endParaRPr lang="en-US" sz="2400" dirty="0"/>
          </a:p>
        </p:txBody>
      </p:sp>
      <p:sp>
        <p:nvSpPr>
          <p:cNvPr id="13" name="Text 12">
            <a:extLst>
              <a:ext uri="{FF2B5EF4-FFF2-40B4-BE49-F238E27FC236}">
                <a16:creationId xmlns:a16="http://schemas.microsoft.com/office/drawing/2014/main" id="{D836B78C-0D0F-B016-CEA8-47B5E3C56B7F}"/>
              </a:ext>
            </a:extLst>
          </p:cNvPr>
          <p:cNvSpPr/>
          <p:nvPr/>
        </p:nvSpPr>
        <p:spPr>
          <a:xfrm>
            <a:off x="4141693" y="3267853"/>
            <a:ext cx="6931505" cy="569182"/>
          </a:xfrm>
          <a:prstGeom prst="rect">
            <a:avLst/>
          </a:prstGeom>
          <a:noFill/>
          <a:ln/>
        </p:spPr>
        <p:txBody>
          <a:bodyPr wrap="square" rtlCol="0" anchor="ctr"/>
          <a:lstStyle/>
          <a:p>
            <a:pPr marL="0" indent="0">
              <a:buNone/>
            </a:pPr>
            <a:r>
              <a:rPr lang="en-US" sz="2000" dirty="0">
                <a:solidFill>
                  <a:srgbClr val="FFFFFF"/>
                </a:solidFill>
              </a:rPr>
              <a:t>preprocessing, segmentation, normalization, features</a:t>
            </a:r>
            <a:endParaRPr lang="en-US" sz="2000" dirty="0"/>
          </a:p>
        </p:txBody>
      </p:sp>
      <p:sp>
        <p:nvSpPr>
          <p:cNvPr id="14" name="Shape 13">
            <a:extLst>
              <a:ext uri="{FF2B5EF4-FFF2-40B4-BE49-F238E27FC236}">
                <a16:creationId xmlns:a16="http://schemas.microsoft.com/office/drawing/2014/main" id="{40F50F94-1119-C36F-72F4-7427D8789963}"/>
              </a:ext>
            </a:extLst>
          </p:cNvPr>
          <p:cNvSpPr/>
          <p:nvPr/>
        </p:nvSpPr>
        <p:spPr>
          <a:xfrm>
            <a:off x="1143000" y="4081669"/>
            <a:ext cx="9921240" cy="813816"/>
          </a:xfrm>
          <a:prstGeom prst="roundRect">
            <a:avLst>
              <a:gd name="adj" fmla="val 7813"/>
            </a:avLst>
          </a:prstGeom>
          <a:solidFill>
            <a:srgbClr val="F59E0B"/>
          </a:solidFill>
          <a:ln w="12700">
            <a:solidFill>
              <a:srgbClr val="F59E0B"/>
            </a:solidFill>
            <a:prstDash val="solid"/>
          </a:ln>
        </p:spPr>
        <p:txBody>
          <a:bodyPr/>
          <a:lstStyle/>
          <a:p>
            <a:endParaRPr lang="en-US"/>
          </a:p>
        </p:txBody>
      </p:sp>
      <p:sp>
        <p:nvSpPr>
          <p:cNvPr id="15" name="Text 14">
            <a:extLst>
              <a:ext uri="{FF2B5EF4-FFF2-40B4-BE49-F238E27FC236}">
                <a16:creationId xmlns:a16="http://schemas.microsoft.com/office/drawing/2014/main" id="{6A5785CC-2BAC-9888-839A-8EAF0C3F5B6C}"/>
              </a:ext>
            </a:extLst>
          </p:cNvPr>
          <p:cNvSpPr/>
          <p:nvPr/>
        </p:nvSpPr>
        <p:spPr>
          <a:xfrm>
            <a:off x="1434353" y="4203986"/>
            <a:ext cx="2563905" cy="569182"/>
          </a:xfrm>
          <a:prstGeom prst="rect">
            <a:avLst/>
          </a:prstGeom>
          <a:noFill/>
          <a:ln/>
        </p:spPr>
        <p:txBody>
          <a:bodyPr wrap="square" rtlCol="0" anchor="ctr"/>
          <a:lstStyle/>
          <a:p>
            <a:pPr marL="0" indent="0">
              <a:buNone/>
            </a:pPr>
            <a:r>
              <a:rPr lang="en-US" sz="2400" b="1" dirty="0">
                <a:solidFill>
                  <a:srgbClr val="FFFFFF"/>
                </a:solidFill>
              </a:rPr>
              <a:t>Model layer</a:t>
            </a:r>
            <a:endParaRPr lang="en-US" sz="2400" dirty="0"/>
          </a:p>
        </p:txBody>
      </p:sp>
      <p:sp>
        <p:nvSpPr>
          <p:cNvPr id="16" name="Text 15">
            <a:extLst>
              <a:ext uri="{FF2B5EF4-FFF2-40B4-BE49-F238E27FC236}">
                <a16:creationId xmlns:a16="http://schemas.microsoft.com/office/drawing/2014/main" id="{75E4DC09-D0AE-B003-DA9A-CD5BAFC6302E}"/>
              </a:ext>
            </a:extLst>
          </p:cNvPr>
          <p:cNvSpPr/>
          <p:nvPr/>
        </p:nvSpPr>
        <p:spPr>
          <a:xfrm>
            <a:off x="4141693" y="4203986"/>
            <a:ext cx="6931505" cy="569182"/>
          </a:xfrm>
          <a:prstGeom prst="rect">
            <a:avLst/>
          </a:prstGeom>
          <a:noFill/>
          <a:ln/>
        </p:spPr>
        <p:txBody>
          <a:bodyPr wrap="square" rtlCol="0" anchor="ctr"/>
          <a:lstStyle/>
          <a:p>
            <a:pPr marL="0" indent="0">
              <a:buNone/>
            </a:pPr>
            <a:r>
              <a:rPr lang="en-US" sz="2000" dirty="0">
                <a:solidFill>
                  <a:srgbClr val="FFFFFF"/>
                </a:solidFill>
              </a:rPr>
              <a:t>GLM, decoding, mixed models, comparisons</a:t>
            </a:r>
            <a:endParaRPr lang="en-US" sz="2000" dirty="0"/>
          </a:p>
        </p:txBody>
      </p:sp>
      <p:sp>
        <p:nvSpPr>
          <p:cNvPr id="17" name="Shape 16">
            <a:extLst>
              <a:ext uri="{FF2B5EF4-FFF2-40B4-BE49-F238E27FC236}">
                <a16:creationId xmlns:a16="http://schemas.microsoft.com/office/drawing/2014/main" id="{2CA7163B-CA70-F18D-6F30-F75F6EB9A0C8}"/>
              </a:ext>
            </a:extLst>
          </p:cNvPr>
          <p:cNvSpPr/>
          <p:nvPr/>
        </p:nvSpPr>
        <p:spPr>
          <a:xfrm>
            <a:off x="1143000" y="5007322"/>
            <a:ext cx="9921240" cy="813816"/>
          </a:xfrm>
          <a:prstGeom prst="roundRect">
            <a:avLst>
              <a:gd name="adj" fmla="val 7813"/>
            </a:avLst>
          </a:prstGeom>
          <a:solidFill>
            <a:srgbClr val="16A34A"/>
          </a:solidFill>
          <a:ln w="12700">
            <a:solidFill>
              <a:srgbClr val="16A34A"/>
            </a:solidFill>
            <a:prstDash val="solid"/>
          </a:ln>
        </p:spPr>
        <p:txBody>
          <a:bodyPr/>
          <a:lstStyle/>
          <a:p>
            <a:endParaRPr lang="en-US"/>
          </a:p>
        </p:txBody>
      </p:sp>
      <p:sp>
        <p:nvSpPr>
          <p:cNvPr id="18" name="Text 17">
            <a:extLst>
              <a:ext uri="{FF2B5EF4-FFF2-40B4-BE49-F238E27FC236}">
                <a16:creationId xmlns:a16="http://schemas.microsoft.com/office/drawing/2014/main" id="{AC3C17F2-4D53-BE20-AE77-026F8652C851}"/>
              </a:ext>
            </a:extLst>
          </p:cNvPr>
          <p:cNvSpPr/>
          <p:nvPr/>
        </p:nvSpPr>
        <p:spPr>
          <a:xfrm>
            <a:off x="1434353" y="5129639"/>
            <a:ext cx="2563905" cy="569182"/>
          </a:xfrm>
          <a:prstGeom prst="rect">
            <a:avLst/>
          </a:prstGeom>
          <a:noFill/>
          <a:ln/>
        </p:spPr>
        <p:txBody>
          <a:bodyPr wrap="square" rtlCol="0" anchor="ctr"/>
          <a:lstStyle/>
          <a:p>
            <a:pPr marL="0" indent="0">
              <a:buNone/>
            </a:pPr>
            <a:r>
              <a:rPr lang="en-US" sz="2400" b="1" dirty="0">
                <a:solidFill>
                  <a:srgbClr val="FFFFFF"/>
                </a:solidFill>
              </a:rPr>
              <a:t>Output layer</a:t>
            </a:r>
            <a:endParaRPr lang="en-US" sz="2400" dirty="0"/>
          </a:p>
        </p:txBody>
      </p:sp>
      <p:sp>
        <p:nvSpPr>
          <p:cNvPr id="19" name="Text 18">
            <a:extLst>
              <a:ext uri="{FF2B5EF4-FFF2-40B4-BE49-F238E27FC236}">
                <a16:creationId xmlns:a16="http://schemas.microsoft.com/office/drawing/2014/main" id="{5C200F3B-ED12-A156-1ACF-868A5CC9354C}"/>
              </a:ext>
            </a:extLst>
          </p:cNvPr>
          <p:cNvSpPr/>
          <p:nvPr/>
        </p:nvSpPr>
        <p:spPr>
          <a:xfrm>
            <a:off x="4141693" y="5129639"/>
            <a:ext cx="6931505" cy="569182"/>
          </a:xfrm>
          <a:prstGeom prst="rect">
            <a:avLst/>
          </a:prstGeom>
          <a:noFill/>
          <a:ln/>
        </p:spPr>
        <p:txBody>
          <a:bodyPr wrap="square" rtlCol="0" anchor="ctr"/>
          <a:lstStyle/>
          <a:p>
            <a:pPr marL="0" indent="0">
              <a:buNone/>
            </a:pPr>
            <a:r>
              <a:rPr lang="en-US" sz="2000" dirty="0">
                <a:solidFill>
                  <a:srgbClr val="FFFFFF"/>
                </a:solidFill>
              </a:rPr>
              <a:t>figures, tables, QC logs, serialized results</a:t>
            </a:r>
            <a:endParaRPr lang="en-US" sz="2000" dirty="0"/>
          </a:p>
        </p:txBody>
      </p:sp>
    </p:spTree>
    <p:extLst>
      <p:ext uri="{BB962C8B-B14F-4D97-AF65-F5344CB8AC3E}">
        <p14:creationId xmlns:p14="http://schemas.microsoft.com/office/powerpoint/2010/main" val="257097430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2287702-F40B-C76E-62F5-307473E90EB3}"/>
            </a:ext>
          </a:extLst>
        </p:cNvPr>
        <p:cNvGrpSpPr/>
        <p:nvPr/>
      </p:nvGrpSpPr>
      <p:grpSpPr>
        <a:xfrm>
          <a:off x="0" y="0"/>
          <a:ext cx="0" cy="0"/>
          <a:chOff x="0" y="0"/>
          <a:chExt cx="0" cy="0"/>
        </a:xfrm>
      </p:grpSpPr>
      <p:sp>
        <p:nvSpPr>
          <p:cNvPr id="4" name="Text 2">
            <a:extLst>
              <a:ext uri="{FF2B5EF4-FFF2-40B4-BE49-F238E27FC236}">
                <a16:creationId xmlns:a16="http://schemas.microsoft.com/office/drawing/2014/main" id="{96803A68-FC70-B1A9-491B-F9E2E5335091}"/>
              </a:ext>
            </a:extLst>
          </p:cNvPr>
          <p:cNvSpPr/>
          <p:nvPr/>
        </p:nvSpPr>
        <p:spPr>
          <a:xfrm>
            <a:off x="502920" y="137014"/>
            <a:ext cx="8046720" cy="786531"/>
          </a:xfrm>
          <a:prstGeom prst="rect">
            <a:avLst/>
          </a:prstGeom>
          <a:noFill/>
          <a:ln/>
        </p:spPr>
        <p:txBody>
          <a:bodyPr wrap="square" rtlCol="0" anchor="ctr"/>
          <a:lstStyle/>
          <a:p>
            <a:r>
              <a:rPr lang="en-US" sz="2700" dirty="0">
                <a:solidFill>
                  <a:srgbClr val="0F172A"/>
                </a:solidFill>
                <a:latin typeface="Aptos Display" pitchFamily="34" charset="0"/>
                <a:ea typeface="Aptos Display" pitchFamily="34" charset="-122"/>
                <a:cs typeface="Aptos Display" pitchFamily="34" charset="-120"/>
              </a:rPr>
              <a:t>Anatomy of a good block</a:t>
            </a:r>
          </a:p>
        </p:txBody>
      </p:sp>
      <p:sp>
        <p:nvSpPr>
          <p:cNvPr id="5" name="Shape 3">
            <a:extLst>
              <a:ext uri="{FF2B5EF4-FFF2-40B4-BE49-F238E27FC236}">
                <a16:creationId xmlns:a16="http://schemas.microsoft.com/office/drawing/2014/main" id="{9A96E351-03BD-0A69-83A4-C8FB2B4D61BF}"/>
              </a:ext>
            </a:extLst>
          </p:cNvPr>
          <p:cNvSpPr/>
          <p:nvPr/>
        </p:nvSpPr>
        <p:spPr>
          <a:xfrm>
            <a:off x="518160" y="956224"/>
            <a:ext cx="11155680" cy="0"/>
          </a:xfrm>
          <a:prstGeom prst="line">
            <a:avLst/>
          </a:prstGeom>
          <a:noFill/>
          <a:ln w="12700">
            <a:solidFill>
              <a:srgbClr val="CBD5E1"/>
            </a:solidFill>
            <a:prstDash val="solid"/>
          </a:ln>
        </p:spPr>
        <p:txBody>
          <a:bodyPr/>
          <a:lstStyle/>
          <a:p>
            <a:endParaRPr lang="en-US"/>
          </a:p>
        </p:txBody>
      </p:sp>
      <p:sp>
        <p:nvSpPr>
          <p:cNvPr id="2" name="Text 4">
            <a:extLst>
              <a:ext uri="{FF2B5EF4-FFF2-40B4-BE49-F238E27FC236}">
                <a16:creationId xmlns:a16="http://schemas.microsoft.com/office/drawing/2014/main" id="{F8A5DE22-1F11-B685-F5DA-A19D5FC7A60C}"/>
              </a:ext>
            </a:extLst>
          </p:cNvPr>
          <p:cNvSpPr/>
          <p:nvPr/>
        </p:nvSpPr>
        <p:spPr>
          <a:xfrm>
            <a:off x="502920" y="1205932"/>
            <a:ext cx="11155680" cy="929389"/>
          </a:xfrm>
          <a:prstGeom prst="rect">
            <a:avLst/>
          </a:prstGeom>
          <a:noFill/>
          <a:ln/>
        </p:spPr>
        <p:txBody>
          <a:bodyPr wrap="square" rtlCol="0" anchor="ctr"/>
          <a:lstStyle/>
          <a:p>
            <a:r>
              <a:rPr lang="en-US" sz="2200" dirty="0">
                <a:solidFill>
                  <a:srgbClr val="0F172A"/>
                </a:solidFill>
              </a:rPr>
              <a:t>A block is understandable and self-explanatory.</a:t>
            </a:r>
          </a:p>
          <a:p>
            <a:pPr marL="0" indent="0">
              <a:buNone/>
            </a:pPr>
            <a:endParaRPr lang="en-US" sz="2200" dirty="0"/>
          </a:p>
        </p:txBody>
      </p:sp>
      <p:sp>
        <p:nvSpPr>
          <p:cNvPr id="3" name="Shape 4">
            <a:extLst>
              <a:ext uri="{FF2B5EF4-FFF2-40B4-BE49-F238E27FC236}">
                <a16:creationId xmlns:a16="http://schemas.microsoft.com/office/drawing/2014/main" id="{96FE8B66-1515-33CF-FC73-92FB5926B751}"/>
              </a:ext>
            </a:extLst>
          </p:cNvPr>
          <p:cNvSpPr/>
          <p:nvPr/>
        </p:nvSpPr>
        <p:spPr>
          <a:xfrm>
            <a:off x="533400" y="2135320"/>
            <a:ext cx="4526280" cy="3279361"/>
          </a:xfrm>
          <a:prstGeom prst="roundRect">
            <a:avLst>
              <a:gd name="adj" fmla="val 1702"/>
            </a:avLst>
          </a:prstGeom>
          <a:solidFill>
            <a:srgbClr val="F8FAFC"/>
          </a:solidFill>
          <a:ln w="12700">
            <a:solidFill>
              <a:srgbClr val="CBD5E1"/>
            </a:solidFill>
            <a:prstDash val="solid"/>
          </a:ln>
        </p:spPr>
        <p:txBody>
          <a:bodyPr/>
          <a:lstStyle/>
          <a:p>
            <a:r>
              <a:rPr lang="en-US" sz="2400" b="1" dirty="0">
                <a:solidFill>
                  <a:srgbClr val="0F172A"/>
                </a:solidFill>
              </a:rPr>
              <a:t>Minimum specification</a:t>
            </a:r>
            <a:endParaRPr lang="en-US" sz="2400" dirty="0"/>
          </a:p>
          <a:p>
            <a:endParaRPr lang="en-US" sz="2000" dirty="0"/>
          </a:p>
          <a:p>
            <a:pPr>
              <a:lnSpc>
                <a:spcPct val="150000"/>
              </a:lnSpc>
            </a:pPr>
            <a:r>
              <a:rPr lang="en-US" sz="2000" dirty="0"/>
              <a:t>• name and purpose
• inputs and outputs
• parameters and assumptions
• validation tests
• saved artifact(s)</a:t>
            </a:r>
          </a:p>
        </p:txBody>
      </p:sp>
      <p:sp>
        <p:nvSpPr>
          <p:cNvPr id="8" name="Shape 7">
            <a:extLst>
              <a:ext uri="{FF2B5EF4-FFF2-40B4-BE49-F238E27FC236}">
                <a16:creationId xmlns:a16="http://schemas.microsoft.com/office/drawing/2014/main" id="{BBE7C73F-DE55-ECE4-5967-BA5A71A5DF31}"/>
              </a:ext>
            </a:extLst>
          </p:cNvPr>
          <p:cNvSpPr/>
          <p:nvPr/>
        </p:nvSpPr>
        <p:spPr>
          <a:xfrm>
            <a:off x="5654039" y="2135321"/>
            <a:ext cx="5766995" cy="3279360"/>
          </a:xfrm>
          <a:prstGeom prst="roundRect">
            <a:avLst>
              <a:gd name="adj" fmla="val 1702"/>
            </a:avLst>
          </a:prstGeom>
          <a:solidFill>
            <a:srgbClr val="EFF6FF"/>
          </a:solidFill>
          <a:ln w="12700">
            <a:solidFill>
              <a:srgbClr val="BFDBFE"/>
            </a:solidFill>
            <a:prstDash val="solid"/>
          </a:ln>
        </p:spPr>
        <p:txBody>
          <a:bodyPr/>
          <a:lstStyle/>
          <a:p>
            <a:r>
              <a:rPr lang="en-US" sz="2000" b="1" dirty="0">
                <a:solidFill>
                  <a:schemeClr val="tx1">
                    <a:lumMod val="50000"/>
                    <a:lumOff val="50000"/>
                  </a:schemeClr>
                </a:solidFill>
              </a:rPr>
              <a:t>Example: </a:t>
            </a:r>
            <a:br>
              <a:rPr lang="en-US" sz="2000" b="1" dirty="0">
                <a:solidFill>
                  <a:schemeClr val="tx1">
                    <a:lumMod val="50000"/>
                    <a:lumOff val="50000"/>
                  </a:schemeClr>
                </a:solidFill>
              </a:rPr>
            </a:br>
            <a:r>
              <a:rPr lang="en-US" sz="2000" b="1" dirty="0">
                <a:solidFill>
                  <a:schemeClr val="tx1">
                    <a:lumMod val="50000"/>
                    <a:lumOff val="50000"/>
                  </a:schemeClr>
                </a:solidFill>
              </a:rPr>
              <a:t>EEG preprocessing block</a:t>
            </a:r>
            <a:endParaRPr lang="en-US" sz="2000" dirty="0">
              <a:solidFill>
                <a:schemeClr val="tx1">
                  <a:lumMod val="50000"/>
                  <a:lumOff val="50000"/>
                </a:schemeClr>
              </a:solidFill>
            </a:endParaRPr>
          </a:p>
          <a:p>
            <a:endParaRPr lang="en-US" dirty="0"/>
          </a:p>
          <a:p>
            <a:endParaRPr lang="en-US" dirty="0"/>
          </a:p>
          <a:p>
            <a:endParaRPr lang="en-US" dirty="0"/>
          </a:p>
          <a:p>
            <a:pPr>
              <a:lnSpc>
                <a:spcPct val="150000"/>
              </a:lnSpc>
            </a:pPr>
            <a:r>
              <a:rPr lang="en-US" sz="2000" dirty="0"/>
              <a:t>• reads raw recordings and parameters
• filters, re-references, epochs, baseline-corrects
• returns cleaned epochs for downstream analysis</a:t>
            </a:r>
          </a:p>
        </p:txBody>
      </p:sp>
      <p:sp>
        <p:nvSpPr>
          <p:cNvPr id="10" name="Text 9">
            <a:extLst>
              <a:ext uri="{FF2B5EF4-FFF2-40B4-BE49-F238E27FC236}">
                <a16:creationId xmlns:a16="http://schemas.microsoft.com/office/drawing/2014/main" id="{2B159818-247C-ACBC-3CBA-13F89817883E}"/>
              </a:ext>
            </a:extLst>
          </p:cNvPr>
          <p:cNvSpPr/>
          <p:nvPr/>
        </p:nvSpPr>
        <p:spPr>
          <a:xfrm>
            <a:off x="6072243" y="3064710"/>
            <a:ext cx="4954793" cy="470720"/>
          </a:xfrm>
          <a:prstGeom prst="rect">
            <a:avLst/>
          </a:prstGeom>
          <a:noFill/>
          <a:ln/>
        </p:spPr>
        <p:txBody>
          <a:bodyPr wrap="square" rtlCol="0" anchor="ctr"/>
          <a:lstStyle/>
          <a:p>
            <a:pPr marL="0" indent="0">
              <a:buNone/>
            </a:pPr>
            <a:r>
              <a:rPr lang="en-US" sz="2000" b="1" dirty="0">
                <a:solidFill>
                  <a:schemeClr val="accent1"/>
                </a:solidFill>
                <a:latin typeface="Consolas" panose="020B0609020204030204" pitchFamily="49" charset="0"/>
                <a:cs typeface="Consolas" panose="020B0609020204030204" pitchFamily="49" charset="0"/>
              </a:rPr>
              <a:t>preprocess_eeg(raw, cfg) → epochs</a:t>
            </a:r>
            <a:endParaRPr lang="en-US" sz="2000" dirty="0">
              <a:solidFill>
                <a:schemeClr val="accent1"/>
              </a:solidFill>
              <a:latin typeface="Consolas" panose="020B0609020204030204" pitchFamily="49" charset="0"/>
              <a:cs typeface="Consolas" panose="020B0609020204030204" pitchFamily="49" charset="0"/>
            </a:endParaRPr>
          </a:p>
        </p:txBody>
      </p:sp>
    </p:spTree>
    <p:extLst>
      <p:ext uri="{BB962C8B-B14F-4D97-AF65-F5344CB8AC3E}">
        <p14:creationId xmlns:p14="http://schemas.microsoft.com/office/powerpoint/2010/main" val="290871534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6075C89-F31D-2FFB-FBF5-5253EAEEC0A0}"/>
            </a:ext>
          </a:extLst>
        </p:cNvPr>
        <p:cNvGrpSpPr/>
        <p:nvPr/>
      </p:nvGrpSpPr>
      <p:grpSpPr>
        <a:xfrm>
          <a:off x="0" y="0"/>
          <a:ext cx="0" cy="0"/>
          <a:chOff x="0" y="0"/>
          <a:chExt cx="0" cy="0"/>
        </a:xfrm>
      </p:grpSpPr>
      <p:sp>
        <p:nvSpPr>
          <p:cNvPr id="4" name="Text 2">
            <a:extLst>
              <a:ext uri="{FF2B5EF4-FFF2-40B4-BE49-F238E27FC236}">
                <a16:creationId xmlns:a16="http://schemas.microsoft.com/office/drawing/2014/main" id="{F4841975-8CDD-B786-6C18-EA2727F94C03}"/>
              </a:ext>
            </a:extLst>
          </p:cNvPr>
          <p:cNvSpPr/>
          <p:nvPr/>
        </p:nvSpPr>
        <p:spPr>
          <a:xfrm>
            <a:off x="502920" y="137014"/>
            <a:ext cx="8046720" cy="786531"/>
          </a:xfrm>
          <a:prstGeom prst="rect">
            <a:avLst/>
          </a:prstGeom>
          <a:noFill/>
          <a:ln/>
        </p:spPr>
        <p:txBody>
          <a:bodyPr wrap="square" rtlCol="0" anchor="ctr"/>
          <a:lstStyle/>
          <a:p>
            <a:r>
              <a:rPr lang="en-US" sz="2700" dirty="0">
                <a:solidFill>
                  <a:srgbClr val="0F172A"/>
                </a:solidFill>
                <a:latin typeface="Aptos Display" pitchFamily="34" charset="0"/>
                <a:ea typeface="Aptos Display" pitchFamily="34" charset="-122"/>
                <a:cs typeface="Aptos Display" pitchFamily="34" charset="-120"/>
              </a:rPr>
              <a:t>Example: EEG oddball / P300 study</a:t>
            </a:r>
          </a:p>
        </p:txBody>
      </p:sp>
      <p:sp>
        <p:nvSpPr>
          <p:cNvPr id="5" name="Shape 3">
            <a:extLst>
              <a:ext uri="{FF2B5EF4-FFF2-40B4-BE49-F238E27FC236}">
                <a16:creationId xmlns:a16="http://schemas.microsoft.com/office/drawing/2014/main" id="{4CE540E5-C67D-B82D-3F16-A5FEBC5D3298}"/>
              </a:ext>
            </a:extLst>
          </p:cNvPr>
          <p:cNvSpPr/>
          <p:nvPr/>
        </p:nvSpPr>
        <p:spPr>
          <a:xfrm>
            <a:off x="518160" y="956224"/>
            <a:ext cx="11155680" cy="0"/>
          </a:xfrm>
          <a:prstGeom prst="line">
            <a:avLst/>
          </a:prstGeom>
          <a:noFill/>
          <a:ln w="12700">
            <a:solidFill>
              <a:srgbClr val="CBD5E1"/>
            </a:solidFill>
            <a:prstDash val="solid"/>
          </a:ln>
        </p:spPr>
        <p:txBody>
          <a:bodyPr/>
          <a:lstStyle/>
          <a:p>
            <a:endParaRPr lang="en-US"/>
          </a:p>
        </p:txBody>
      </p:sp>
      <p:sp>
        <p:nvSpPr>
          <p:cNvPr id="3" name="Shape 4">
            <a:extLst>
              <a:ext uri="{FF2B5EF4-FFF2-40B4-BE49-F238E27FC236}">
                <a16:creationId xmlns:a16="http://schemas.microsoft.com/office/drawing/2014/main" id="{9DBE1D62-8B21-9519-70E3-E7A2695D0F90}"/>
              </a:ext>
            </a:extLst>
          </p:cNvPr>
          <p:cNvSpPr/>
          <p:nvPr/>
        </p:nvSpPr>
        <p:spPr>
          <a:xfrm>
            <a:off x="518160" y="1223682"/>
            <a:ext cx="11155680" cy="822960"/>
          </a:xfrm>
          <a:prstGeom prst="roundRect">
            <a:avLst>
              <a:gd name="adj" fmla="val 7778"/>
            </a:avLst>
          </a:prstGeom>
          <a:solidFill>
            <a:srgbClr val="FFF7ED"/>
          </a:solidFill>
          <a:ln w="12700">
            <a:solidFill>
              <a:srgbClr val="FED7AA"/>
            </a:solidFill>
            <a:prstDash val="solid"/>
          </a:ln>
        </p:spPr>
        <p:txBody>
          <a:bodyPr anchor="ctr"/>
          <a:lstStyle/>
          <a:p>
            <a:r>
              <a:rPr lang="en-US" sz="2400" b="1" dirty="0">
                <a:solidFill>
                  <a:srgbClr val="0F172A"/>
                </a:solidFill>
              </a:rPr>
              <a:t>Scientific question</a:t>
            </a:r>
            <a:r>
              <a:rPr lang="en-US" sz="2400" dirty="0">
                <a:solidFill>
                  <a:srgbClr val="0F172A"/>
                </a:solidFill>
              </a:rPr>
              <a:t>: Do target stimuli evoke a larger P300 than non-target stimuli?</a:t>
            </a:r>
            <a:endParaRPr lang="en-US" sz="2400" dirty="0"/>
          </a:p>
        </p:txBody>
      </p:sp>
      <p:sp>
        <p:nvSpPr>
          <p:cNvPr id="6" name="Shape 6">
            <a:extLst>
              <a:ext uri="{FF2B5EF4-FFF2-40B4-BE49-F238E27FC236}">
                <a16:creationId xmlns:a16="http://schemas.microsoft.com/office/drawing/2014/main" id="{1D44624D-3EA5-9494-99BD-E3961966ED03}"/>
              </a:ext>
            </a:extLst>
          </p:cNvPr>
          <p:cNvSpPr/>
          <p:nvPr/>
        </p:nvSpPr>
        <p:spPr>
          <a:xfrm>
            <a:off x="574638" y="2322580"/>
            <a:ext cx="1737360" cy="1974433"/>
          </a:xfrm>
          <a:prstGeom prst="roundRect">
            <a:avLst>
              <a:gd name="adj" fmla="val 3871"/>
            </a:avLst>
          </a:prstGeom>
          <a:solidFill>
            <a:srgbClr val="1D4ED8"/>
          </a:solidFill>
          <a:ln w="12700">
            <a:solidFill>
              <a:srgbClr val="1D4ED8"/>
            </a:solidFill>
            <a:prstDash val="solid"/>
          </a:ln>
        </p:spPr>
        <p:txBody>
          <a:bodyPr/>
          <a:lstStyle/>
          <a:p>
            <a:endParaRPr lang="en-US"/>
          </a:p>
        </p:txBody>
      </p:sp>
      <p:sp>
        <p:nvSpPr>
          <p:cNvPr id="7" name="Text 7">
            <a:extLst>
              <a:ext uri="{FF2B5EF4-FFF2-40B4-BE49-F238E27FC236}">
                <a16:creationId xmlns:a16="http://schemas.microsoft.com/office/drawing/2014/main" id="{D7FFF0DC-6069-ADC9-2680-A2BE38A035F0}"/>
              </a:ext>
            </a:extLst>
          </p:cNvPr>
          <p:cNvSpPr/>
          <p:nvPr/>
        </p:nvSpPr>
        <p:spPr>
          <a:xfrm>
            <a:off x="598842" y="2314100"/>
            <a:ext cx="1713156" cy="645684"/>
          </a:xfrm>
          <a:prstGeom prst="rect">
            <a:avLst/>
          </a:prstGeom>
          <a:noFill/>
          <a:ln/>
        </p:spPr>
        <p:txBody>
          <a:bodyPr wrap="square" rtlCol="0" anchor="t"/>
          <a:lstStyle/>
          <a:p>
            <a:pPr marL="0" indent="0">
              <a:buNone/>
            </a:pPr>
            <a:r>
              <a:rPr lang="en-US" sz="2000" b="1" dirty="0">
                <a:solidFill>
                  <a:srgbClr val="FFFFFF"/>
                </a:solidFill>
              </a:rPr>
              <a:t>1. Define inputs</a:t>
            </a:r>
            <a:endParaRPr lang="en-US" sz="2000" dirty="0"/>
          </a:p>
        </p:txBody>
      </p:sp>
      <p:sp>
        <p:nvSpPr>
          <p:cNvPr id="8" name="Text 8">
            <a:extLst>
              <a:ext uri="{FF2B5EF4-FFF2-40B4-BE49-F238E27FC236}">
                <a16:creationId xmlns:a16="http://schemas.microsoft.com/office/drawing/2014/main" id="{C7C12B0B-1F8D-6363-F9D5-5EFBAC267CAB}"/>
              </a:ext>
            </a:extLst>
          </p:cNvPr>
          <p:cNvSpPr/>
          <p:nvPr/>
        </p:nvSpPr>
        <p:spPr>
          <a:xfrm>
            <a:off x="598842" y="3172967"/>
            <a:ext cx="1737360" cy="943443"/>
          </a:xfrm>
          <a:prstGeom prst="rect">
            <a:avLst/>
          </a:prstGeom>
          <a:noFill/>
          <a:ln/>
        </p:spPr>
        <p:txBody>
          <a:bodyPr wrap="square" rtlCol="0" anchor="t"/>
          <a:lstStyle/>
          <a:p>
            <a:pPr marL="0" indent="0" algn="ctr">
              <a:buNone/>
            </a:pPr>
            <a:r>
              <a:rPr lang="en-US" dirty="0">
                <a:solidFill>
                  <a:srgbClr val="FFFFFF"/>
                </a:solidFill>
              </a:rPr>
              <a:t>subject IDs, files, events</a:t>
            </a:r>
            <a:endParaRPr lang="en-US" dirty="0"/>
          </a:p>
        </p:txBody>
      </p:sp>
      <p:sp>
        <p:nvSpPr>
          <p:cNvPr id="9" name="Shape 9">
            <a:extLst>
              <a:ext uri="{FF2B5EF4-FFF2-40B4-BE49-F238E27FC236}">
                <a16:creationId xmlns:a16="http://schemas.microsoft.com/office/drawing/2014/main" id="{B444058A-6804-5F59-4D5C-137A2927CE4B}"/>
              </a:ext>
            </a:extLst>
          </p:cNvPr>
          <p:cNvSpPr/>
          <p:nvPr/>
        </p:nvSpPr>
        <p:spPr>
          <a:xfrm>
            <a:off x="2514600" y="3867912"/>
            <a:ext cx="100584" cy="0"/>
          </a:xfrm>
          <a:prstGeom prst="line">
            <a:avLst/>
          </a:prstGeom>
          <a:noFill/>
          <a:ln w="12700">
            <a:solidFill>
              <a:srgbClr val="CBD5E1"/>
            </a:solidFill>
            <a:prstDash val="solid"/>
            <a:headEnd type="none"/>
            <a:tailEnd type="triangle"/>
          </a:ln>
        </p:spPr>
        <p:txBody>
          <a:bodyPr/>
          <a:lstStyle/>
          <a:p>
            <a:endParaRPr lang="en-US"/>
          </a:p>
        </p:txBody>
      </p:sp>
      <p:sp>
        <p:nvSpPr>
          <p:cNvPr id="10" name="Shape 10">
            <a:extLst>
              <a:ext uri="{FF2B5EF4-FFF2-40B4-BE49-F238E27FC236}">
                <a16:creationId xmlns:a16="http://schemas.microsoft.com/office/drawing/2014/main" id="{0DEC46C1-3B4D-3882-57EC-447076517FC1}"/>
              </a:ext>
            </a:extLst>
          </p:cNvPr>
          <p:cNvSpPr/>
          <p:nvPr/>
        </p:nvSpPr>
        <p:spPr>
          <a:xfrm>
            <a:off x="2430870" y="2322580"/>
            <a:ext cx="1737360" cy="1974433"/>
          </a:xfrm>
          <a:prstGeom prst="roundRect">
            <a:avLst>
              <a:gd name="adj" fmla="val 3871"/>
            </a:avLst>
          </a:prstGeom>
          <a:solidFill>
            <a:srgbClr val="06B6D4"/>
          </a:solidFill>
          <a:ln w="12700">
            <a:solidFill>
              <a:srgbClr val="06B6D4"/>
            </a:solidFill>
            <a:prstDash val="solid"/>
          </a:ln>
        </p:spPr>
        <p:txBody>
          <a:bodyPr/>
          <a:lstStyle/>
          <a:p>
            <a:endParaRPr lang="en-US"/>
          </a:p>
        </p:txBody>
      </p:sp>
      <p:sp>
        <p:nvSpPr>
          <p:cNvPr id="11" name="Text 11">
            <a:extLst>
              <a:ext uri="{FF2B5EF4-FFF2-40B4-BE49-F238E27FC236}">
                <a16:creationId xmlns:a16="http://schemas.microsoft.com/office/drawing/2014/main" id="{A1A66A03-7D0D-E245-307A-865183437473}"/>
              </a:ext>
            </a:extLst>
          </p:cNvPr>
          <p:cNvSpPr/>
          <p:nvPr/>
        </p:nvSpPr>
        <p:spPr>
          <a:xfrm>
            <a:off x="2442972" y="2314100"/>
            <a:ext cx="1713156" cy="645684"/>
          </a:xfrm>
          <a:prstGeom prst="rect">
            <a:avLst/>
          </a:prstGeom>
          <a:noFill/>
          <a:ln/>
        </p:spPr>
        <p:txBody>
          <a:bodyPr wrap="square" rtlCol="0" anchor="t"/>
          <a:lstStyle/>
          <a:p>
            <a:pPr marL="0" indent="0">
              <a:buNone/>
            </a:pPr>
            <a:r>
              <a:rPr lang="en-US" sz="2000" b="1" dirty="0">
                <a:solidFill>
                  <a:srgbClr val="FFFFFF"/>
                </a:solidFill>
              </a:rPr>
              <a:t>2. Load EEG</a:t>
            </a:r>
            <a:endParaRPr lang="en-US" sz="2000" dirty="0"/>
          </a:p>
        </p:txBody>
      </p:sp>
      <p:sp>
        <p:nvSpPr>
          <p:cNvPr id="12" name="Text 12">
            <a:extLst>
              <a:ext uri="{FF2B5EF4-FFF2-40B4-BE49-F238E27FC236}">
                <a16:creationId xmlns:a16="http://schemas.microsoft.com/office/drawing/2014/main" id="{E0205EC6-1D3A-A259-7883-5D793119A980}"/>
              </a:ext>
            </a:extLst>
          </p:cNvPr>
          <p:cNvSpPr/>
          <p:nvPr/>
        </p:nvSpPr>
        <p:spPr>
          <a:xfrm>
            <a:off x="2455074" y="3172967"/>
            <a:ext cx="1697556" cy="943443"/>
          </a:xfrm>
          <a:prstGeom prst="rect">
            <a:avLst/>
          </a:prstGeom>
          <a:noFill/>
          <a:ln/>
        </p:spPr>
        <p:txBody>
          <a:bodyPr wrap="square" rtlCol="0" anchor="t"/>
          <a:lstStyle/>
          <a:p>
            <a:pPr marL="0" indent="0" algn="ctr">
              <a:buNone/>
            </a:pPr>
            <a:r>
              <a:rPr lang="en-US" dirty="0">
                <a:solidFill>
                  <a:srgbClr val="FFFFFF"/>
                </a:solidFill>
              </a:rPr>
              <a:t>recordings + trigger table</a:t>
            </a:r>
            <a:endParaRPr lang="en-US" dirty="0"/>
          </a:p>
        </p:txBody>
      </p:sp>
      <p:sp>
        <p:nvSpPr>
          <p:cNvPr id="13" name="Shape 13">
            <a:extLst>
              <a:ext uri="{FF2B5EF4-FFF2-40B4-BE49-F238E27FC236}">
                <a16:creationId xmlns:a16="http://schemas.microsoft.com/office/drawing/2014/main" id="{666CFE86-D8B6-0BCC-F51B-04893ADBC42D}"/>
              </a:ext>
            </a:extLst>
          </p:cNvPr>
          <p:cNvSpPr/>
          <p:nvPr/>
        </p:nvSpPr>
        <p:spPr>
          <a:xfrm>
            <a:off x="4370832" y="3867912"/>
            <a:ext cx="100584" cy="0"/>
          </a:xfrm>
          <a:prstGeom prst="line">
            <a:avLst/>
          </a:prstGeom>
          <a:noFill/>
          <a:ln w="12700">
            <a:solidFill>
              <a:srgbClr val="CBD5E1"/>
            </a:solidFill>
            <a:prstDash val="solid"/>
            <a:headEnd type="none"/>
            <a:tailEnd type="triangle"/>
          </a:ln>
        </p:spPr>
        <p:txBody>
          <a:bodyPr/>
          <a:lstStyle/>
          <a:p>
            <a:endParaRPr lang="en-US"/>
          </a:p>
        </p:txBody>
      </p:sp>
      <p:sp>
        <p:nvSpPr>
          <p:cNvPr id="14" name="Shape 14">
            <a:extLst>
              <a:ext uri="{FF2B5EF4-FFF2-40B4-BE49-F238E27FC236}">
                <a16:creationId xmlns:a16="http://schemas.microsoft.com/office/drawing/2014/main" id="{35EB404B-27D2-F5B1-722C-A0BF58BED883}"/>
              </a:ext>
            </a:extLst>
          </p:cNvPr>
          <p:cNvSpPr/>
          <p:nvPr/>
        </p:nvSpPr>
        <p:spPr>
          <a:xfrm>
            <a:off x="4287102" y="2322580"/>
            <a:ext cx="1737360" cy="1974433"/>
          </a:xfrm>
          <a:prstGeom prst="roundRect">
            <a:avLst>
              <a:gd name="adj" fmla="val 3871"/>
            </a:avLst>
          </a:prstGeom>
          <a:solidFill>
            <a:srgbClr val="F59E0B"/>
          </a:solidFill>
          <a:ln w="12700">
            <a:solidFill>
              <a:srgbClr val="F59E0B"/>
            </a:solidFill>
            <a:prstDash val="solid"/>
          </a:ln>
        </p:spPr>
        <p:txBody>
          <a:bodyPr/>
          <a:lstStyle/>
          <a:p>
            <a:endParaRPr lang="en-US"/>
          </a:p>
        </p:txBody>
      </p:sp>
      <p:sp>
        <p:nvSpPr>
          <p:cNvPr id="15" name="Text 15">
            <a:extLst>
              <a:ext uri="{FF2B5EF4-FFF2-40B4-BE49-F238E27FC236}">
                <a16:creationId xmlns:a16="http://schemas.microsoft.com/office/drawing/2014/main" id="{79978AA5-EF07-6879-F2E3-DC75BE7DE3E8}"/>
              </a:ext>
            </a:extLst>
          </p:cNvPr>
          <p:cNvSpPr/>
          <p:nvPr/>
        </p:nvSpPr>
        <p:spPr>
          <a:xfrm>
            <a:off x="4311306" y="2314100"/>
            <a:ext cx="1713156" cy="645684"/>
          </a:xfrm>
          <a:prstGeom prst="rect">
            <a:avLst/>
          </a:prstGeom>
          <a:noFill/>
          <a:ln/>
        </p:spPr>
        <p:txBody>
          <a:bodyPr wrap="square" rtlCol="0" anchor="t"/>
          <a:lstStyle/>
          <a:p>
            <a:pPr marL="0" indent="0">
              <a:buNone/>
            </a:pPr>
            <a:r>
              <a:rPr lang="en-US" sz="2000" b="1" dirty="0">
                <a:solidFill>
                  <a:srgbClr val="FFFFFF"/>
                </a:solidFill>
              </a:rPr>
              <a:t>3. Check data</a:t>
            </a:r>
            <a:endParaRPr lang="en-US" sz="2000" dirty="0"/>
          </a:p>
        </p:txBody>
      </p:sp>
      <p:sp>
        <p:nvSpPr>
          <p:cNvPr id="16" name="Text 16">
            <a:extLst>
              <a:ext uri="{FF2B5EF4-FFF2-40B4-BE49-F238E27FC236}">
                <a16:creationId xmlns:a16="http://schemas.microsoft.com/office/drawing/2014/main" id="{8AFE1FCD-CA10-3629-6EF5-15DB072F85DB}"/>
              </a:ext>
            </a:extLst>
          </p:cNvPr>
          <p:cNvSpPr/>
          <p:nvPr/>
        </p:nvSpPr>
        <p:spPr>
          <a:xfrm>
            <a:off x="4311306" y="3172967"/>
            <a:ext cx="1673352" cy="943443"/>
          </a:xfrm>
          <a:prstGeom prst="rect">
            <a:avLst/>
          </a:prstGeom>
          <a:noFill/>
          <a:ln/>
        </p:spPr>
        <p:txBody>
          <a:bodyPr wrap="square" rtlCol="0" anchor="t"/>
          <a:lstStyle/>
          <a:p>
            <a:pPr marL="0" indent="0" algn="ctr">
              <a:buNone/>
            </a:pPr>
            <a:r>
              <a:rPr lang="en-US" dirty="0">
                <a:solidFill>
                  <a:srgbClr val="FFFFFF"/>
                </a:solidFill>
              </a:rPr>
              <a:t>missing channels, event counts</a:t>
            </a:r>
            <a:endParaRPr lang="en-US" dirty="0"/>
          </a:p>
        </p:txBody>
      </p:sp>
      <p:sp>
        <p:nvSpPr>
          <p:cNvPr id="17" name="Shape 17">
            <a:extLst>
              <a:ext uri="{FF2B5EF4-FFF2-40B4-BE49-F238E27FC236}">
                <a16:creationId xmlns:a16="http://schemas.microsoft.com/office/drawing/2014/main" id="{F33A5DEE-8CB7-FFEA-5777-721EA6532DBC}"/>
              </a:ext>
            </a:extLst>
          </p:cNvPr>
          <p:cNvSpPr/>
          <p:nvPr/>
        </p:nvSpPr>
        <p:spPr>
          <a:xfrm>
            <a:off x="6227064" y="3867912"/>
            <a:ext cx="100584" cy="0"/>
          </a:xfrm>
          <a:prstGeom prst="line">
            <a:avLst/>
          </a:prstGeom>
          <a:noFill/>
          <a:ln w="12700">
            <a:solidFill>
              <a:srgbClr val="CBD5E1"/>
            </a:solidFill>
            <a:prstDash val="solid"/>
            <a:headEnd type="none"/>
            <a:tailEnd type="triangle"/>
          </a:ln>
        </p:spPr>
        <p:txBody>
          <a:bodyPr/>
          <a:lstStyle/>
          <a:p>
            <a:endParaRPr lang="en-US"/>
          </a:p>
        </p:txBody>
      </p:sp>
      <p:sp>
        <p:nvSpPr>
          <p:cNvPr id="18" name="Shape 18">
            <a:extLst>
              <a:ext uri="{FF2B5EF4-FFF2-40B4-BE49-F238E27FC236}">
                <a16:creationId xmlns:a16="http://schemas.microsoft.com/office/drawing/2014/main" id="{C818C7A0-17A9-4F38-9CFC-6960096EB83D}"/>
              </a:ext>
            </a:extLst>
          </p:cNvPr>
          <p:cNvSpPr/>
          <p:nvPr/>
        </p:nvSpPr>
        <p:spPr>
          <a:xfrm>
            <a:off x="6143334" y="2322580"/>
            <a:ext cx="1737360" cy="1974433"/>
          </a:xfrm>
          <a:prstGeom prst="roundRect">
            <a:avLst>
              <a:gd name="adj" fmla="val 3871"/>
            </a:avLst>
          </a:prstGeom>
          <a:solidFill>
            <a:srgbClr val="0F766E"/>
          </a:solidFill>
          <a:ln w="12700">
            <a:solidFill>
              <a:srgbClr val="0F766E"/>
            </a:solidFill>
            <a:prstDash val="solid"/>
          </a:ln>
        </p:spPr>
        <p:txBody>
          <a:bodyPr/>
          <a:lstStyle/>
          <a:p>
            <a:endParaRPr lang="en-US"/>
          </a:p>
        </p:txBody>
      </p:sp>
      <p:sp>
        <p:nvSpPr>
          <p:cNvPr id="19" name="Text 19">
            <a:extLst>
              <a:ext uri="{FF2B5EF4-FFF2-40B4-BE49-F238E27FC236}">
                <a16:creationId xmlns:a16="http://schemas.microsoft.com/office/drawing/2014/main" id="{B1C43C58-3EEB-AF9D-C719-483D82232AFA}"/>
              </a:ext>
            </a:extLst>
          </p:cNvPr>
          <p:cNvSpPr/>
          <p:nvPr/>
        </p:nvSpPr>
        <p:spPr>
          <a:xfrm>
            <a:off x="6143334" y="2314100"/>
            <a:ext cx="1709211" cy="645684"/>
          </a:xfrm>
          <a:prstGeom prst="rect">
            <a:avLst/>
          </a:prstGeom>
          <a:noFill/>
          <a:ln/>
        </p:spPr>
        <p:txBody>
          <a:bodyPr wrap="square" rtlCol="0" anchor="t"/>
          <a:lstStyle/>
          <a:p>
            <a:pPr marL="0" indent="0">
              <a:buNone/>
            </a:pPr>
            <a:r>
              <a:rPr lang="en-US" b="1" dirty="0">
                <a:solidFill>
                  <a:srgbClr val="FFFFFF"/>
                </a:solidFill>
              </a:rPr>
              <a:t>4. Preprocess</a:t>
            </a:r>
            <a:endParaRPr lang="en-US" dirty="0"/>
          </a:p>
        </p:txBody>
      </p:sp>
      <p:sp>
        <p:nvSpPr>
          <p:cNvPr id="20" name="Text 20">
            <a:extLst>
              <a:ext uri="{FF2B5EF4-FFF2-40B4-BE49-F238E27FC236}">
                <a16:creationId xmlns:a16="http://schemas.microsoft.com/office/drawing/2014/main" id="{04D3C23B-2FE3-0B91-557F-E930A429E66B}"/>
              </a:ext>
            </a:extLst>
          </p:cNvPr>
          <p:cNvSpPr/>
          <p:nvPr/>
        </p:nvSpPr>
        <p:spPr>
          <a:xfrm>
            <a:off x="6167538" y="3172967"/>
            <a:ext cx="1709210" cy="943443"/>
          </a:xfrm>
          <a:prstGeom prst="rect">
            <a:avLst/>
          </a:prstGeom>
          <a:noFill/>
          <a:ln/>
        </p:spPr>
        <p:txBody>
          <a:bodyPr wrap="square" rtlCol="0" anchor="t"/>
          <a:lstStyle/>
          <a:p>
            <a:pPr marL="0" indent="0" algn="ctr">
              <a:buNone/>
            </a:pPr>
            <a:r>
              <a:rPr lang="en-US" dirty="0">
                <a:solidFill>
                  <a:srgbClr val="FFFFFF"/>
                </a:solidFill>
              </a:rPr>
              <a:t>filter, epoch, baseline</a:t>
            </a:r>
            <a:endParaRPr lang="en-US" dirty="0"/>
          </a:p>
        </p:txBody>
      </p:sp>
      <p:sp>
        <p:nvSpPr>
          <p:cNvPr id="21" name="Shape 21">
            <a:extLst>
              <a:ext uri="{FF2B5EF4-FFF2-40B4-BE49-F238E27FC236}">
                <a16:creationId xmlns:a16="http://schemas.microsoft.com/office/drawing/2014/main" id="{FBC94900-312B-47FA-D75D-762B82DF4594}"/>
              </a:ext>
            </a:extLst>
          </p:cNvPr>
          <p:cNvSpPr/>
          <p:nvPr/>
        </p:nvSpPr>
        <p:spPr>
          <a:xfrm>
            <a:off x="8083296" y="3867912"/>
            <a:ext cx="100584" cy="0"/>
          </a:xfrm>
          <a:prstGeom prst="line">
            <a:avLst/>
          </a:prstGeom>
          <a:noFill/>
          <a:ln w="12700">
            <a:solidFill>
              <a:srgbClr val="CBD5E1"/>
            </a:solidFill>
            <a:prstDash val="solid"/>
            <a:headEnd type="none"/>
            <a:tailEnd type="triangle"/>
          </a:ln>
        </p:spPr>
        <p:txBody>
          <a:bodyPr/>
          <a:lstStyle/>
          <a:p>
            <a:endParaRPr lang="en-US"/>
          </a:p>
        </p:txBody>
      </p:sp>
      <p:sp>
        <p:nvSpPr>
          <p:cNvPr id="22" name="Shape 22">
            <a:extLst>
              <a:ext uri="{FF2B5EF4-FFF2-40B4-BE49-F238E27FC236}">
                <a16:creationId xmlns:a16="http://schemas.microsoft.com/office/drawing/2014/main" id="{F5838B61-8E26-0E46-ECDA-63C34FB4616B}"/>
              </a:ext>
            </a:extLst>
          </p:cNvPr>
          <p:cNvSpPr/>
          <p:nvPr/>
        </p:nvSpPr>
        <p:spPr>
          <a:xfrm>
            <a:off x="7999566" y="2322580"/>
            <a:ext cx="1737360" cy="1974433"/>
          </a:xfrm>
          <a:prstGeom prst="roundRect">
            <a:avLst>
              <a:gd name="adj" fmla="val 3871"/>
            </a:avLst>
          </a:prstGeom>
          <a:solidFill>
            <a:srgbClr val="16A34A"/>
          </a:solidFill>
          <a:ln w="12700">
            <a:solidFill>
              <a:srgbClr val="16A34A"/>
            </a:solidFill>
            <a:prstDash val="solid"/>
          </a:ln>
        </p:spPr>
        <p:txBody>
          <a:bodyPr/>
          <a:lstStyle/>
          <a:p>
            <a:endParaRPr lang="en-US"/>
          </a:p>
        </p:txBody>
      </p:sp>
      <p:sp>
        <p:nvSpPr>
          <p:cNvPr id="23" name="Text 23">
            <a:extLst>
              <a:ext uri="{FF2B5EF4-FFF2-40B4-BE49-F238E27FC236}">
                <a16:creationId xmlns:a16="http://schemas.microsoft.com/office/drawing/2014/main" id="{E496E491-6D2E-5170-20B8-2963EF00A321}"/>
              </a:ext>
            </a:extLst>
          </p:cNvPr>
          <p:cNvSpPr/>
          <p:nvPr/>
        </p:nvSpPr>
        <p:spPr>
          <a:xfrm>
            <a:off x="8023770" y="2314100"/>
            <a:ext cx="1713156" cy="645684"/>
          </a:xfrm>
          <a:prstGeom prst="rect">
            <a:avLst/>
          </a:prstGeom>
          <a:noFill/>
          <a:ln/>
        </p:spPr>
        <p:txBody>
          <a:bodyPr wrap="square" rtlCol="0" anchor="t"/>
          <a:lstStyle/>
          <a:p>
            <a:pPr marL="0" indent="0">
              <a:buNone/>
            </a:pPr>
            <a:r>
              <a:rPr lang="en-US" sz="2000" b="1" dirty="0">
                <a:solidFill>
                  <a:srgbClr val="FFFFFF"/>
                </a:solidFill>
              </a:rPr>
              <a:t>5. Extract ERP</a:t>
            </a:r>
            <a:endParaRPr lang="en-US" sz="2000" dirty="0"/>
          </a:p>
        </p:txBody>
      </p:sp>
      <p:sp>
        <p:nvSpPr>
          <p:cNvPr id="24" name="Text 24">
            <a:extLst>
              <a:ext uri="{FF2B5EF4-FFF2-40B4-BE49-F238E27FC236}">
                <a16:creationId xmlns:a16="http://schemas.microsoft.com/office/drawing/2014/main" id="{EFA3C19E-BA03-9CBB-0868-8441B2CAAB19}"/>
              </a:ext>
            </a:extLst>
          </p:cNvPr>
          <p:cNvSpPr/>
          <p:nvPr/>
        </p:nvSpPr>
        <p:spPr>
          <a:xfrm>
            <a:off x="8023770" y="3172967"/>
            <a:ext cx="1697556" cy="943443"/>
          </a:xfrm>
          <a:prstGeom prst="rect">
            <a:avLst/>
          </a:prstGeom>
          <a:noFill/>
          <a:ln/>
        </p:spPr>
        <p:txBody>
          <a:bodyPr wrap="square" rtlCol="0" anchor="t"/>
          <a:lstStyle/>
          <a:p>
            <a:pPr marL="0" indent="0" algn="ctr">
              <a:buNone/>
            </a:pPr>
            <a:r>
              <a:rPr lang="en-US" dirty="0">
                <a:solidFill>
                  <a:srgbClr val="FFFFFF"/>
                </a:solidFill>
              </a:rPr>
              <a:t>target / non-target averages</a:t>
            </a:r>
            <a:endParaRPr lang="en-US" dirty="0"/>
          </a:p>
        </p:txBody>
      </p:sp>
      <p:sp>
        <p:nvSpPr>
          <p:cNvPr id="25" name="Shape 25">
            <a:extLst>
              <a:ext uri="{FF2B5EF4-FFF2-40B4-BE49-F238E27FC236}">
                <a16:creationId xmlns:a16="http://schemas.microsoft.com/office/drawing/2014/main" id="{CB97C7D0-7ECB-5B70-C301-D432CB2C6D0A}"/>
              </a:ext>
            </a:extLst>
          </p:cNvPr>
          <p:cNvSpPr/>
          <p:nvPr/>
        </p:nvSpPr>
        <p:spPr>
          <a:xfrm>
            <a:off x="9939528" y="3867912"/>
            <a:ext cx="100584" cy="0"/>
          </a:xfrm>
          <a:prstGeom prst="line">
            <a:avLst/>
          </a:prstGeom>
          <a:noFill/>
          <a:ln w="12700">
            <a:solidFill>
              <a:srgbClr val="CBD5E1"/>
            </a:solidFill>
            <a:prstDash val="solid"/>
            <a:headEnd type="none"/>
            <a:tailEnd type="triangle"/>
          </a:ln>
        </p:spPr>
        <p:txBody>
          <a:bodyPr/>
          <a:lstStyle/>
          <a:p>
            <a:endParaRPr lang="en-US"/>
          </a:p>
        </p:txBody>
      </p:sp>
      <p:sp>
        <p:nvSpPr>
          <p:cNvPr id="26" name="Shape 26">
            <a:extLst>
              <a:ext uri="{FF2B5EF4-FFF2-40B4-BE49-F238E27FC236}">
                <a16:creationId xmlns:a16="http://schemas.microsoft.com/office/drawing/2014/main" id="{802105DA-87CE-605E-55F0-E1FFC444B004}"/>
              </a:ext>
            </a:extLst>
          </p:cNvPr>
          <p:cNvSpPr/>
          <p:nvPr/>
        </p:nvSpPr>
        <p:spPr>
          <a:xfrm>
            <a:off x="9855798" y="2322580"/>
            <a:ext cx="1737360" cy="1974433"/>
          </a:xfrm>
          <a:prstGeom prst="roundRect">
            <a:avLst>
              <a:gd name="adj" fmla="val 3871"/>
            </a:avLst>
          </a:prstGeom>
          <a:solidFill>
            <a:srgbClr val="0F172A"/>
          </a:solidFill>
          <a:ln w="12700">
            <a:solidFill>
              <a:srgbClr val="0F172A"/>
            </a:solidFill>
            <a:prstDash val="solid"/>
          </a:ln>
        </p:spPr>
        <p:txBody>
          <a:bodyPr/>
          <a:lstStyle/>
          <a:p>
            <a:endParaRPr lang="en-US"/>
          </a:p>
        </p:txBody>
      </p:sp>
      <p:sp>
        <p:nvSpPr>
          <p:cNvPr id="27" name="Text 27">
            <a:extLst>
              <a:ext uri="{FF2B5EF4-FFF2-40B4-BE49-F238E27FC236}">
                <a16:creationId xmlns:a16="http://schemas.microsoft.com/office/drawing/2014/main" id="{F2041AA5-B30C-E17E-D0E5-B6B0071AD6D8}"/>
              </a:ext>
            </a:extLst>
          </p:cNvPr>
          <p:cNvSpPr/>
          <p:nvPr/>
        </p:nvSpPr>
        <p:spPr>
          <a:xfrm>
            <a:off x="9855799" y="2314100"/>
            <a:ext cx="1737360" cy="645684"/>
          </a:xfrm>
          <a:prstGeom prst="rect">
            <a:avLst/>
          </a:prstGeom>
          <a:noFill/>
          <a:ln/>
        </p:spPr>
        <p:txBody>
          <a:bodyPr wrap="square" rtlCol="0" anchor="t"/>
          <a:lstStyle/>
          <a:p>
            <a:pPr marL="0" indent="0">
              <a:buNone/>
            </a:pPr>
            <a:r>
              <a:rPr lang="en-US" sz="2000" b="1" dirty="0">
                <a:solidFill>
                  <a:srgbClr val="FFFFFF"/>
                </a:solidFill>
              </a:rPr>
              <a:t>6. Compare</a:t>
            </a:r>
            <a:endParaRPr lang="en-US" sz="2000" dirty="0"/>
          </a:p>
        </p:txBody>
      </p:sp>
      <p:sp>
        <p:nvSpPr>
          <p:cNvPr id="28" name="Text 28">
            <a:extLst>
              <a:ext uri="{FF2B5EF4-FFF2-40B4-BE49-F238E27FC236}">
                <a16:creationId xmlns:a16="http://schemas.microsoft.com/office/drawing/2014/main" id="{06B75F04-0CB6-C242-B105-BA7D6CC7962E}"/>
              </a:ext>
            </a:extLst>
          </p:cNvPr>
          <p:cNvSpPr/>
          <p:nvPr/>
        </p:nvSpPr>
        <p:spPr>
          <a:xfrm>
            <a:off x="9880002" y="3172967"/>
            <a:ext cx="1737360" cy="943443"/>
          </a:xfrm>
          <a:prstGeom prst="rect">
            <a:avLst/>
          </a:prstGeom>
          <a:noFill/>
          <a:ln/>
        </p:spPr>
        <p:txBody>
          <a:bodyPr wrap="square" rtlCol="0" anchor="t"/>
          <a:lstStyle/>
          <a:p>
            <a:pPr marL="0" indent="0" algn="ctr">
              <a:buNone/>
            </a:pPr>
            <a:r>
              <a:rPr lang="en-US" dirty="0">
                <a:solidFill>
                  <a:srgbClr val="FFFFFF"/>
                </a:solidFill>
              </a:rPr>
              <a:t>P300 window statistics</a:t>
            </a:r>
            <a:endParaRPr lang="en-US" dirty="0"/>
          </a:p>
        </p:txBody>
      </p:sp>
      <p:sp>
        <p:nvSpPr>
          <p:cNvPr id="29" name="Text 29">
            <a:extLst>
              <a:ext uri="{FF2B5EF4-FFF2-40B4-BE49-F238E27FC236}">
                <a16:creationId xmlns:a16="http://schemas.microsoft.com/office/drawing/2014/main" id="{C33974E4-009A-A54A-F1B4-B80D31D9E528}"/>
              </a:ext>
            </a:extLst>
          </p:cNvPr>
          <p:cNvSpPr/>
          <p:nvPr/>
        </p:nvSpPr>
        <p:spPr>
          <a:xfrm>
            <a:off x="502920" y="4739819"/>
            <a:ext cx="11155680" cy="1005831"/>
          </a:xfrm>
          <a:prstGeom prst="rect">
            <a:avLst/>
          </a:prstGeom>
          <a:solidFill>
            <a:srgbClr val="FFF7ED"/>
          </a:solidFill>
          <a:ln w="12700">
            <a:solidFill>
              <a:srgbClr val="FED7AA"/>
            </a:solidFill>
            <a:prstDash val="solid"/>
          </a:ln>
        </p:spPr>
        <p:txBody>
          <a:bodyPr anchor="ctr"/>
          <a:lstStyle/>
          <a:p>
            <a:r>
              <a:rPr lang="en-US" sz="2400" b="1" dirty="0">
                <a:solidFill>
                  <a:srgbClr val="0F172A"/>
                </a:solidFill>
              </a:rPr>
              <a:t>Likely outputs: </a:t>
            </a:r>
            <a:r>
              <a:rPr lang="en-US" sz="2400" dirty="0">
                <a:solidFill>
                  <a:srgbClr val="0F172A"/>
                </a:solidFill>
              </a:rPr>
              <a:t>cleaned epochs, subject-level amplitude table, group statistics, ERP plots.</a:t>
            </a:r>
          </a:p>
        </p:txBody>
      </p:sp>
    </p:spTree>
    <p:extLst>
      <p:ext uri="{BB962C8B-B14F-4D97-AF65-F5344CB8AC3E}">
        <p14:creationId xmlns:p14="http://schemas.microsoft.com/office/powerpoint/2010/main" val="28148461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9E4334A-5FCE-B773-FFA0-FDE40DCC7E5A}"/>
            </a:ext>
          </a:extLst>
        </p:cNvPr>
        <p:cNvGrpSpPr/>
        <p:nvPr/>
      </p:nvGrpSpPr>
      <p:grpSpPr>
        <a:xfrm>
          <a:off x="0" y="0"/>
          <a:ext cx="0" cy="0"/>
          <a:chOff x="0" y="0"/>
          <a:chExt cx="0" cy="0"/>
        </a:xfrm>
      </p:grpSpPr>
      <p:sp>
        <p:nvSpPr>
          <p:cNvPr id="4" name="Text 2">
            <a:extLst>
              <a:ext uri="{FF2B5EF4-FFF2-40B4-BE49-F238E27FC236}">
                <a16:creationId xmlns:a16="http://schemas.microsoft.com/office/drawing/2014/main" id="{C146FE14-BEBB-A3AA-629C-B31B3D54309A}"/>
              </a:ext>
            </a:extLst>
          </p:cNvPr>
          <p:cNvSpPr/>
          <p:nvPr/>
        </p:nvSpPr>
        <p:spPr>
          <a:xfrm>
            <a:off x="502920" y="137014"/>
            <a:ext cx="8046720" cy="786531"/>
          </a:xfrm>
          <a:prstGeom prst="rect">
            <a:avLst/>
          </a:prstGeom>
          <a:noFill/>
          <a:ln/>
        </p:spPr>
        <p:txBody>
          <a:bodyPr wrap="square" rtlCol="0" anchor="ctr"/>
          <a:lstStyle/>
          <a:p>
            <a:r>
              <a:rPr lang="en-US" sz="2700" dirty="0">
                <a:solidFill>
                  <a:srgbClr val="0F172A"/>
                </a:solidFill>
                <a:latin typeface="Aptos Display" pitchFamily="34" charset="0"/>
                <a:ea typeface="Aptos Display" pitchFamily="34" charset="-122"/>
                <a:cs typeface="Aptos Display" pitchFamily="34" charset="-120"/>
              </a:rPr>
              <a:t>From block design to code structure</a:t>
            </a:r>
          </a:p>
        </p:txBody>
      </p:sp>
      <p:sp>
        <p:nvSpPr>
          <p:cNvPr id="5" name="Shape 3">
            <a:extLst>
              <a:ext uri="{FF2B5EF4-FFF2-40B4-BE49-F238E27FC236}">
                <a16:creationId xmlns:a16="http://schemas.microsoft.com/office/drawing/2014/main" id="{70A52C87-0CB4-7580-16F3-30DB914EBFB7}"/>
              </a:ext>
            </a:extLst>
          </p:cNvPr>
          <p:cNvSpPr/>
          <p:nvPr/>
        </p:nvSpPr>
        <p:spPr>
          <a:xfrm>
            <a:off x="518160" y="956224"/>
            <a:ext cx="11155680" cy="0"/>
          </a:xfrm>
          <a:prstGeom prst="line">
            <a:avLst/>
          </a:prstGeom>
          <a:noFill/>
          <a:ln w="12700">
            <a:solidFill>
              <a:srgbClr val="CBD5E1"/>
            </a:solidFill>
            <a:prstDash val="solid"/>
          </a:ln>
        </p:spPr>
        <p:txBody>
          <a:bodyPr/>
          <a:lstStyle/>
          <a:p>
            <a:endParaRPr lang="en-US"/>
          </a:p>
        </p:txBody>
      </p:sp>
      <p:sp>
        <p:nvSpPr>
          <p:cNvPr id="3" name="Shape 4">
            <a:extLst>
              <a:ext uri="{FF2B5EF4-FFF2-40B4-BE49-F238E27FC236}">
                <a16:creationId xmlns:a16="http://schemas.microsoft.com/office/drawing/2014/main" id="{91B915B5-7286-1826-B85C-3885680CA496}"/>
              </a:ext>
            </a:extLst>
          </p:cNvPr>
          <p:cNvSpPr/>
          <p:nvPr/>
        </p:nvSpPr>
        <p:spPr>
          <a:xfrm>
            <a:off x="858819" y="1307054"/>
            <a:ext cx="3017520" cy="502920"/>
          </a:xfrm>
          <a:prstGeom prst="rect">
            <a:avLst/>
          </a:prstGeom>
          <a:solidFill>
            <a:srgbClr val="0F172A"/>
          </a:solidFill>
          <a:ln w="12700">
            <a:solidFill>
              <a:srgbClr val="FFFFFF"/>
            </a:solidFill>
            <a:prstDash val="solid"/>
          </a:ln>
        </p:spPr>
        <p:txBody>
          <a:bodyPr/>
          <a:lstStyle/>
          <a:p>
            <a:endParaRPr lang="en-US"/>
          </a:p>
        </p:txBody>
      </p:sp>
      <p:sp>
        <p:nvSpPr>
          <p:cNvPr id="6" name="Text 5">
            <a:extLst>
              <a:ext uri="{FF2B5EF4-FFF2-40B4-BE49-F238E27FC236}">
                <a16:creationId xmlns:a16="http://schemas.microsoft.com/office/drawing/2014/main" id="{8FEA5A48-FBB8-FC82-DA92-972AE2D4D4FB}"/>
              </a:ext>
            </a:extLst>
          </p:cNvPr>
          <p:cNvSpPr/>
          <p:nvPr/>
        </p:nvSpPr>
        <p:spPr>
          <a:xfrm>
            <a:off x="950259" y="1453358"/>
            <a:ext cx="2834640" cy="182880"/>
          </a:xfrm>
          <a:prstGeom prst="rect">
            <a:avLst/>
          </a:prstGeom>
          <a:noFill/>
          <a:ln/>
        </p:spPr>
        <p:txBody>
          <a:bodyPr wrap="square" rtlCol="0" anchor="ctr"/>
          <a:lstStyle/>
          <a:p>
            <a:pPr marL="0" indent="0" algn="ctr">
              <a:buNone/>
            </a:pPr>
            <a:r>
              <a:rPr lang="en-US" sz="2400" dirty="0">
                <a:solidFill>
                  <a:srgbClr val="FFFFFF"/>
                </a:solidFill>
              </a:rPr>
              <a:t>Design block</a:t>
            </a:r>
            <a:endParaRPr lang="en-US" sz="2400" dirty="0"/>
          </a:p>
        </p:txBody>
      </p:sp>
      <p:sp>
        <p:nvSpPr>
          <p:cNvPr id="7" name="Shape 6">
            <a:extLst>
              <a:ext uri="{FF2B5EF4-FFF2-40B4-BE49-F238E27FC236}">
                <a16:creationId xmlns:a16="http://schemas.microsoft.com/office/drawing/2014/main" id="{750C1A04-FDF5-8510-8267-339D8020F94F}"/>
              </a:ext>
            </a:extLst>
          </p:cNvPr>
          <p:cNvSpPr/>
          <p:nvPr/>
        </p:nvSpPr>
        <p:spPr>
          <a:xfrm>
            <a:off x="3876339" y="1307054"/>
            <a:ext cx="3520440" cy="502920"/>
          </a:xfrm>
          <a:prstGeom prst="rect">
            <a:avLst/>
          </a:prstGeom>
          <a:solidFill>
            <a:srgbClr val="0F172A"/>
          </a:solidFill>
          <a:ln w="12700">
            <a:solidFill>
              <a:srgbClr val="FFFFFF"/>
            </a:solidFill>
            <a:prstDash val="solid"/>
          </a:ln>
        </p:spPr>
        <p:txBody>
          <a:bodyPr/>
          <a:lstStyle/>
          <a:p>
            <a:endParaRPr lang="en-US" dirty="0"/>
          </a:p>
        </p:txBody>
      </p:sp>
      <p:sp>
        <p:nvSpPr>
          <p:cNvPr id="8" name="Text 7">
            <a:extLst>
              <a:ext uri="{FF2B5EF4-FFF2-40B4-BE49-F238E27FC236}">
                <a16:creationId xmlns:a16="http://schemas.microsoft.com/office/drawing/2014/main" id="{199D6EDB-3F6D-220D-61A8-E9E855582FB0}"/>
              </a:ext>
            </a:extLst>
          </p:cNvPr>
          <p:cNvSpPr/>
          <p:nvPr/>
        </p:nvSpPr>
        <p:spPr>
          <a:xfrm>
            <a:off x="3967779" y="1453358"/>
            <a:ext cx="3337560" cy="182880"/>
          </a:xfrm>
          <a:prstGeom prst="rect">
            <a:avLst/>
          </a:prstGeom>
          <a:noFill/>
          <a:ln/>
        </p:spPr>
        <p:txBody>
          <a:bodyPr wrap="square" rtlCol="0" anchor="ctr"/>
          <a:lstStyle/>
          <a:p>
            <a:pPr marL="0" indent="0" algn="ctr">
              <a:buNone/>
            </a:pPr>
            <a:r>
              <a:rPr lang="en-US" sz="2400" dirty="0">
                <a:solidFill>
                  <a:srgbClr val="FFFFFF"/>
                </a:solidFill>
              </a:rPr>
              <a:t>Code unit</a:t>
            </a:r>
            <a:endParaRPr lang="en-US" sz="2400" dirty="0"/>
          </a:p>
        </p:txBody>
      </p:sp>
      <p:sp>
        <p:nvSpPr>
          <p:cNvPr id="9" name="Shape 8">
            <a:extLst>
              <a:ext uri="{FF2B5EF4-FFF2-40B4-BE49-F238E27FC236}">
                <a16:creationId xmlns:a16="http://schemas.microsoft.com/office/drawing/2014/main" id="{E95A87E5-465D-C72D-FAC4-FB4128729E81}"/>
              </a:ext>
            </a:extLst>
          </p:cNvPr>
          <p:cNvSpPr/>
          <p:nvPr/>
        </p:nvSpPr>
        <p:spPr>
          <a:xfrm>
            <a:off x="7396779" y="1307054"/>
            <a:ext cx="4023360" cy="502920"/>
          </a:xfrm>
          <a:prstGeom prst="rect">
            <a:avLst/>
          </a:prstGeom>
          <a:solidFill>
            <a:srgbClr val="0F172A"/>
          </a:solidFill>
          <a:ln w="12700">
            <a:solidFill>
              <a:srgbClr val="FFFFFF"/>
            </a:solidFill>
            <a:prstDash val="solid"/>
          </a:ln>
        </p:spPr>
        <p:txBody>
          <a:bodyPr/>
          <a:lstStyle/>
          <a:p>
            <a:endParaRPr lang="en-US"/>
          </a:p>
        </p:txBody>
      </p:sp>
      <p:sp>
        <p:nvSpPr>
          <p:cNvPr id="10" name="Text 9">
            <a:extLst>
              <a:ext uri="{FF2B5EF4-FFF2-40B4-BE49-F238E27FC236}">
                <a16:creationId xmlns:a16="http://schemas.microsoft.com/office/drawing/2014/main" id="{840F0012-4350-656A-2139-CAF4E0F0D2E0}"/>
              </a:ext>
            </a:extLst>
          </p:cNvPr>
          <p:cNvSpPr/>
          <p:nvPr/>
        </p:nvSpPr>
        <p:spPr>
          <a:xfrm>
            <a:off x="7488219" y="1453358"/>
            <a:ext cx="3840480" cy="182880"/>
          </a:xfrm>
          <a:prstGeom prst="rect">
            <a:avLst/>
          </a:prstGeom>
          <a:noFill/>
          <a:ln/>
        </p:spPr>
        <p:txBody>
          <a:bodyPr wrap="square" rtlCol="0" anchor="ctr"/>
          <a:lstStyle/>
          <a:p>
            <a:pPr marL="0" indent="0" algn="ctr">
              <a:buNone/>
            </a:pPr>
            <a:r>
              <a:rPr lang="en-US" sz="2400" dirty="0">
                <a:solidFill>
                  <a:srgbClr val="FFFFFF"/>
                </a:solidFill>
              </a:rPr>
              <a:t>Why it helps</a:t>
            </a:r>
            <a:endParaRPr lang="en-US" sz="2400" dirty="0"/>
          </a:p>
        </p:txBody>
      </p:sp>
      <p:sp>
        <p:nvSpPr>
          <p:cNvPr id="11" name="Shape 10">
            <a:extLst>
              <a:ext uri="{FF2B5EF4-FFF2-40B4-BE49-F238E27FC236}">
                <a16:creationId xmlns:a16="http://schemas.microsoft.com/office/drawing/2014/main" id="{2FF9055E-7144-8211-2CB2-595E3BC71119}"/>
              </a:ext>
            </a:extLst>
          </p:cNvPr>
          <p:cNvSpPr/>
          <p:nvPr/>
        </p:nvSpPr>
        <p:spPr>
          <a:xfrm>
            <a:off x="858819" y="1809974"/>
            <a:ext cx="3017520" cy="740664"/>
          </a:xfrm>
          <a:prstGeom prst="rect">
            <a:avLst/>
          </a:prstGeom>
          <a:solidFill>
            <a:srgbClr val="F8FAFC"/>
          </a:solidFill>
          <a:ln w="12700">
            <a:solidFill>
              <a:srgbClr val="FFFFFF"/>
            </a:solidFill>
            <a:prstDash val="solid"/>
          </a:ln>
        </p:spPr>
        <p:txBody>
          <a:bodyPr/>
          <a:lstStyle/>
          <a:p>
            <a:endParaRPr lang="en-US"/>
          </a:p>
        </p:txBody>
      </p:sp>
      <p:sp>
        <p:nvSpPr>
          <p:cNvPr id="12" name="Shape 11">
            <a:extLst>
              <a:ext uri="{FF2B5EF4-FFF2-40B4-BE49-F238E27FC236}">
                <a16:creationId xmlns:a16="http://schemas.microsoft.com/office/drawing/2014/main" id="{AC9A2E7B-25D1-A03F-51DA-D652F8708B35}"/>
              </a:ext>
            </a:extLst>
          </p:cNvPr>
          <p:cNvSpPr/>
          <p:nvPr/>
        </p:nvSpPr>
        <p:spPr>
          <a:xfrm>
            <a:off x="3876339" y="1809974"/>
            <a:ext cx="3520440" cy="740664"/>
          </a:xfrm>
          <a:prstGeom prst="rect">
            <a:avLst/>
          </a:prstGeom>
          <a:solidFill>
            <a:srgbClr val="F8FAFC"/>
          </a:solidFill>
          <a:ln w="12700">
            <a:solidFill>
              <a:srgbClr val="FFFFFF"/>
            </a:solidFill>
            <a:prstDash val="solid"/>
          </a:ln>
        </p:spPr>
        <p:txBody>
          <a:bodyPr/>
          <a:lstStyle/>
          <a:p>
            <a:endParaRPr lang="en-US"/>
          </a:p>
        </p:txBody>
      </p:sp>
      <p:sp>
        <p:nvSpPr>
          <p:cNvPr id="13" name="Shape 12">
            <a:extLst>
              <a:ext uri="{FF2B5EF4-FFF2-40B4-BE49-F238E27FC236}">
                <a16:creationId xmlns:a16="http://schemas.microsoft.com/office/drawing/2014/main" id="{08AA74A2-6788-3533-7D7C-0445CC0284DE}"/>
              </a:ext>
            </a:extLst>
          </p:cNvPr>
          <p:cNvSpPr/>
          <p:nvPr/>
        </p:nvSpPr>
        <p:spPr>
          <a:xfrm>
            <a:off x="7396779" y="1809974"/>
            <a:ext cx="4023360" cy="740664"/>
          </a:xfrm>
          <a:prstGeom prst="rect">
            <a:avLst/>
          </a:prstGeom>
          <a:solidFill>
            <a:srgbClr val="F8FAFC"/>
          </a:solidFill>
          <a:ln w="12700">
            <a:solidFill>
              <a:srgbClr val="FFFFFF"/>
            </a:solidFill>
            <a:prstDash val="solid"/>
          </a:ln>
        </p:spPr>
        <p:txBody>
          <a:bodyPr/>
          <a:lstStyle/>
          <a:p>
            <a:endParaRPr lang="en-US"/>
          </a:p>
        </p:txBody>
      </p:sp>
      <p:sp>
        <p:nvSpPr>
          <p:cNvPr id="14" name="Text 13">
            <a:extLst>
              <a:ext uri="{FF2B5EF4-FFF2-40B4-BE49-F238E27FC236}">
                <a16:creationId xmlns:a16="http://schemas.microsoft.com/office/drawing/2014/main" id="{7886B8CA-8C4F-E693-3F6A-53B45700DF44}"/>
              </a:ext>
            </a:extLst>
          </p:cNvPr>
          <p:cNvSpPr/>
          <p:nvPr/>
        </p:nvSpPr>
        <p:spPr>
          <a:xfrm>
            <a:off x="968547" y="1928846"/>
            <a:ext cx="2651760" cy="182880"/>
          </a:xfrm>
          <a:prstGeom prst="rect">
            <a:avLst/>
          </a:prstGeom>
          <a:noFill/>
          <a:ln/>
        </p:spPr>
        <p:txBody>
          <a:bodyPr wrap="square" rtlCol="0" anchor="ctr"/>
          <a:lstStyle/>
          <a:p>
            <a:pPr marL="0" indent="0">
              <a:buNone/>
            </a:pPr>
            <a:r>
              <a:rPr lang="en-US" sz="2000" dirty="0">
                <a:solidFill>
                  <a:srgbClr val="0F172A"/>
                </a:solidFill>
              </a:rPr>
              <a:t>Load data</a:t>
            </a:r>
            <a:endParaRPr lang="en-US" sz="2000" dirty="0"/>
          </a:p>
        </p:txBody>
      </p:sp>
      <p:sp>
        <p:nvSpPr>
          <p:cNvPr id="15" name="Text 14">
            <a:extLst>
              <a:ext uri="{FF2B5EF4-FFF2-40B4-BE49-F238E27FC236}">
                <a16:creationId xmlns:a16="http://schemas.microsoft.com/office/drawing/2014/main" id="{8103F03A-BB2C-DB8C-3F5E-BC82B7476E61}"/>
              </a:ext>
            </a:extLst>
          </p:cNvPr>
          <p:cNvSpPr/>
          <p:nvPr/>
        </p:nvSpPr>
        <p:spPr>
          <a:xfrm>
            <a:off x="3986067" y="1928846"/>
            <a:ext cx="3154680" cy="182880"/>
          </a:xfrm>
          <a:prstGeom prst="rect">
            <a:avLst/>
          </a:prstGeom>
          <a:noFill/>
          <a:ln/>
        </p:spPr>
        <p:txBody>
          <a:bodyPr wrap="square" rtlCol="0" anchor="ctr"/>
          <a:lstStyle/>
          <a:p>
            <a:pPr marL="0" indent="0">
              <a:buNone/>
            </a:pPr>
            <a:r>
              <a:rPr lang="en-US" dirty="0">
                <a:solidFill>
                  <a:srgbClr val="1D4ED8"/>
                </a:solidFill>
              </a:rPr>
              <a:t>load_data() / io.py</a:t>
            </a:r>
            <a:endParaRPr lang="en-US" dirty="0"/>
          </a:p>
        </p:txBody>
      </p:sp>
      <p:sp>
        <p:nvSpPr>
          <p:cNvPr id="16" name="Text 15">
            <a:extLst>
              <a:ext uri="{FF2B5EF4-FFF2-40B4-BE49-F238E27FC236}">
                <a16:creationId xmlns:a16="http://schemas.microsoft.com/office/drawing/2014/main" id="{0564C033-0228-9365-BFC6-5975AE5504AB}"/>
              </a:ext>
            </a:extLst>
          </p:cNvPr>
          <p:cNvSpPr/>
          <p:nvPr/>
        </p:nvSpPr>
        <p:spPr>
          <a:xfrm>
            <a:off x="7515651" y="1928846"/>
            <a:ext cx="3703320" cy="621792"/>
          </a:xfrm>
          <a:prstGeom prst="rect">
            <a:avLst/>
          </a:prstGeom>
          <a:noFill/>
          <a:ln/>
        </p:spPr>
        <p:txBody>
          <a:bodyPr wrap="square" rtlCol="0" anchor="ctr"/>
          <a:lstStyle/>
          <a:p>
            <a:pPr marL="0" indent="0">
              <a:buNone/>
            </a:pPr>
            <a:r>
              <a:rPr lang="en-US" dirty="0">
                <a:solidFill>
                  <a:srgbClr val="475569"/>
                </a:solidFill>
              </a:rPr>
              <a:t>separates file reading from scientific logic</a:t>
            </a:r>
            <a:endParaRPr lang="en-US" dirty="0"/>
          </a:p>
        </p:txBody>
      </p:sp>
      <p:sp>
        <p:nvSpPr>
          <p:cNvPr id="17" name="Shape 16">
            <a:extLst>
              <a:ext uri="{FF2B5EF4-FFF2-40B4-BE49-F238E27FC236}">
                <a16:creationId xmlns:a16="http://schemas.microsoft.com/office/drawing/2014/main" id="{4A01AD6F-48DC-0BCE-5646-3D6519FF19F3}"/>
              </a:ext>
            </a:extLst>
          </p:cNvPr>
          <p:cNvSpPr/>
          <p:nvPr/>
        </p:nvSpPr>
        <p:spPr>
          <a:xfrm>
            <a:off x="858819" y="2596358"/>
            <a:ext cx="3017520" cy="621792"/>
          </a:xfrm>
          <a:prstGeom prst="rect">
            <a:avLst/>
          </a:prstGeom>
          <a:solidFill>
            <a:srgbClr val="F1F5F9"/>
          </a:solidFill>
          <a:ln w="12700">
            <a:solidFill>
              <a:srgbClr val="FFFFFF"/>
            </a:solidFill>
            <a:prstDash val="solid"/>
          </a:ln>
        </p:spPr>
        <p:txBody>
          <a:bodyPr/>
          <a:lstStyle/>
          <a:p>
            <a:endParaRPr lang="en-US"/>
          </a:p>
        </p:txBody>
      </p:sp>
      <p:sp>
        <p:nvSpPr>
          <p:cNvPr id="18" name="Shape 17">
            <a:extLst>
              <a:ext uri="{FF2B5EF4-FFF2-40B4-BE49-F238E27FC236}">
                <a16:creationId xmlns:a16="http://schemas.microsoft.com/office/drawing/2014/main" id="{E1F9FEFF-DF00-B5D9-21B9-C7D842B57DBF}"/>
              </a:ext>
            </a:extLst>
          </p:cNvPr>
          <p:cNvSpPr/>
          <p:nvPr/>
        </p:nvSpPr>
        <p:spPr>
          <a:xfrm>
            <a:off x="3876339" y="2596358"/>
            <a:ext cx="3520440" cy="621792"/>
          </a:xfrm>
          <a:prstGeom prst="rect">
            <a:avLst/>
          </a:prstGeom>
          <a:solidFill>
            <a:srgbClr val="F1F5F9"/>
          </a:solidFill>
          <a:ln w="12700">
            <a:solidFill>
              <a:srgbClr val="FFFFFF"/>
            </a:solidFill>
            <a:prstDash val="solid"/>
          </a:ln>
        </p:spPr>
        <p:txBody>
          <a:bodyPr/>
          <a:lstStyle/>
          <a:p>
            <a:endParaRPr lang="en-US"/>
          </a:p>
        </p:txBody>
      </p:sp>
      <p:sp>
        <p:nvSpPr>
          <p:cNvPr id="19" name="Shape 18">
            <a:extLst>
              <a:ext uri="{FF2B5EF4-FFF2-40B4-BE49-F238E27FC236}">
                <a16:creationId xmlns:a16="http://schemas.microsoft.com/office/drawing/2014/main" id="{E880FC24-01B4-907E-33AA-140B85D887FB}"/>
              </a:ext>
            </a:extLst>
          </p:cNvPr>
          <p:cNvSpPr/>
          <p:nvPr/>
        </p:nvSpPr>
        <p:spPr>
          <a:xfrm>
            <a:off x="7396779" y="2596358"/>
            <a:ext cx="4023360" cy="621792"/>
          </a:xfrm>
          <a:prstGeom prst="rect">
            <a:avLst/>
          </a:prstGeom>
          <a:solidFill>
            <a:srgbClr val="F1F5F9"/>
          </a:solidFill>
          <a:ln w="12700">
            <a:solidFill>
              <a:srgbClr val="FFFFFF"/>
            </a:solidFill>
            <a:prstDash val="solid"/>
          </a:ln>
        </p:spPr>
        <p:txBody>
          <a:bodyPr/>
          <a:lstStyle/>
          <a:p>
            <a:endParaRPr lang="en-US"/>
          </a:p>
        </p:txBody>
      </p:sp>
      <p:sp>
        <p:nvSpPr>
          <p:cNvPr id="20" name="Text 19">
            <a:extLst>
              <a:ext uri="{FF2B5EF4-FFF2-40B4-BE49-F238E27FC236}">
                <a16:creationId xmlns:a16="http://schemas.microsoft.com/office/drawing/2014/main" id="{6A30456E-1E87-DAD8-30FB-3C6415D90E7D}"/>
              </a:ext>
            </a:extLst>
          </p:cNvPr>
          <p:cNvSpPr/>
          <p:nvPr/>
        </p:nvSpPr>
        <p:spPr>
          <a:xfrm>
            <a:off x="968547" y="2779238"/>
            <a:ext cx="2651760" cy="182880"/>
          </a:xfrm>
          <a:prstGeom prst="rect">
            <a:avLst/>
          </a:prstGeom>
          <a:noFill/>
          <a:ln/>
        </p:spPr>
        <p:txBody>
          <a:bodyPr wrap="square" rtlCol="0" anchor="ctr"/>
          <a:lstStyle/>
          <a:p>
            <a:pPr marL="0" indent="0">
              <a:buNone/>
            </a:pPr>
            <a:r>
              <a:rPr lang="en-US" sz="2000" dirty="0">
                <a:solidFill>
                  <a:srgbClr val="0F172A"/>
                </a:solidFill>
              </a:rPr>
              <a:t>Quality control</a:t>
            </a:r>
            <a:endParaRPr lang="en-US" sz="2000" dirty="0"/>
          </a:p>
        </p:txBody>
      </p:sp>
      <p:sp>
        <p:nvSpPr>
          <p:cNvPr id="21" name="Text 20">
            <a:extLst>
              <a:ext uri="{FF2B5EF4-FFF2-40B4-BE49-F238E27FC236}">
                <a16:creationId xmlns:a16="http://schemas.microsoft.com/office/drawing/2014/main" id="{DE01A49D-6C58-742E-0C98-E8D204CD37DD}"/>
              </a:ext>
            </a:extLst>
          </p:cNvPr>
          <p:cNvSpPr/>
          <p:nvPr/>
        </p:nvSpPr>
        <p:spPr>
          <a:xfrm>
            <a:off x="3986067" y="2779238"/>
            <a:ext cx="3154680" cy="182880"/>
          </a:xfrm>
          <a:prstGeom prst="rect">
            <a:avLst/>
          </a:prstGeom>
          <a:noFill/>
          <a:ln/>
        </p:spPr>
        <p:txBody>
          <a:bodyPr wrap="square" rtlCol="0" anchor="ctr"/>
          <a:lstStyle/>
          <a:p>
            <a:pPr marL="0" indent="0">
              <a:buNone/>
            </a:pPr>
            <a:r>
              <a:rPr lang="en-US" dirty="0">
                <a:solidFill>
                  <a:srgbClr val="1D4ED8"/>
                </a:solidFill>
              </a:rPr>
              <a:t>validate_inputs() / qc_report()</a:t>
            </a:r>
            <a:endParaRPr lang="en-US" dirty="0"/>
          </a:p>
        </p:txBody>
      </p:sp>
      <p:sp>
        <p:nvSpPr>
          <p:cNvPr id="22" name="Text 21">
            <a:extLst>
              <a:ext uri="{FF2B5EF4-FFF2-40B4-BE49-F238E27FC236}">
                <a16:creationId xmlns:a16="http://schemas.microsoft.com/office/drawing/2014/main" id="{1A97C95B-3F91-D669-EAAF-AE49EDD206C7}"/>
              </a:ext>
            </a:extLst>
          </p:cNvPr>
          <p:cNvSpPr/>
          <p:nvPr/>
        </p:nvSpPr>
        <p:spPr>
          <a:xfrm>
            <a:off x="7515651" y="2715230"/>
            <a:ext cx="3703320" cy="320040"/>
          </a:xfrm>
          <a:prstGeom prst="rect">
            <a:avLst/>
          </a:prstGeom>
          <a:noFill/>
          <a:ln/>
        </p:spPr>
        <p:txBody>
          <a:bodyPr wrap="square" rtlCol="0" anchor="ctr"/>
          <a:lstStyle/>
          <a:p>
            <a:pPr marL="0" indent="0">
              <a:buNone/>
            </a:pPr>
            <a:r>
              <a:rPr lang="en-US" dirty="0">
                <a:solidFill>
                  <a:srgbClr val="475569"/>
                </a:solidFill>
              </a:rPr>
              <a:t>catches structural errors early</a:t>
            </a:r>
            <a:endParaRPr lang="en-US" dirty="0"/>
          </a:p>
        </p:txBody>
      </p:sp>
      <p:sp>
        <p:nvSpPr>
          <p:cNvPr id="23" name="Shape 22">
            <a:extLst>
              <a:ext uri="{FF2B5EF4-FFF2-40B4-BE49-F238E27FC236}">
                <a16:creationId xmlns:a16="http://schemas.microsoft.com/office/drawing/2014/main" id="{C4EA3AD0-1F9A-50F9-F894-264948772855}"/>
              </a:ext>
            </a:extLst>
          </p:cNvPr>
          <p:cNvSpPr/>
          <p:nvPr/>
        </p:nvSpPr>
        <p:spPr>
          <a:xfrm>
            <a:off x="858819" y="3273014"/>
            <a:ext cx="3017520" cy="621792"/>
          </a:xfrm>
          <a:prstGeom prst="rect">
            <a:avLst/>
          </a:prstGeom>
          <a:solidFill>
            <a:srgbClr val="F8FAFC"/>
          </a:solidFill>
          <a:ln w="12700">
            <a:solidFill>
              <a:srgbClr val="FFFFFF"/>
            </a:solidFill>
            <a:prstDash val="solid"/>
          </a:ln>
        </p:spPr>
        <p:txBody>
          <a:bodyPr/>
          <a:lstStyle/>
          <a:p>
            <a:endParaRPr lang="en-US"/>
          </a:p>
        </p:txBody>
      </p:sp>
      <p:sp>
        <p:nvSpPr>
          <p:cNvPr id="24" name="Shape 23">
            <a:extLst>
              <a:ext uri="{FF2B5EF4-FFF2-40B4-BE49-F238E27FC236}">
                <a16:creationId xmlns:a16="http://schemas.microsoft.com/office/drawing/2014/main" id="{93CBF70B-B64F-52E6-7159-6F08CFC78339}"/>
              </a:ext>
            </a:extLst>
          </p:cNvPr>
          <p:cNvSpPr/>
          <p:nvPr/>
        </p:nvSpPr>
        <p:spPr>
          <a:xfrm>
            <a:off x="3876339" y="3273014"/>
            <a:ext cx="3520440" cy="621792"/>
          </a:xfrm>
          <a:prstGeom prst="rect">
            <a:avLst/>
          </a:prstGeom>
          <a:solidFill>
            <a:srgbClr val="F8FAFC"/>
          </a:solidFill>
          <a:ln w="12700">
            <a:solidFill>
              <a:srgbClr val="FFFFFF"/>
            </a:solidFill>
            <a:prstDash val="solid"/>
          </a:ln>
        </p:spPr>
        <p:txBody>
          <a:bodyPr/>
          <a:lstStyle/>
          <a:p>
            <a:endParaRPr lang="en-US"/>
          </a:p>
        </p:txBody>
      </p:sp>
      <p:sp>
        <p:nvSpPr>
          <p:cNvPr id="25" name="Shape 24">
            <a:extLst>
              <a:ext uri="{FF2B5EF4-FFF2-40B4-BE49-F238E27FC236}">
                <a16:creationId xmlns:a16="http://schemas.microsoft.com/office/drawing/2014/main" id="{6A1CD53C-F7EA-EAD0-7855-9EEE8CAA2805}"/>
              </a:ext>
            </a:extLst>
          </p:cNvPr>
          <p:cNvSpPr/>
          <p:nvPr/>
        </p:nvSpPr>
        <p:spPr>
          <a:xfrm>
            <a:off x="7396779" y="3273014"/>
            <a:ext cx="4023360" cy="621792"/>
          </a:xfrm>
          <a:prstGeom prst="rect">
            <a:avLst/>
          </a:prstGeom>
          <a:solidFill>
            <a:srgbClr val="F8FAFC"/>
          </a:solidFill>
          <a:ln w="12700">
            <a:solidFill>
              <a:srgbClr val="FFFFFF"/>
            </a:solidFill>
            <a:prstDash val="solid"/>
          </a:ln>
        </p:spPr>
        <p:txBody>
          <a:bodyPr/>
          <a:lstStyle/>
          <a:p>
            <a:endParaRPr lang="en-US"/>
          </a:p>
        </p:txBody>
      </p:sp>
      <p:sp>
        <p:nvSpPr>
          <p:cNvPr id="26" name="Text 25">
            <a:extLst>
              <a:ext uri="{FF2B5EF4-FFF2-40B4-BE49-F238E27FC236}">
                <a16:creationId xmlns:a16="http://schemas.microsoft.com/office/drawing/2014/main" id="{0FDA4C6C-00D2-7756-B888-98252C80FE6D}"/>
              </a:ext>
            </a:extLst>
          </p:cNvPr>
          <p:cNvSpPr/>
          <p:nvPr/>
        </p:nvSpPr>
        <p:spPr>
          <a:xfrm>
            <a:off x="968547" y="3455894"/>
            <a:ext cx="2651760" cy="182880"/>
          </a:xfrm>
          <a:prstGeom prst="rect">
            <a:avLst/>
          </a:prstGeom>
          <a:noFill/>
          <a:ln/>
        </p:spPr>
        <p:txBody>
          <a:bodyPr wrap="square" rtlCol="0" anchor="ctr"/>
          <a:lstStyle/>
          <a:p>
            <a:pPr marL="0" indent="0">
              <a:buNone/>
            </a:pPr>
            <a:r>
              <a:rPr lang="en-US" sz="2000" dirty="0">
                <a:solidFill>
                  <a:srgbClr val="0F172A"/>
                </a:solidFill>
              </a:rPr>
              <a:t>Preprocessing</a:t>
            </a:r>
            <a:endParaRPr lang="en-US" sz="2000" dirty="0"/>
          </a:p>
        </p:txBody>
      </p:sp>
      <p:sp>
        <p:nvSpPr>
          <p:cNvPr id="27" name="Text 26">
            <a:extLst>
              <a:ext uri="{FF2B5EF4-FFF2-40B4-BE49-F238E27FC236}">
                <a16:creationId xmlns:a16="http://schemas.microsoft.com/office/drawing/2014/main" id="{E45686F8-D828-5BDA-2E8D-077C967FFFB4}"/>
              </a:ext>
            </a:extLst>
          </p:cNvPr>
          <p:cNvSpPr/>
          <p:nvPr/>
        </p:nvSpPr>
        <p:spPr>
          <a:xfrm>
            <a:off x="3986067" y="3455894"/>
            <a:ext cx="3154680" cy="182880"/>
          </a:xfrm>
          <a:prstGeom prst="rect">
            <a:avLst/>
          </a:prstGeom>
          <a:noFill/>
          <a:ln/>
        </p:spPr>
        <p:txBody>
          <a:bodyPr wrap="square" rtlCol="0" anchor="ctr"/>
          <a:lstStyle/>
          <a:p>
            <a:pPr marL="0" indent="0">
              <a:buNone/>
            </a:pPr>
            <a:r>
              <a:rPr lang="en-US" dirty="0">
                <a:solidFill>
                  <a:srgbClr val="1D4ED8"/>
                </a:solidFill>
              </a:rPr>
              <a:t>preprocess_eeg()</a:t>
            </a:r>
            <a:endParaRPr lang="en-US" dirty="0"/>
          </a:p>
        </p:txBody>
      </p:sp>
      <p:sp>
        <p:nvSpPr>
          <p:cNvPr id="28" name="Text 27">
            <a:extLst>
              <a:ext uri="{FF2B5EF4-FFF2-40B4-BE49-F238E27FC236}">
                <a16:creationId xmlns:a16="http://schemas.microsoft.com/office/drawing/2014/main" id="{C009F748-76A7-C661-A0DC-D0C6CFC9D21F}"/>
              </a:ext>
            </a:extLst>
          </p:cNvPr>
          <p:cNvSpPr/>
          <p:nvPr/>
        </p:nvSpPr>
        <p:spPr>
          <a:xfrm>
            <a:off x="7515651" y="3391886"/>
            <a:ext cx="3703320" cy="320040"/>
          </a:xfrm>
          <a:prstGeom prst="rect">
            <a:avLst/>
          </a:prstGeom>
          <a:noFill/>
          <a:ln/>
        </p:spPr>
        <p:txBody>
          <a:bodyPr wrap="square" rtlCol="0" anchor="ctr"/>
          <a:lstStyle/>
          <a:p>
            <a:pPr marL="0" indent="0">
              <a:buNone/>
            </a:pPr>
            <a:r>
              <a:rPr lang="en-US" dirty="0">
                <a:solidFill>
                  <a:srgbClr val="475569"/>
                </a:solidFill>
              </a:rPr>
              <a:t>reusable across multiple analyses</a:t>
            </a:r>
            <a:endParaRPr lang="en-US" dirty="0"/>
          </a:p>
        </p:txBody>
      </p:sp>
      <p:sp>
        <p:nvSpPr>
          <p:cNvPr id="29" name="Shape 28">
            <a:extLst>
              <a:ext uri="{FF2B5EF4-FFF2-40B4-BE49-F238E27FC236}">
                <a16:creationId xmlns:a16="http://schemas.microsoft.com/office/drawing/2014/main" id="{AA8761A9-CC0A-31D7-E4BF-DB7A4AB918BC}"/>
              </a:ext>
            </a:extLst>
          </p:cNvPr>
          <p:cNvSpPr/>
          <p:nvPr/>
        </p:nvSpPr>
        <p:spPr>
          <a:xfrm>
            <a:off x="858819" y="3949670"/>
            <a:ext cx="3017520" cy="621792"/>
          </a:xfrm>
          <a:prstGeom prst="rect">
            <a:avLst/>
          </a:prstGeom>
          <a:solidFill>
            <a:srgbClr val="F1F5F9"/>
          </a:solidFill>
          <a:ln w="12700">
            <a:solidFill>
              <a:srgbClr val="FFFFFF"/>
            </a:solidFill>
            <a:prstDash val="solid"/>
          </a:ln>
        </p:spPr>
        <p:txBody>
          <a:bodyPr/>
          <a:lstStyle/>
          <a:p>
            <a:endParaRPr lang="en-US"/>
          </a:p>
        </p:txBody>
      </p:sp>
      <p:sp>
        <p:nvSpPr>
          <p:cNvPr id="30" name="Shape 29">
            <a:extLst>
              <a:ext uri="{FF2B5EF4-FFF2-40B4-BE49-F238E27FC236}">
                <a16:creationId xmlns:a16="http://schemas.microsoft.com/office/drawing/2014/main" id="{F2307F6D-0FCC-601F-C387-F068C0971AA8}"/>
              </a:ext>
            </a:extLst>
          </p:cNvPr>
          <p:cNvSpPr/>
          <p:nvPr/>
        </p:nvSpPr>
        <p:spPr>
          <a:xfrm>
            <a:off x="3876339" y="3949670"/>
            <a:ext cx="3520440" cy="621792"/>
          </a:xfrm>
          <a:prstGeom prst="rect">
            <a:avLst/>
          </a:prstGeom>
          <a:solidFill>
            <a:srgbClr val="F1F5F9"/>
          </a:solidFill>
          <a:ln w="12700">
            <a:solidFill>
              <a:srgbClr val="FFFFFF"/>
            </a:solidFill>
            <a:prstDash val="solid"/>
          </a:ln>
        </p:spPr>
        <p:txBody>
          <a:bodyPr/>
          <a:lstStyle/>
          <a:p>
            <a:endParaRPr lang="en-US"/>
          </a:p>
        </p:txBody>
      </p:sp>
      <p:sp>
        <p:nvSpPr>
          <p:cNvPr id="31" name="Shape 30">
            <a:extLst>
              <a:ext uri="{FF2B5EF4-FFF2-40B4-BE49-F238E27FC236}">
                <a16:creationId xmlns:a16="http://schemas.microsoft.com/office/drawing/2014/main" id="{364E82FD-C0A5-DC91-5FA9-AC5CB7F35EA3}"/>
              </a:ext>
            </a:extLst>
          </p:cNvPr>
          <p:cNvSpPr/>
          <p:nvPr/>
        </p:nvSpPr>
        <p:spPr>
          <a:xfrm>
            <a:off x="7396779" y="3949670"/>
            <a:ext cx="4023360" cy="621792"/>
          </a:xfrm>
          <a:prstGeom prst="rect">
            <a:avLst/>
          </a:prstGeom>
          <a:solidFill>
            <a:srgbClr val="F1F5F9"/>
          </a:solidFill>
          <a:ln w="12700">
            <a:solidFill>
              <a:srgbClr val="FFFFFF"/>
            </a:solidFill>
            <a:prstDash val="solid"/>
          </a:ln>
        </p:spPr>
        <p:txBody>
          <a:bodyPr/>
          <a:lstStyle/>
          <a:p>
            <a:endParaRPr lang="en-US"/>
          </a:p>
        </p:txBody>
      </p:sp>
      <p:sp>
        <p:nvSpPr>
          <p:cNvPr id="32" name="Text 31">
            <a:extLst>
              <a:ext uri="{FF2B5EF4-FFF2-40B4-BE49-F238E27FC236}">
                <a16:creationId xmlns:a16="http://schemas.microsoft.com/office/drawing/2014/main" id="{ED203418-1BF2-B71C-306A-7426354EE5B4}"/>
              </a:ext>
            </a:extLst>
          </p:cNvPr>
          <p:cNvSpPr/>
          <p:nvPr/>
        </p:nvSpPr>
        <p:spPr>
          <a:xfrm>
            <a:off x="968547" y="4132550"/>
            <a:ext cx="2651760" cy="182880"/>
          </a:xfrm>
          <a:prstGeom prst="rect">
            <a:avLst/>
          </a:prstGeom>
          <a:noFill/>
          <a:ln/>
        </p:spPr>
        <p:txBody>
          <a:bodyPr wrap="square" rtlCol="0" anchor="ctr"/>
          <a:lstStyle/>
          <a:p>
            <a:pPr marL="0" indent="0">
              <a:buNone/>
            </a:pPr>
            <a:r>
              <a:rPr lang="en-US" sz="2000" dirty="0">
                <a:solidFill>
                  <a:srgbClr val="0F172A"/>
                </a:solidFill>
              </a:rPr>
              <a:t>Feature extraction</a:t>
            </a:r>
            <a:endParaRPr lang="en-US" sz="2000" dirty="0"/>
          </a:p>
        </p:txBody>
      </p:sp>
      <p:sp>
        <p:nvSpPr>
          <p:cNvPr id="33" name="Text 32">
            <a:extLst>
              <a:ext uri="{FF2B5EF4-FFF2-40B4-BE49-F238E27FC236}">
                <a16:creationId xmlns:a16="http://schemas.microsoft.com/office/drawing/2014/main" id="{9DE8FA38-4EFC-215A-B773-1414CABEA873}"/>
              </a:ext>
            </a:extLst>
          </p:cNvPr>
          <p:cNvSpPr/>
          <p:nvPr/>
        </p:nvSpPr>
        <p:spPr>
          <a:xfrm>
            <a:off x="3986067" y="4132550"/>
            <a:ext cx="3154680" cy="182880"/>
          </a:xfrm>
          <a:prstGeom prst="rect">
            <a:avLst/>
          </a:prstGeom>
          <a:noFill/>
          <a:ln/>
        </p:spPr>
        <p:txBody>
          <a:bodyPr wrap="square" rtlCol="0" anchor="ctr"/>
          <a:lstStyle/>
          <a:p>
            <a:pPr marL="0" indent="0">
              <a:buNone/>
            </a:pPr>
            <a:r>
              <a:rPr lang="en-US" dirty="0">
                <a:solidFill>
                  <a:srgbClr val="1D4ED8"/>
                </a:solidFill>
              </a:rPr>
              <a:t>extract_features()</a:t>
            </a:r>
            <a:endParaRPr lang="en-US" dirty="0"/>
          </a:p>
        </p:txBody>
      </p:sp>
      <p:sp>
        <p:nvSpPr>
          <p:cNvPr id="34" name="Text 33">
            <a:extLst>
              <a:ext uri="{FF2B5EF4-FFF2-40B4-BE49-F238E27FC236}">
                <a16:creationId xmlns:a16="http://schemas.microsoft.com/office/drawing/2014/main" id="{C73ACBB5-D0E5-E35B-C26E-491507F54E41}"/>
              </a:ext>
            </a:extLst>
          </p:cNvPr>
          <p:cNvSpPr/>
          <p:nvPr/>
        </p:nvSpPr>
        <p:spPr>
          <a:xfrm>
            <a:off x="7515651" y="4068542"/>
            <a:ext cx="3703320" cy="320040"/>
          </a:xfrm>
          <a:prstGeom prst="rect">
            <a:avLst/>
          </a:prstGeom>
          <a:noFill/>
          <a:ln/>
        </p:spPr>
        <p:txBody>
          <a:bodyPr wrap="square" rtlCol="0" anchor="ctr"/>
          <a:lstStyle/>
          <a:p>
            <a:pPr marL="0" indent="0">
              <a:buNone/>
            </a:pPr>
            <a:r>
              <a:rPr lang="en-US" dirty="0">
                <a:solidFill>
                  <a:srgbClr val="475569"/>
                </a:solidFill>
              </a:rPr>
              <a:t>creates analysis-ready variables</a:t>
            </a:r>
            <a:endParaRPr lang="en-US" dirty="0"/>
          </a:p>
        </p:txBody>
      </p:sp>
      <p:sp>
        <p:nvSpPr>
          <p:cNvPr id="35" name="Shape 34">
            <a:extLst>
              <a:ext uri="{FF2B5EF4-FFF2-40B4-BE49-F238E27FC236}">
                <a16:creationId xmlns:a16="http://schemas.microsoft.com/office/drawing/2014/main" id="{AA1A262F-0DFF-8501-60A7-3BBD91BCAC24}"/>
              </a:ext>
            </a:extLst>
          </p:cNvPr>
          <p:cNvSpPr/>
          <p:nvPr/>
        </p:nvSpPr>
        <p:spPr>
          <a:xfrm>
            <a:off x="858819" y="4626326"/>
            <a:ext cx="3017520" cy="621792"/>
          </a:xfrm>
          <a:prstGeom prst="rect">
            <a:avLst/>
          </a:prstGeom>
          <a:solidFill>
            <a:srgbClr val="F8FAFC"/>
          </a:solidFill>
          <a:ln w="12700">
            <a:solidFill>
              <a:srgbClr val="FFFFFF"/>
            </a:solidFill>
            <a:prstDash val="solid"/>
          </a:ln>
        </p:spPr>
        <p:txBody>
          <a:bodyPr/>
          <a:lstStyle/>
          <a:p>
            <a:endParaRPr lang="en-US"/>
          </a:p>
        </p:txBody>
      </p:sp>
      <p:sp>
        <p:nvSpPr>
          <p:cNvPr id="36" name="Shape 35">
            <a:extLst>
              <a:ext uri="{FF2B5EF4-FFF2-40B4-BE49-F238E27FC236}">
                <a16:creationId xmlns:a16="http://schemas.microsoft.com/office/drawing/2014/main" id="{1CE1A66A-A027-2373-F597-9289A859C9E1}"/>
              </a:ext>
            </a:extLst>
          </p:cNvPr>
          <p:cNvSpPr/>
          <p:nvPr/>
        </p:nvSpPr>
        <p:spPr>
          <a:xfrm>
            <a:off x="3876339" y="4626326"/>
            <a:ext cx="3520440" cy="621792"/>
          </a:xfrm>
          <a:prstGeom prst="rect">
            <a:avLst/>
          </a:prstGeom>
          <a:solidFill>
            <a:srgbClr val="F8FAFC"/>
          </a:solidFill>
          <a:ln w="12700">
            <a:solidFill>
              <a:srgbClr val="FFFFFF"/>
            </a:solidFill>
            <a:prstDash val="solid"/>
          </a:ln>
        </p:spPr>
        <p:txBody>
          <a:bodyPr/>
          <a:lstStyle/>
          <a:p>
            <a:endParaRPr lang="en-US"/>
          </a:p>
        </p:txBody>
      </p:sp>
      <p:sp>
        <p:nvSpPr>
          <p:cNvPr id="37" name="Shape 36">
            <a:extLst>
              <a:ext uri="{FF2B5EF4-FFF2-40B4-BE49-F238E27FC236}">
                <a16:creationId xmlns:a16="http://schemas.microsoft.com/office/drawing/2014/main" id="{1DD4FE26-E69F-5778-B553-12D59CDD2874}"/>
              </a:ext>
            </a:extLst>
          </p:cNvPr>
          <p:cNvSpPr/>
          <p:nvPr/>
        </p:nvSpPr>
        <p:spPr>
          <a:xfrm>
            <a:off x="7396779" y="4626326"/>
            <a:ext cx="4023360" cy="621792"/>
          </a:xfrm>
          <a:prstGeom prst="rect">
            <a:avLst/>
          </a:prstGeom>
          <a:solidFill>
            <a:srgbClr val="F8FAFC"/>
          </a:solidFill>
          <a:ln w="12700">
            <a:solidFill>
              <a:srgbClr val="FFFFFF"/>
            </a:solidFill>
            <a:prstDash val="solid"/>
          </a:ln>
        </p:spPr>
        <p:txBody>
          <a:bodyPr/>
          <a:lstStyle/>
          <a:p>
            <a:endParaRPr lang="en-US"/>
          </a:p>
        </p:txBody>
      </p:sp>
      <p:sp>
        <p:nvSpPr>
          <p:cNvPr id="38" name="Text 37">
            <a:extLst>
              <a:ext uri="{FF2B5EF4-FFF2-40B4-BE49-F238E27FC236}">
                <a16:creationId xmlns:a16="http://schemas.microsoft.com/office/drawing/2014/main" id="{58050C59-8112-ADC1-8D3E-8FBAE8E92477}"/>
              </a:ext>
            </a:extLst>
          </p:cNvPr>
          <p:cNvSpPr/>
          <p:nvPr/>
        </p:nvSpPr>
        <p:spPr>
          <a:xfrm>
            <a:off x="968547" y="4745198"/>
            <a:ext cx="2651760" cy="182880"/>
          </a:xfrm>
          <a:prstGeom prst="rect">
            <a:avLst/>
          </a:prstGeom>
          <a:noFill/>
          <a:ln/>
        </p:spPr>
        <p:txBody>
          <a:bodyPr wrap="square" rtlCol="0" anchor="ctr"/>
          <a:lstStyle/>
          <a:p>
            <a:pPr marL="0" indent="0">
              <a:buNone/>
            </a:pPr>
            <a:r>
              <a:rPr lang="en-US" sz="2000" dirty="0">
                <a:solidFill>
                  <a:srgbClr val="0F172A"/>
                </a:solidFill>
              </a:rPr>
              <a:t>Statistics / model</a:t>
            </a:r>
            <a:endParaRPr lang="en-US" sz="2000" dirty="0"/>
          </a:p>
        </p:txBody>
      </p:sp>
      <p:sp>
        <p:nvSpPr>
          <p:cNvPr id="39" name="Text 38">
            <a:extLst>
              <a:ext uri="{FF2B5EF4-FFF2-40B4-BE49-F238E27FC236}">
                <a16:creationId xmlns:a16="http://schemas.microsoft.com/office/drawing/2014/main" id="{D8169A80-FF6B-E129-A12A-A8A8D19125E3}"/>
              </a:ext>
            </a:extLst>
          </p:cNvPr>
          <p:cNvSpPr/>
          <p:nvPr/>
        </p:nvSpPr>
        <p:spPr>
          <a:xfrm>
            <a:off x="3986067" y="4745198"/>
            <a:ext cx="3154680" cy="182880"/>
          </a:xfrm>
          <a:prstGeom prst="rect">
            <a:avLst/>
          </a:prstGeom>
          <a:noFill/>
          <a:ln/>
        </p:spPr>
        <p:txBody>
          <a:bodyPr wrap="square" rtlCol="0" anchor="ctr"/>
          <a:lstStyle/>
          <a:p>
            <a:pPr marL="0" indent="0">
              <a:buNone/>
            </a:pPr>
            <a:r>
              <a:rPr lang="en-US" dirty="0">
                <a:solidFill>
                  <a:srgbClr val="1D4ED8"/>
                </a:solidFill>
              </a:rPr>
              <a:t>run_statistics() / fit_model()</a:t>
            </a:r>
            <a:endParaRPr lang="en-US" dirty="0"/>
          </a:p>
        </p:txBody>
      </p:sp>
      <p:sp>
        <p:nvSpPr>
          <p:cNvPr id="40" name="Text 39">
            <a:extLst>
              <a:ext uri="{FF2B5EF4-FFF2-40B4-BE49-F238E27FC236}">
                <a16:creationId xmlns:a16="http://schemas.microsoft.com/office/drawing/2014/main" id="{D2C88E29-23C4-EF7A-08E4-6CAF43ED8A7B}"/>
              </a:ext>
            </a:extLst>
          </p:cNvPr>
          <p:cNvSpPr/>
          <p:nvPr/>
        </p:nvSpPr>
        <p:spPr>
          <a:xfrm>
            <a:off x="7515651" y="4745198"/>
            <a:ext cx="3703320" cy="502920"/>
          </a:xfrm>
          <a:prstGeom prst="rect">
            <a:avLst/>
          </a:prstGeom>
          <a:noFill/>
          <a:ln/>
        </p:spPr>
        <p:txBody>
          <a:bodyPr wrap="square" rtlCol="0" anchor="ctr"/>
          <a:lstStyle/>
          <a:p>
            <a:pPr marL="0" indent="0">
              <a:buNone/>
            </a:pPr>
            <a:r>
              <a:rPr lang="en-US" dirty="0">
                <a:solidFill>
                  <a:srgbClr val="475569"/>
                </a:solidFill>
              </a:rPr>
              <a:t>keeps inference explicit and auditable</a:t>
            </a:r>
            <a:endParaRPr lang="en-US" dirty="0"/>
          </a:p>
        </p:txBody>
      </p:sp>
      <p:sp>
        <p:nvSpPr>
          <p:cNvPr id="41" name="Shape 40">
            <a:extLst>
              <a:ext uri="{FF2B5EF4-FFF2-40B4-BE49-F238E27FC236}">
                <a16:creationId xmlns:a16="http://schemas.microsoft.com/office/drawing/2014/main" id="{C7FD851A-C406-6556-9C76-EC538223EBF4}"/>
              </a:ext>
            </a:extLst>
          </p:cNvPr>
          <p:cNvSpPr/>
          <p:nvPr/>
        </p:nvSpPr>
        <p:spPr>
          <a:xfrm>
            <a:off x="858819" y="5302982"/>
            <a:ext cx="3017520" cy="840182"/>
          </a:xfrm>
          <a:prstGeom prst="rect">
            <a:avLst/>
          </a:prstGeom>
          <a:solidFill>
            <a:srgbClr val="F1F5F9"/>
          </a:solidFill>
          <a:ln w="12700">
            <a:solidFill>
              <a:srgbClr val="FFFFFF"/>
            </a:solidFill>
            <a:prstDash val="solid"/>
          </a:ln>
        </p:spPr>
        <p:txBody>
          <a:bodyPr/>
          <a:lstStyle/>
          <a:p>
            <a:endParaRPr lang="en-US"/>
          </a:p>
        </p:txBody>
      </p:sp>
      <p:sp>
        <p:nvSpPr>
          <p:cNvPr id="42" name="Shape 41">
            <a:extLst>
              <a:ext uri="{FF2B5EF4-FFF2-40B4-BE49-F238E27FC236}">
                <a16:creationId xmlns:a16="http://schemas.microsoft.com/office/drawing/2014/main" id="{3B4B5499-FB48-5053-52EE-39AB304B90F0}"/>
              </a:ext>
            </a:extLst>
          </p:cNvPr>
          <p:cNvSpPr/>
          <p:nvPr/>
        </p:nvSpPr>
        <p:spPr>
          <a:xfrm>
            <a:off x="3876339" y="5302982"/>
            <a:ext cx="3520440" cy="840182"/>
          </a:xfrm>
          <a:prstGeom prst="rect">
            <a:avLst/>
          </a:prstGeom>
          <a:solidFill>
            <a:srgbClr val="F1F5F9"/>
          </a:solidFill>
          <a:ln w="12700">
            <a:solidFill>
              <a:srgbClr val="FFFFFF"/>
            </a:solidFill>
            <a:prstDash val="solid"/>
          </a:ln>
        </p:spPr>
        <p:txBody>
          <a:bodyPr/>
          <a:lstStyle/>
          <a:p>
            <a:endParaRPr lang="en-US"/>
          </a:p>
        </p:txBody>
      </p:sp>
      <p:sp>
        <p:nvSpPr>
          <p:cNvPr id="43" name="Shape 42">
            <a:extLst>
              <a:ext uri="{FF2B5EF4-FFF2-40B4-BE49-F238E27FC236}">
                <a16:creationId xmlns:a16="http://schemas.microsoft.com/office/drawing/2014/main" id="{773C3D65-6042-D6A6-7C8B-2C47B1E530E8}"/>
              </a:ext>
            </a:extLst>
          </p:cNvPr>
          <p:cNvSpPr/>
          <p:nvPr/>
        </p:nvSpPr>
        <p:spPr>
          <a:xfrm>
            <a:off x="7396779" y="5302982"/>
            <a:ext cx="4023360" cy="840182"/>
          </a:xfrm>
          <a:prstGeom prst="rect">
            <a:avLst/>
          </a:prstGeom>
          <a:solidFill>
            <a:srgbClr val="F1F5F9"/>
          </a:solidFill>
          <a:ln w="12700">
            <a:solidFill>
              <a:srgbClr val="FFFFFF"/>
            </a:solidFill>
            <a:prstDash val="solid"/>
          </a:ln>
        </p:spPr>
        <p:txBody>
          <a:bodyPr/>
          <a:lstStyle/>
          <a:p>
            <a:endParaRPr lang="en-US"/>
          </a:p>
        </p:txBody>
      </p:sp>
      <p:sp>
        <p:nvSpPr>
          <p:cNvPr id="44" name="Text 43">
            <a:extLst>
              <a:ext uri="{FF2B5EF4-FFF2-40B4-BE49-F238E27FC236}">
                <a16:creationId xmlns:a16="http://schemas.microsoft.com/office/drawing/2014/main" id="{93C91F41-5FA7-02DC-5316-D320A079C5EB}"/>
              </a:ext>
            </a:extLst>
          </p:cNvPr>
          <p:cNvSpPr/>
          <p:nvPr/>
        </p:nvSpPr>
        <p:spPr>
          <a:xfrm>
            <a:off x="968547" y="5485862"/>
            <a:ext cx="2651760" cy="247112"/>
          </a:xfrm>
          <a:prstGeom prst="rect">
            <a:avLst/>
          </a:prstGeom>
          <a:noFill/>
          <a:ln/>
        </p:spPr>
        <p:txBody>
          <a:bodyPr wrap="square" rtlCol="0" anchor="ctr"/>
          <a:lstStyle/>
          <a:p>
            <a:pPr marL="0" indent="0">
              <a:buNone/>
            </a:pPr>
            <a:r>
              <a:rPr lang="en-US" sz="2000" dirty="0">
                <a:solidFill>
                  <a:srgbClr val="0F172A"/>
                </a:solidFill>
              </a:rPr>
              <a:t>Visualization / export</a:t>
            </a:r>
            <a:endParaRPr lang="en-US" sz="2000" dirty="0"/>
          </a:p>
        </p:txBody>
      </p:sp>
      <p:sp>
        <p:nvSpPr>
          <p:cNvPr id="45" name="Text 44">
            <a:extLst>
              <a:ext uri="{FF2B5EF4-FFF2-40B4-BE49-F238E27FC236}">
                <a16:creationId xmlns:a16="http://schemas.microsoft.com/office/drawing/2014/main" id="{048FAB6A-8CBD-7573-AAD2-1735B4446722}"/>
              </a:ext>
            </a:extLst>
          </p:cNvPr>
          <p:cNvSpPr/>
          <p:nvPr/>
        </p:nvSpPr>
        <p:spPr>
          <a:xfrm>
            <a:off x="3986067" y="5485862"/>
            <a:ext cx="3154680" cy="247112"/>
          </a:xfrm>
          <a:prstGeom prst="rect">
            <a:avLst/>
          </a:prstGeom>
          <a:noFill/>
          <a:ln/>
        </p:spPr>
        <p:txBody>
          <a:bodyPr wrap="square" rtlCol="0" anchor="ctr"/>
          <a:lstStyle/>
          <a:p>
            <a:pPr marL="0" indent="0">
              <a:buNone/>
            </a:pPr>
            <a:r>
              <a:rPr lang="en-US" dirty="0">
                <a:solidFill>
                  <a:srgbClr val="1D4ED8"/>
                </a:solidFill>
              </a:rPr>
              <a:t>plot_results() / save_outputs()</a:t>
            </a:r>
            <a:endParaRPr lang="en-US" dirty="0"/>
          </a:p>
        </p:txBody>
      </p:sp>
      <p:sp>
        <p:nvSpPr>
          <p:cNvPr id="46" name="Text 45">
            <a:extLst>
              <a:ext uri="{FF2B5EF4-FFF2-40B4-BE49-F238E27FC236}">
                <a16:creationId xmlns:a16="http://schemas.microsoft.com/office/drawing/2014/main" id="{CBA5AD83-5F04-BA55-ED14-9B265A1F5744}"/>
              </a:ext>
            </a:extLst>
          </p:cNvPr>
          <p:cNvSpPr/>
          <p:nvPr/>
        </p:nvSpPr>
        <p:spPr>
          <a:xfrm>
            <a:off x="7515651" y="5485862"/>
            <a:ext cx="3703320" cy="432447"/>
          </a:xfrm>
          <a:prstGeom prst="rect">
            <a:avLst/>
          </a:prstGeom>
          <a:noFill/>
          <a:ln/>
        </p:spPr>
        <p:txBody>
          <a:bodyPr wrap="square" rtlCol="0" anchor="ctr"/>
          <a:lstStyle/>
          <a:p>
            <a:pPr marL="0" indent="0">
              <a:buNone/>
            </a:pPr>
            <a:r>
              <a:rPr lang="en-US" dirty="0">
                <a:solidFill>
                  <a:srgbClr val="475569"/>
                </a:solidFill>
              </a:rPr>
              <a:t>supports communication and reproducibility</a:t>
            </a:r>
            <a:endParaRPr lang="en-US" dirty="0"/>
          </a:p>
        </p:txBody>
      </p:sp>
    </p:spTree>
    <p:extLst>
      <p:ext uri="{BB962C8B-B14F-4D97-AF65-F5344CB8AC3E}">
        <p14:creationId xmlns:p14="http://schemas.microsoft.com/office/powerpoint/2010/main" val="309845147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D7FC192-5FD8-6783-8A90-746E70F54509}"/>
            </a:ext>
          </a:extLst>
        </p:cNvPr>
        <p:cNvGrpSpPr/>
        <p:nvPr/>
      </p:nvGrpSpPr>
      <p:grpSpPr>
        <a:xfrm>
          <a:off x="0" y="0"/>
          <a:ext cx="0" cy="0"/>
          <a:chOff x="0" y="0"/>
          <a:chExt cx="0" cy="0"/>
        </a:xfrm>
      </p:grpSpPr>
      <p:sp>
        <p:nvSpPr>
          <p:cNvPr id="4" name="Text 2">
            <a:extLst>
              <a:ext uri="{FF2B5EF4-FFF2-40B4-BE49-F238E27FC236}">
                <a16:creationId xmlns:a16="http://schemas.microsoft.com/office/drawing/2014/main" id="{BA002652-BFBE-53D0-2845-E77E76AC0032}"/>
              </a:ext>
            </a:extLst>
          </p:cNvPr>
          <p:cNvSpPr/>
          <p:nvPr/>
        </p:nvSpPr>
        <p:spPr>
          <a:xfrm>
            <a:off x="502920" y="137014"/>
            <a:ext cx="8046720" cy="786531"/>
          </a:xfrm>
          <a:prstGeom prst="rect">
            <a:avLst/>
          </a:prstGeom>
          <a:noFill/>
          <a:ln/>
        </p:spPr>
        <p:txBody>
          <a:bodyPr wrap="square" rtlCol="0" anchor="ctr"/>
          <a:lstStyle/>
          <a:p>
            <a:r>
              <a:rPr lang="en-US" sz="2700" dirty="0">
                <a:solidFill>
                  <a:srgbClr val="0F172A"/>
                </a:solidFill>
                <a:latin typeface="Aptos Display" pitchFamily="34" charset="0"/>
                <a:ea typeface="Aptos Display" pitchFamily="34" charset="-122"/>
                <a:cs typeface="Aptos Display" pitchFamily="34" charset="-120"/>
              </a:rPr>
              <a:t>Common mistakes and better design moves</a:t>
            </a:r>
          </a:p>
        </p:txBody>
      </p:sp>
      <p:sp>
        <p:nvSpPr>
          <p:cNvPr id="5" name="Shape 3">
            <a:extLst>
              <a:ext uri="{FF2B5EF4-FFF2-40B4-BE49-F238E27FC236}">
                <a16:creationId xmlns:a16="http://schemas.microsoft.com/office/drawing/2014/main" id="{67238997-A85B-358C-FE48-9D138F5076D3}"/>
              </a:ext>
            </a:extLst>
          </p:cNvPr>
          <p:cNvSpPr/>
          <p:nvPr/>
        </p:nvSpPr>
        <p:spPr>
          <a:xfrm>
            <a:off x="518160" y="956224"/>
            <a:ext cx="11155680" cy="0"/>
          </a:xfrm>
          <a:prstGeom prst="line">
            <a:avLst/>
          </a:prstGeom>
          <a:noFill/>
          <a:ln w="12700">
            <a:solidFill>
              <a:srgbClr val="CBD5E1"/>
            </a:solidFill>
            <a:prstDash val="solid"/>
          </a:ln>
        </p:spPr>
        <p:txBody>
          <a:bodyPr/>
          <a:lstStyle/>
          <a:p>
            <a:endParaRPr lang="en-US"/>
          </a:p>
        </p:txBody>
      </p:sp>
      <p:sp>
        <p:nvSpPr>
          <p:cNvPr id="7" name="Shape 4">
            <a:extLst>
              <a:ext uri="{FF2B5EF4-FFF2-40B4-BE49-F238E27FC236}">
                <a16:creationId xmlns:a16="http://schemas.microsoft.com/office/drawing/2014/main" id="{0A72A491-568D-49BA-3356-20FEA1EA2522}"/>
              </a:ext>
            </a:extLst>
          </p:cNvPr>
          <p:cNvSpPr/>
          <p:nvPr/>
        </p:nvSpPr>
        <p:spPr>
          <a:xfrm>
            <a:off x="777240" y="1545336"/>
            <a:ext cx="4754880" cy="4526280"/>
          </a:xfrm>
          <a:prstGeom prst="roundRect">
            <a:avLst>
              <a:gd name="adj" fmla="val 1616"/>
            </a:avLst>
          </a:prstGeom>
          <a:solidFill>
            <a:srgbClr val="FEF2F2"/>
          </a:solidFill>
          <a:ln w="12700">
            <a:solidFill>
              <a:srgbClr val="FECACA"/>
            </a:solidFill>
            <a:prstDash val="solid"/>
          </a:ln>
        </p:spPr>
        <p:txBody>
          <a:bodyPr/>
          <a:lstStyle/>
          <a:p>
            <a:pPr algn="ctr"/>
            <a:endParaRPr lang="en-US" sz="1050" b="1" dirty="0">
              <a:solidFill>
                <a:srgbClr val="C00000"/>
              </a:solidFill>
            </a:endParaRPr>
          </a:p>
          <a:p>
            <a:pPr algn="ctr"/>
            <a:r>
              <a:rPr lang="en-US" sz="2400" b="1" dirty="0">
                <a:solidFill>
                  <a:srgbClr val="C00000"/>
                </a:solidFill>
              </a:rPr>
              <a:t>Mistake</a:t>
            </a:r>
            <a:endParaRPr lang="en-US" b="1" dirty="0">
              <a:solidFill>
                <a:srgbClr val="C00000"/>
              </a:solidFill>
            </a:endParaRPr>
          </a:p>
        </p:txBody>
      </p:sp>
      <p:sp>
        <p:nvSpPr>
          <p:cNvPr id="8" name="Shape 5">
            <a:extLst>
              <a:ext uri="{FF2B5EF4-FFF2-40B4-BE49-F238E27FC236}">
                <a16:creationId xmlns:a16="http://schemas.microsoft.com/office/drawing/2014/main" id="{2AE714D6-A5CC-64B4-CD22-97CE8686A539}"/>
              </a:ext>
            </a:extLst>
          </p:cNvPr>
          <p:cNvSpPr/>
          <p:nvPr/>
        </p:nvSpPr>
        <p:spPr>
          <a:xfrm>
            <a:off x="6656832" y="1545336"/>
            <a:ext cx="4754880" cy="4526280"/>
          </a:xfrm>
          <a:prstGeom prst="roundRect">
            <a:avLst>
              <a:gd name="adj" fmla="val 1616"/>
            </a:avLst>
          </a:prstGeom>
          <a:solidFill>
            <a:srgbClr val="F0FDF4"/>
          </a:solidFill>
          <a:ln w="12700">
            <a:solidFill>
              <a:srgbClr val="BBF7D0"/>
            </a:solidFill>
            <a:prstDash val="solid"/>
          </a:ln>
        </p:spPr>
        <p:txBody>
          <a:bodyPr/>
          <a:lstStyle/>
          <a:p>
            <a:pPr algn="ctr"/>
            <a:endParaRPr lang="en-US" sz="1000" b="1" dirty="0">
              <a:solidFill>
                <a:srgbClr val="C00000"/>
              </a:solidFill>
            </a:endParaRPr>
          </a:p>
          <a:p>
            <a:pPr algn="ctr"/>
            <a:r>
              <a:rPr lang="en-US" sz="2400" b="1" dirty="0">
                <a:solidFill>
                  <a:schemeClr val="accent6">
                    <a:lumMod val="75000"/>
                  </a:schemeClr>
                </a:solidFill>
              </a:rPr>
              <a:t>Better design move</a:t>
            </a:r>
          </a:p>
          <a:p>
            <a:endParaRPr lang="en-US" dirty="0"/>
          </a:p>
        </p:txBody>
      </p:sp>
      <p:sp>
        <p:nvSpPr>
          <p:cNvPr id="11" name="Text 8">
            <a:extLst>
              <a:ext uri="{FF2B5EF4-FFF2-40B4-BE49-F238E27FC236}">
                <a16:creationId xmlns:a16="http://schemas.microsoft.com/office/drawing/2014/main" id="{A9AD032A-72FC-D513-C165-A7FD0C9D89A2}"/>
              </a:ext>
            </a:extLst>
          </p:cNvPr>
          <p:cNvSpPr/>
          <p:nvPr/>
        </p:nvSpPr>
        <p:spPr>
          <a:xfrm>
            <a:off x="1051560" y="2322576"/>
            <a:ext cx="4069080" cy="689696"/>
          </a:xfrm>
          <a:prstGeom prst="rect">
            <a:avLst/>
          </a:prstGeom>
          <a:noFill/>
          <a:ln/>
        </p:spPr>
        <p:txBody>
          <a:bodyPr wrap="square" rtlCol="0" anchor="ctr"/>
          <a:lstStyle/>
          <a:p>
            <a:pPr marL="342900" indent="-342900">
              <a:buFont typeface="Arial" panose="020B0604020202020204" pitchFamily="34" charset="0"/>
              <a:buChar char="•"/>
            </a:pPr>
            <a:r>
              <a:rPr lang="en-US" sz="2000" dirty="0">
                <a:solidFill>
                  <a:srgbClr val="0F172A"/>
                </a:solidFill>
              </a:rPr>
              <a:t>Start coding without a pipeline sketch</a:t>
            </a:r>
            <a:endParaRPr lang="en-US" sz="2000" dirty="0"/>
          </a:p>
        </p:txBody>
      </p:sp>
      <p:sp>
        <p:nvSpPr>
          <p:cNvPr id="12" name="Text 9">
            <a:extLst>
              <a:ext uri="{FF2B5EF4-FFF2-40B4-BE49-F238E27FC236}">
                <a16:creationId xmlns:a16="http://schemas.microsoft.com/office/drawing/2014/main" id="{2C4B5E5A-8F20-5983-945F-82AAD8749101}"/>
              </a:ext>
            </a:extLst>
          </p:cNvPr>
          <p:cNvSpPr/>
          <p:nvPr/>
        </p:nvSpPr>
        <p:spPr>
          <a:xfrm>
            <a:off x="6931152" y="2322576"/>
            <a:ext cx="4069080" cy="347472"/>
          </a:xfrm>
          <a:prstGeom prst="rect">
            <a:avLst/>
          </a:prstGeom>
          <a:noFill/>
          <a:ln/>
        </p:spPr>
        <p:txBody>
          <a:bodyPr wrap="square" rtlCol="0" anchor="ctr"/>
          <a:lstStyle/>
          <a:p>
            <a:pPr marL="342900" indent="-342900">
              <a:buFont typeface="Arial" panose="020B0604020202020204" pitchFamily="34" charset="0"/>
              <a:buChar char="•"/>
            </a:pPr>
            <a:r>
              <a:rPr lang="en-US" sz="2000" dirty="0">
                <a:solidFill>
                  <a:srgbClr val="0F172A"/>
                </a:solidFill>
              </a:rPr>
              <a:t>Draw blocks and arrows first</a:t>
            </a:r>
          </a:p>
        </p:txBody>
      </p:sp>
      <p:sp>
        <p:nvSpPr>
          <p:cNvPr id="13" name="Shape 10">
            <a:extLst>
              <a:ext uri="{FF2B5EF4-FFF2-40B4-BE49-F238E27FC236}">
                <a16:creationId xmlns:a16="http://schemas.microsoft.com/office/drawing/2014/main" id="{CB5283C4-DDA3-4E87-3F7D-117AC2F64A38}"/>
              </a:ext>
            </a:extLst>
          </p:cNvPr>
          <p:cNvSpPr/>
          <p:nvPr/>
        </p:nvSpPr>
        <p:spPr>
          <a:xfrm>
            <a:off x="5715000" y="2505456"/>
            <a:ext cx="731520" cy="0"/>
          </a:xfrm>
          <a:prstGeom prst="line">
            <a:avLst/>
          </a:prstGeom>
          <a:noFill/>
          <a:ln w="12700">
            <a:solidFill>
              <a:schemeClr val="tx1"/>
            </a:solidFill>
            <a:prstDash val="solid"/>
            <a:headEnd type="none"/>
            <a:tailEnd type="triangle"/>
          </a:ln>
        </p:spPr>
        <p:txBody>
          <a:bodyPr/>
          <a:lstStyle/>
          <a:p>
            <a:endParaRPr lang="en-US"/>
          </a:p>
        </p:txBody>
      </p:sp>
      <p:sp>
        <p:nvSpPr>
          <p:cNvPr id="14" name="Text 11">
            <a:extLst>
              <a:ext uri="{FF2B5EF4-FFF2-40B4-BE49-F238E27FC236}">
                <a16:creationId xmlns:a16="http://schemas.microsoft.com/office/drawing/2014/main" id="{AAAC1348-7063-45F2-25B5-5A4DFCF9F489}"/>
              </a:ext>
            </a:extLst>
          </p:cNvPr>
          <p:cNvSpPr/>
          <p:nvPr/>
        </p:nvSpPr>
        <p:spPr>
          <a:xfrm>
            <a:off x="1051560" y="3008376"/>
            <a:ext cx="4069080" cy="689696"/>
          </a:xfrm>
          <a:prstGeom prst="rect">
            <a:avLst/>
          </a:prstGeom>
          <a:noFill/>
          <a:ln/>
        </p:spPr>
        <p:txBody>
          <a:bodyPr wrap="square" rtlCol="0" anchor="ctr"/>
          <a:lstStyle/>
          <a:p>
            <a:pPr marL="342900" indent="-342900">
              <a:buFont typeface="Arial" panose="020B0604020202020204" pitchFamily="34" charset="0"/>
              <a:buChar char="•"/>
            </a:pPr>
            <a:r>
              <a:rPr lang="en-US" sz="2000" dirty="0">
                <a:solidFill>
                  <a:srgbClr val="0F172A"/>
                </a:solidFill>
              </a:rPr>
              <a:t>Put everything in one notebook or script</a:t>
            </a:r>
          </a:p>
        </p:txBody>
      </p:sp>
      <p:sp>
        <p:nvSpPr>
          <p:cNvPr id="15" name="Text 12">
            <a:extLst>
              <a:ext uri="{FF2B5EF4-FFF2-40B4-BE49-F238E27FC236}">
                <a16:creationId xmlns:a16="http://schemas.microsoft.com/office/drawing/2014/main" id="{01113A44-9163-58E1-8FC5-C5F404F7CFBE}"/>
              </a:ext>
            </a:extLst>
          </p:cNvPr>
          <p:cNvSpPr/>
          <p:nvPr/>
        </p:nvSpPr>
        <p:spPr>
          <a:xfrm>
            <a:off x="6931152" y="3136392"/>
            <a:ext cx="4069080" cy="347472"/>
          </a:xfrm>
          <a:prstGeom prst="rect">
            <a:avLst/>
          </a:prstGeom>
          <a:noFill/>
          <a:ln/>
        </p:spPr>
        <p:txBody>
          <a:bodyPr wrap="square" rtlCol="0" anchor="ctr"/>
          <a:lstStyle/>
          <a:p>
            <a:pPr marL="342900" indent="-342900">
              <a:buFont typeface="Arial" panose="020B0604020202020204" pitchFamily="34" charset="0"/>
              <a:buChar char="•"/>
            </a:pPr>
            <a:r>
              <a:rPr lang="en-US" sz="2000" dirty="0">
                <a:solidFill>
                  <a:srgbClr val="0F172A"/>
                </a:solidFill>
              </a:rPr>
              <a:t>Split responsibilities into functions or scripts</a:t>
            </a:r>
          </a:p>
        </p:txBody>
      </p:sp>
      <p:sp>
        <p:nvSpPr>
          <p:cNvPr id="16" name="Shape 13">
            <a:extLst>
              <a:ext uri="{FF2B5EF4-FFF2-40B4-BE49-F238E27FC236}">
                <a16:creationId xmlns:a16="http://schemas.microsoft.com/office/drawing/2014/main" id="{7CC1596E-F8E5-8871-2D7E-658CB897854C}"/>
              </a:ext>
            </a:extLst>
          </p:cNvPr>
          <p:cNvSpPr/>
          <p:nvPr/>
        </p:nvSpPr>
        <p:spPr>
          <a:xfrm>
            <a:off x="5715000" y="3191256"/>
            <a:ext cx="731520" cy="0"/>
          </a:xfrm>
          <a:prstGeom prst="line">
            <a:avLst/>
          </a:prstGeom>
          <a:noFill/>
          <a:ln w="12700">
            <a:solidFill>
              <a:schemeClr val="tx1"/>
            </a:solidFill>
            <a:prstDash val="solid"/>
            <a:headEnd type="none"/>
            <a:tailEnd type="triangle"/>
          </a:ln>
        </p:spPr>
        <p:txBody>
          <a:bodyPr/>
          <a:lstStyle/>
          <a:p>
            <a:endParaRPr lang="en-US"/>
          </a:p>
        </p:txBody>
      </p:sp>
      <p:sp>
        <p:nvSpPr>
          <p:cNvPr id="17" name="Text 14">
            <a:extLst>
              <a:ext uri="{FF2B5EF4-FFF2-40B4-BE49-F238E27FC236}">
                <a16:creationId xmlns:a16="http://schemas.microsoft.com/office/drawing/2014/main" id="{24454810-9E85-53C5-AFD1-3E1BDE11F5C2}"/>
              </a:ext>
            </a:extLst>
          </p:cNvPr>
          <p:cNvSpPr/>
          <p:nvPr/>
        </p:nvSpPr>
        <p:spPr>
          <a:xfrm>
            <a:off x="1051560" y="3688292"/>
            <a:ext cx="4069080" cy="689696"/>
          </a:xfrm>
          <a:prstGeom prst="rect">
            <a:avLst/>
          </a:prstGeom>
          <a:noFill/>
          <a:ln/>
        </p:spPr>
        <p:txBody>
          <a:bodyPr wrap="square" rtlCol="0" anchor="ctr"/>
          <a:lstStyle/>
          <a:p>
            <a:pPr marL="342900" indent="-342900">
              <a:buFont typeface="Arial" panose="020B0604020202020204" pitchFamily="34" charset="0"/>
              <a:buChar char="•"/>
            </a:pPr>
            <a:r>
              <a:rPr lang="en-US" sz="2000" dirty="0">
                <a:solidFill>
                  <a:srgbClr val="0F172A"/>
                </a:solidFill>
              </a:rPr>
              <a:t>Mix preprocessing and statistics</a:t>
            </a:r>
          </a:p>
        </p:txBody>
      </p:sp>
      <p:sp>
        <p:nvSpPr>
          <p:cNvPr id="18" name="Text 15">
            <a:extLst>
              <a:ext uri="{FF2B5EF4-FFF2-40B4-BE49-F238E27FC236}">
                <a16:creationId xmlns:a16="http://schemas.microsoft.com/office/drawing/2014/main" id="{BFB30F48-5175-4C33-5A74-962C7C44A66F}"/>
              </a:ext>
            </a:extLst>
          </p:cNvPr>
          <p:cNvSpPr/>
          <p:nvPr/>
        </p:nvSpPr>
        <p:spPr>
          <a:xfrm>
            <a:off x="6931152" y="3779732"/>
            <a:ext cx="4069080" cy="740664"/>
          </a:xfrm>
          <a:prstGeom prst="rect">
            <a:avLst/>
          </a:prstGeom>
          <a:noFill/>
          <a:ln/>
        </p:spPr>
        <p:txBody>
          <a:bodyPr wrap="square" rtlCol="0" anchor="ctr"/>
          <a:lstStyle/>
          <a:p>
            <a:pPr marL="342900" indent="-342900">
              <a:buFont typeface="Arial" panose="020B0604020202020204" pitchFamily="34" charset="0"/>
              <a:buChar char="•"/>
            </a:pPr>
            <a:r>
              <a:rPr lang="en-US" sz="2000" dirty="0">
                <a:solidFill>
                  <a:srgbClr val="0F172A"/>
                </a:solidFill>
              </a:rPr>
              <a:t>Treat preprocessing as its own reusable stage</a:t>
            </a:r>
          </a:p>
        </p:txBody>
      </p:sp>
      <p:sp>
        <p:nvSpPr>
          <p:cNvPr id="19" name="Shape 16">
            <a:extLst>
              <a:ext uri="{FF2B5EF4-FFF2-40B4-BE49-F238E27FC236}">
                <a16:creationId xmlns:a16="http://schemas.microsoft.com/office/drawing/2014/main" id="{E5E97C73-BF58-22DB-16F8-97CACB2B44E0}"/>
              </a:ext>
            </a:extLst>
          </p:cNvPr>
          <p:cNvSpPr/>
          <p:nvPr/>
        </p:nvSpPr>
        <p:spPr>
          <a:xfrm>
            <a:off x="5715000" y="4145492"/>
            <a:ext cx="731520" cy="0"/>
          </a:xfrm>
          <a:prstGeom prst="line">
            <a:avLst/>
          </a:prstGeom>
          <a:noFill/>
          <a:ln w="12700">
            <a:solidFill>
              <a:schemeClr val="tx1"/>
            </a:solidFill>
            <a:prstDash val="solid"/>
            <a:headEnd type="none"/>
            <a:tailEnd type="triangle"/>
          </a:ln>
        </p:spPr>
        <p:txBody>
          <a:bodyPr/>
          <a:lstStyle/>
          <a:p>
            <a:endParaRPr lang="en-US"/>
          </a:p>
        </p:txBody>
      </p:sp>
      <p:sp>
        <p:nvSpPr>
          <p:cNvPr id="20" name="Text 17">
            <a:extLst>
              <a:ext uri="{FF2B5EF4-FFF2-40B4-BE49-F238E27FC236}">
                <a16:creationId xmlns:a16="http://schemas.microsoft.com/office/drawing/2014/main" id="{12F5D7CD-246F-5AAF-F2D6-252A3F63FD39}"/>
              </a:ext>
            </a:extLst>
          </p:cNvPr>
          <p:cNvSpPr/>
          <p:nvPr/>
        </p:nvSpPr>
        <p:spPr>
          <a:xfrm>
            <a:off x="1051560" y="4434840"/>
            <a:ext cx="4069080" cy="689696"/>
          </a:xfrm>
          <a:prstGeom prst="rect">
            <a:avLst/>
          </a:prstGeom>
          <a:noFill/>
          <a:ln/>
        </p:spPr>
        <p:txBody>
          <a:bodyPr wrap="square" rtlCol="0" anchor="ctr"/>
          <a:lstStyle/>
          <a:p>
            <a:pPr marL="342900" indent="-342900">
              <a:buFont typeface="Arial" panose="020B0604020202020204" pitchFamily="34" charset="0"/>
              <a:buChar char="•"/>
            </a:pPr>
            <a:r>
              <a:rPr lang="en-US" sz="2000" dirty="0">
                <a:solidFill>
                  <a:srgbClr val="0F172A"/>
                </a:solidFill>
              </a:rPr>
              <a:t>Hide parameters in the middle of code</a:t>
            </a:r>
          </a:p>
        </p:txBody>
      </p:sp>
      <p:sp>
        <p:nvSpPr>
          <p:cNvPr id="21" name="Text 18">
            <a:extLst>
              <a:ext uri="{FF2B5EF4-FFF2-40B4-BE49-F238E27FC236}">
                <a16:creationId xmlns:a16="http://schemas.microsoft.com/office/drawing/2014/main" id="{7F90946F-F40E-DFEE-E51C-1C1D1A3FDC26}"/>
              </a:ext>
            </a:extLst>
          </p:cNvPr>
          <p:cNvSpPr/>
          <p:nvPr/>
        </p:nvSpPr>
        <p:spPr>
          <a:xfrm>
            <a:off x="6931152" y="4733968"/>
            <a:ext cx="4069080" cy="347472"/>
          </a:xfrm>
          <a:prstGeom prst="rect">
            <a:avLst/>
          </a:prstGeom>
          <a:noFill/>
          <a:ln/>
        </p:spPr>
        <p:txBody>
          <a:bodyPr wrap="square" rtlCol="0" anchor="ctr"/>
          <a:lstStyle/>
          <a:p>
            <a:pPr marL="342900" indent="-342900">
              <a:buFont typeface="Arial" panose="020B0604020202020204" pitchFamily="34" charset="0"/>
              <a:buChar char="•"/>
            </a:pPr>
            <a:r>
              <a:rPr lang="en-US" sz="2000" dirty="0">
                <a:solidFill>
                  <a:srgbClr val="0F172A"/>
                </a:solidFill>
              </a:rPr>
              <a:t>Centralize parameters in one config section</a:t>
            </a:r>
          </a:p>
        </p:txBody>
      </p:sp>
      <p:sp>
        <p:nvSpPr>
          <p:cNvPr id="22" name="Shape 19">
            <a:extLst>
              <a:ext uri="{FF2B5EF4-FFF2-40B4-BE49-F238E27FC236}">
                <a16:creationId xmlns:a16="http://schemas.microsoft.com/office/drawing/2014/main" id="{E3F8D79D-1F10-0A58-83C1-3D4543DC62D0}"/>
              </a:ext>
            </a:extLst>
          </p:cNvPr>
          <p:cNvSpPr/>
          <p:nvPr/>
        </p:nvSpPr>
        <p:spPr>
          <a:xfrm>
            <a:off x="5715000" y="4779688"/>
            <a:ext cx="731520" cy="0"/>
          </a:xfrm>
          <a:prstGeom prst="line">
            <a:avLst/>
          </a:prstGeom>
          <a:noFill/>
          <a:ln w="12700">
            <a:solidFill>
              <a:schemeClr val="tx1"/>
            </a:solidFill>
            <a:prstDash val="solid"/>
            <a:headEnd type="none"/>
            <a:tailEnd type="triangle"/>
          </a:ln>
        </p:spPr>
        <p:txBody>
          <a:bodyPr/>
          <a:lstStyle/>
          <a:p>
            <a:endParaRPr lang="en-US"/>
          </a:p>
        </p:txBody>
      </p:sp>
      <p:sp>
        <p:nvSpPr>
          <p:cNvPr id="23" name="Text 20">
            <a:extLst>
              <a:ext uri="{FF2B5EF4-FFF2-40B4-BE49-F238E27FC236}">
                <a16:creationId xmlns:a16="http://schemas.microsoft.com/office/drawing/2014/main" id="{1E2E07F4-CC67-6BB4-320F-C5CEF76571A0}"/>
              </a:ext>
            </a:extLst>
          </p:cNvPr>
          <p:cNvSpPr/>
          <p:nvPr/>
        </p:nvSpPr>
        <p:spPr>
          <a:xfrm>
            <a:off x="1051560" y="5212080"/>
            <a:ext cx="4069080" cy="689696"/>
          </a:xfrm>
          <a:prstGeom prst="rect">
            <a:avLst/>
          </a:prstGeom>
          <a:noFill/>
          <a:ln/>
        </p:spPr>
        <p:txBody>
          <a:bodyPr wrap="square" rtlCol="0" anchor="ctr"/>
          <a:lstStyle/>
          <a:p>
            <a:pPr marL="342900" indent="-342900">
              <a:buFont typeface="Arial" panose="020B0604020202020204" pitchFamily="34" charset="0"/>
              <a:buChar char="•"/>
            </a:pPr>
            <a:r>
              <a:rPr lang="en-US" sz="2000" dirty="0">
                <a:solidFill>
                  <a:srgbClr val="0F172A"/>
                </a:solidFill>
              </a:rPr>
              <a:t>Fail to save intermediate outputs</a:t>
            </a:r>
          </a:p>
        </p:txBody>
      </p:sp>
      <p:sp>
        <p:nvSpPr>
          <p:cNvPr id="24" name="Text 21">
            <a:extLst>
              <a:ext uri="{FF2B5EF4-FFF2-40B4-BE49-F238E27FC236}">
                <a16:creationId xmlns:a16="http://schemas.microsoft.com/office/drawing/2014/main" id="{938F30FF-76A4-0F04-8499-A8DCA0E4F80A}"/>
              </a:ext>
            </a:extLst>
          </p:cNvPr>
          <p:cNvSpPr/>
          <p:nvPr/>
        </p:nvSpPr>
        <p:spPr>
          <a:xfrm>
            <a:off x="6931152" y="5547784"/>
            <a:ext cx="4069080" cy="347472"/>
          </a:xfrm>
          <a:prstGeom prst="rect">
            <a:avLst/>
          </a:prstGeom>
          <a:noFill/>
          <a:ln/>
        </p:spPr>
        <p:txBody>
          <a:bodyPr wrap="square" rtlCol="0" anchor="ctr"/>
          <a:lstStyle/>
          <a:p>
            <a:pPr marL="342900" indent="-342900">
              <a:buFont typeface="Arial" panose="020B0604020202020204" pitchFamily="34" charset="0"/>
              <a:buChar char="•"/>
            </a:pPr>
            <a:r>
              <a:rPr lang="en-US" sz="2000" dirty="0">
                <a:solidFill>
                  <a:srgbClr val="0F172A"/>
                </a:solidFill>
              </a:rPr>
              <a:t>Save cleaned data, tables, figures, and logs</a:t>
            </a:r>
          </a:p>
        </p:txBody>
      </p:sp>
      <p:sp>
        <p:nvSpPr>
          <p:cNvPr id="25" name="Shape 22">
            <a:extLst>
              <a:ext uri="{FF2B5EF4-FFF2-40B4-BE49-F238E27FC236}">
                <a16:creationId xmlns:a16="http://schemas.microsoft.com/office/drawing/2014/main" id="{F0C038F1-5A6C-5B11-2352-A79BF812E1B0}"/>
              </a:ext>
            </a:extLst>
          </p:cNvPr>
          <p:cNvSpPr/>
          <p:nvPr/>
        </p:nvSpPr>
        <p:spPr>
          <a:xfrm>
            <a:off x="5715000" y="5556928"/>
            <a:ext cx="731520" cy="0"/>
          </a:xfrm>
          <a:prstGeom prst="line">
            <a:avLst/>
          </a:prstGeom>
          <a:noFill/>
          <a:ln w="12700">
            <a:solidFill>
              <a:schemeClr val="tx1"/>
            </a:solidFill>
            <a:prstDash val="solid"/>
            <a:headEnd type="none"/>
            <a:tailEnd type="triangle"/>
          </a:ln>
        </p:spPr>
        <p:txBody>
          <a:bodyPr/>
          <a:lstStyle/>
          <a:p>
            <a:endParaRPr lang="en-US"/>
          </a:p>
        </p:txBody>
      </p:sp>
    </p:spTree>
    <p:extLst>
      <p:ext uri="{BB962C8B-B14F-4D97-AF65-F5344CB8AC3E}">
        <p14:creationId xmlns:p14="http://schemas.microsoft.com/office/powerpoint/2010/main" val="544322437"/>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3BB6E04-E2B4-EF4E-B39D-3C02A0795A1D}"/>
            </a:ext>
          </a:extLst>
        </p:cNvPr>
        <p:cNvGrpSpPr/>
        <p:nvPr/>
      </p:nvGrpSpPr>
      <p:grpSpPr>
        <a:xfrm>
          <a:off x="0" y="0"/>
          <a:ext cx="0" cy="0"/>
          <a:chOff x="0" y="0"/>
          <a:chExt cx="0" cy="0"/>
        </a:xfrm>
      </p:grpSpPr>
      <p:sp>
        <p:nvSpPr>
          <p:cNvPr id="4" name="Text 2">
            <a:extLst>
              <a:ext uri="{FF2B5EF4-FFF2-40B4-BE49-F238E27FC236}">
                <a16:creationId xmlns:a16="http://schemas.microsoft.com/office/drawing/2014/main" id="{871BF30E-9CDD-46C2-E794-80F17536AA0A}"/>
              </a:ext>
            </a:extLst>
          </p:cNvPr>
          <p:cNvSpPr/>
          <p:nvPr/>
        </p:nvSpPr>
        <p:spPr>
          <a:xfrm>
            <a:off x="502920" y="137014"/>
            <a:ext cx="8046720" cy="786531"/>
          </a:xfrm>
          <a:prstGeom prst="rect">
            <a:avLst/>
          </a:prstGeom>
          <a:noFill/>
          <a:ln/>
        </p:spPr>
        <p:txBody>
          <a:bodyPr wrap="square" rtlCol="0" anchor="ctr"/>
          <a:lstStyle/>
          <a:p>
            <a:r>
              <a:rPr lang="en-US" sz="2700" dirty="0">
                <a:solidFill>
                  <a:srgbClr val="0F172A"/>
                </a:solidFill>
                <a:latin typeface="Aptos Display" pitchFamily="34" charset="0"/>
                <a:ea typeface="Aptos Display" pitchFamily="34" charset="-122"/>
                <a:cs typeface="Aptos Display" pitchFamily="34" charset="-120"/>
              </a:rPr>
              <a:t>Exercise 1</a:t>
            </a:r>
            <a:endParaRPr lang="en-US" sz="2700" dirty="0"/>
          </a:p>
        </p:txBody>
      </p:sp>
      <p:sp>
        <p:nvSpPr>
          <p:cNvPr id="5" name="Shape 3">
            <a:extLst>
              <a:ext uri="{FF2B5EF4-FFF2-40B4-BE49-F238E27FC236}">
                <a16:creationId xmlns:a16="http://schemas.microsoft.com/office/drawing/2014/main" id="{7A54B738-3AB6-C030-0940-B610980B9B0F}"/>
              </a:ext>
            </a:extLst>
          </p:cNvPr>
          <p:cNvSpPr/>
          <p:nvPr/>
        </p:nvSpPr>
        <p:spPr>
          <a:xfrm>
            <a:off x="518160" y="956224"/>
            <a:ext cx="11155680" cy="0"/>
          </a:xfrm>
          <a:prstGeom prst="line">
            <a:avLst/>
          </a:prstGeom>
          <a:noFill/>
          <a:ln w="12700">
            <a:solidFill>
              <a:srgbClr val="CBD5E1"/>
            </a:solidFill>
            <a:prstDash val="solid"/>
          </a:ln>
        </p:spPr>
        <p:txBody>
          <a:bodyPr/>
          <a:lstStyle/>
          <a:p>
            <a:endParaRPr lang="en-US"/>
          </a:p>
        </p:txBody>
      </p:sp>
      <p:sp>
        <p:nvSpPr>
          <p:cNvPr id="3" name="Shape 4">
            <a:extLst>
              <a:ext uri="{FF2B5EF4-FFF2-40B4-BE49-F238E27FC236}">
                <a16:creationId xmlns:a16="http://schemas.microsoft.com/office/drawing/2014/main" id="{C2DF8BDB-95AB-37A4-1438-2E1EC48F5AD6}"/>
              </a:ext>
            </a:extLst>
          </p:cNvPr>
          <p:cNvSpPr/>
          <p:nvPr/>
        </p:nvSpPr>
        <p:spPr>
          <a:xfrm>
            <a:off x="868680" y="1424438"/>
            <a:ext cx="10424160" cy="1874520"/>
          </a:xfrm>
          <a:prstGeom prst="roundRect">
            <a:avLst>
              <a:gd name="adj" fmla="val 3902"/>
            </a:avLst>
          </a:prstGeom>
          <a:solidFill>
            <a:srgbClr val="EEF2FF"/>
          </a:solidFill>
          <a:ln w="12700">
            <a:solidFill>
              <a:srgbClr val="C7D2FE"/>
            </a:solidFill>
            <a:prstDash val="solid"/>
          </a:ln>
        </p:spPr>
        <p:txBody>
          <a:bodyPr/>
          <a:lstStyle/>
          <a:p>
            <a:endParaRPr lang="en-US"/>
          </a:p>
        </p:txBody>
      </p:sp>
      <p:sp>
        <p:nvSpPr>
          <p:cNvPr id="6" name="Text 5">
            <a:extLst>
              <a:ext uri="{FF2B5EF4-FFF2-40B4-BE49-F238E27FC236}">
                <a16:creationId xmlns:a16="http://schemas.microsoft.com/office/drawing/2014/main" id="{6F4C1A78-276B-3236-8AEC-F543E952247A}"/>
              </a:ext>
            </a:extLst>
          </p:cNvPr>
          <p:cNvSpPr/>
          <p:nvPr/>
        </p:nvSpPr>
        <p:spPr>
          <a:xfrm>
            <a:off x="1158240" y="1565650"/>
            <a:ext cx="9875520" cy="886968"/>
          </a:xfrm>
          <a:prstGeom prst="rect">
            <a:avLst/>
          </a:prstGeom>
          <a:noFill/>
          <a:ln/>
        </p:spPr>
        <p:txBody>
          <a:bodyPr wrap="square" rtlCol="0" anchor="ctr"/>
          <a:lstStyle/>
          <a:p>
            <a:pPr marL="0" indent="0" algn="ctr">
              <a:buNone/>
            </a:pPr>
            <a:r>
              <a:rPr lang="en-US" sz="2400" dirty="0">
                <a:solidFill>
                  <a:srgbClr val="0F172A"/>
                </a:solidFill>
              </a:rPr>
              <a:t>You have spike trains from multiple neurons under two behavioral conditions.</a:t>
            </a:r>
            <a:endParaRPr lang="en-US" sz="2400" dirty="0"/>
          </a:p>
        </p:txBody>
      </p:sp>
      <p:sp>
        <p:nvSpPr>
          <p:cNvPr id="7" name="Text 6">
            <a:extLst>
              <a:ext uri="{FF2B5EF4-FFF2-40B4-BE49-F238E27FC236}">
                <a16:creationId xmlns:a16="http://schemas.microsoft.com/office/drawing/2014/main" id="{D33CEADD-D264-D526-605E-1873D0E75B1C}"/>
              </a:ext>
            </a:extLst>
          </p:cNvPr>
          <p:cNvSpPr/>
          <p:nvPr/>
        </p:nvSpPr>
        <p:spPr>
          <a:xfrm>
            <a:off x="1645920" y="2677166"/>
            <a:ext cx="8869680" cy="388100"/>
          </a:xfrm>
          <a:prstGeom prst="rect">
            <a:avLst/>
          </a:prstGeom>
          <a:noFill/>
          <a:ln/>
        </p:spPr>
        <p:txBody>
          <a:bodyPr wrap="square" rtlCol="0" anchor="ctr"/>
          <a:lstStyle/>
          <a:p>
            <a:pPr marL="0" indent="0" algn="ctr">
              <a:buNone/>
            </a:pPr>
            <a:r>
              <a:rPr lang="en-US" sz="2000" dirty="0">
                <a:solidFill>
                  <a:srgbClr val="1D4ED8"/>
                </a:solidFill>
              </a:rPr>
              <a:t>Design the project as blocks before writing code.</a:t>
            </a:r>
            <a:endParaRPr lang="en-US" sz="2000" dirty="0"/>
          </a:p>
        </p:txBody>
      </p:sp>
      <p:sp>
        <p:nvSpPr>
          <p:cNvPr id="8" name="Text 7">
            <a:extLst>
              <a:ext uri="{FF2B5EF4-FFF2-40B4-BE49-F238E27FC236}">
                <a16:creationId xmlns:a16="http://schemas.microsoft.com/office/drawing/2014/main" id="{CFEFB4D1-A9AE-76E7-7186-71E85019D7D1}"/>
              </a:ext>
            </a:extLst>
          </p:cNvPr>
          <p:cNvSpPr/>
          <p:nvPr/>
        </p:nvSpPr>
        <p:spPr>
          <a:xfrm>
            <a:off x="1188720" y="3931920"/>
            <a:ext cx="4343400" cy="1874520"/>
          </a:xfrm>
          <a:prstGeom prst="rect">
            <a:avLst/>
          </a:prstGeom>
          <a:noFill/>
          <a:ln/>
        </p:spPr>
        <p:txBody>
          <a:bodyPr wrap="square" lIns="0" tIns="0" rIns="0" bIns="0" rtlCol="0" anchor="t"/>
          <a:lstStyle/>
          <a:p>
            <a:pPr marL="0" indent="0">
              <a:lnSpc>
                <a:spcPct val="150000"/>
              </a:lnSpc>
              <a:buNone/>
            </a:pPr>
            <a:r>
              <a:rPr lang="en-US" sz="2000" b="1" dirty="0">
                <a:latin typeface="Aptos" pitchFamily="34" charset="0"/>
                <a:ea typeface="Aptos" pitchFamily="34" charset="-122"/>
                <a:cs typeface="Aptos" pitchFamily="34" charset="-120"/>
              </a:rPr>
              <a:t>• </a:t>
            </a:r>
            <a:r>
              <a:rPr lang="en-US" sz="2000" dirty="0">
                <a:latin typeface="Aptos" pitchFamily="34" charset="0"/>
                <a:ea typeface="Aptos" pitchFamily="34" charset="-122"/>
                <a:cs typeface="Aptos" pitchFamily="34" charset="-120"/>
              </a:rPr>
              <a:t>Name the blocks
</a:t>
            </a:r>
            <a:r>
              <a:rPr lang="en-US" sz="2000" b="1" dirty="0">
                <a:latin typeface="Aptos" pitchFamily="34" charset="0"/>
                <a:ea typeface="Aptos" pitchFamily="34" charset="-122"/>
                <a:cs typeface="Aptos" pitchFamily="34" charset="-120"/>
              </a:rPr>
              <a:t>• </a:t>
            </a:r>
            <a:r>
              <a:rPr lang="en-US" sz="2000" dirty="0">
                <a:latin typeface="Aptos" pitchFamily="34" charset="0"/>
                <a:ea typeface="Aptos" pitchFamily="34" charset="-122"/>
                <a:cs typeface="Aptos" pitchFamily="34" charset="-120"/>
              </a:rPr>
              <a:t>Specify inputs and outputs
</a:t>
            </a:r>
            <a:r>
              <a:rPr lang="en-US" sz="2000" b="1" dirty="0">
                <a:latin typeface="Aptos" pitchFamily="34" charset="0"/>
                <a:ea typeface="Aptos" pitchFamily="34" charset="-122"/>
                <a:cs typeface="Aptos" pitchFamily="34" charset="-120"/>
              </a:rPr>
              <a:t>• </a:t>
            </a:r>
            <a:r>
              <a:rPr lang="en-US" sz="2000" dirty="0">
                <a:latin typeface="Aptos" pitchFamily="34" charset="0"/>
                <a:ea typeface="Aptos" pitchFamily="34" charset="-122"/>
                <a:cs typeface="Aptos" pitchFamily="34" charset="-120"/>
              </a:rPr>
              <a:t>Decide what should be saved
</a:t>
            </a:r>
            <a:r>
              <a:rPr lang="en-US" sz="2000" b="1" dirty="0">
                <a:latin typeface="Aptos" pitchFamily="34" charset="0"/>
                <a:ea typeface="Aptos" pitchFamily="34" charset="-122"/>
                <a:cs typeface="Aptos" pitchFamily="34" charset="-120"/>
              </a:rPr>
              <a:t>• </a:t>
            </a:r>
            <a:r>
              <a:rPr lang="en-US" sz="2000" dirty="0">
                <a:latin typeface="Aptos" pitchFamily="34" charset="0"/>
                <a:ea typeface="Aptos" pitchFamily="34" charset="-122"/>
                <a:cs typeface="Aptos" pitchFamily="34" charset="-120"/>
              </a:rPr>
              <a:t>Identify where QC should happen</a:t>
            </a:r>
            <a:endParaRPr lang="en-US" sz="2000" dirty="0"/>
          </a:p>
        </p:txBody>
      </p:sp>
      <p:sp>
        <p:nvSpPr>
          <p:cNvPr id="9" name="Shape 8">
            <a:extLst>
              <a:ext uri="{FF2B5EF4-FFF2-40B4-BE49-F238E27FC236}">
                <a16:creationId xmlns:a16="http://schemas.microsoft.com/office/drawing/2014/main" id="{140B6317-0498-9E0B-B702-0859D8EBED10}"/>
              </a:ext>
            </a:extLst>
          </p:cNvPr>
          <p:cNvSpPr/>
          <p:nvPr/>
        </p:nvSpPr>
        <p:spPr>
          <a:xfrm>
            <a:off x="7482840" y="4389120"/>
            <a:ext cx="3840480" cy="1417320"/>
          </a:xfrm>
          <a:prstGeom prst="roundRect">
            <a:avLst>
              <a:gd name="adj" fmla="val 5161"/>
            </a:avLst>
          </a:prstGeom>
          <a:solidFill>
            <a:srgbClr val="F8FAFC"/>
          </a:solidFill>
          <a:ln w="12700">
            <a:solidFill>
              <a:srgbClr val="CBD5E1"/>
            </a:solidFill>
            <a:prstDash val="solid"/>
          </a:ln>
        </p:spPr>
        <p:txBody>
          <a:bodyPr/>
          <a:lstStyle/>
          <a:p>
            <a:endParaRPr lang="en-US"/>
          </a:p>
        </p:txBody>
      </p:sp>
      <p:sp>
        <p:nvSpPr>
          <p:cNvPr id="10" name="Text 9">
            <a:extLst>
              <a:ext uri="{FF2B5EF4-FFF2-40B4-BE49-F238E27FC236}">
                <a16:creationId xmlns:a16="http://schemas.microsoft.com/office/drawing/2014/main" id="{A2959DF4-7C1C-F81E-E3F6-450C5D569951}"/>
              </a:ext>
            </a:extLst>
          </p:cNvPr>
          <p:cNvSpPr/>
          <p:nvPr/>
        </p:nvSpPr>
        <p:spPr>
          <a:xfrm>
            <a:off x="7848600" y="4694924"/>
            <a:ext cx="3108960" cy="228600"/>
          </a:xfrm>
          <a:prstGeom prst="rect">
            <a:avLst/>
          </a:prstGeom>
          <a:noFill/>
          <a:ln/>
        </p:spPr>
        <p:txBody>
          <a:bodyPr wrap="square" rtlCol="0" anchor="ctr"/>
          <a:lstStyle/>
          <a:p>
            <a:pPr marL="0" indent="0" algn="ctr">
              <a:buNone/>
            </a:pPr>
            <a:r>
              <a:rPr lang="en-US" sz="2100" b="1" dirty="0">
                <a:solidFill>
                  <a:srgbClr val="0F766E"/>
                </a:solidFill>
              </a:rPr>
              <a:t>Suggested structure</a:t>
            </a:r>
            <a:endParaRPr lang="en-US" sz="2100" dirty="0"/>
          </a:p>
        </p:txBody>
      </p:sp>
      <p:sp>
        <p:nvSpPr>
          <p:cNvPr id="11" name="Text 10">
            <a:extLst>
              <a:ext uri="{FF2B5EF4-FFF2-40B4-BE49-F238E27FC236}">
                <a16:creationId xmlns:a16="http://schemas.microsoft.com/office/drawing/2014/main" id="{AD9C136C-5737-3639-8564-94F229692B3C}"/>
              </a:ext>
            </a:extLst>
          </p:cNvPr>
          <p:cNvSpPr/>
          <p:nvPr/>
        </p:nvSpPr>
        <p:spPr>
          <a:xfrm>
            <a:off x="7802880" y="5097260"/>
            <a:ext cx="3200400" cy="411480"/>
          </a:xfrm>
          <a:prstGeom prst="rect">
            <a:avLst/>
          </a:prstGeom>
          <a:noFill/>
          <a:ln/>
        </p:spPr>
        <p:txBody>
          <a:bodyPr wrap="square" rtlCol="0" anchor="ctr"/>
          <a:lstStyle/>
          <a:p>
            <a:pPr marL="0" indent="0" algn="ctr">
              <a:buNone/>
            </a:pPr>
            <a:r>
              <a:rPr lang="en-US" sz="1600" dirty="0">
                <a:solidFill>
                  <a:srgbClr val="0F172A"/>
                </a:solidFill>
              </a:rPr>
              <a:t>Load → QC → Bin / smooth → Features → Compare → Output</a:t>
            </a:r>
            <a:endParaRPr lang="en-US" sz="1600" dirty="0"/>
          </a:p>
        </p:txBody>
      </p:sp>
    </p:spTree>
    <p:extLst>
      <p:ext uri="{BB962C8B-B14F-4D97-AF65-F5344CB8AC3E}">
        <p14:creationId xmlns:p14="http://schemas.microsoft.com/office/powerpoint/2010/main" val="2187684004"/>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1E0839F-A2DD-0487-B891-40B4208BB985}"/>
            </a:ext>
          </a:extLst>
        </p:cNvPr>
        <p:cNvGrpSpPr/>
        <p:nvPr/>
      </p:nvGrpSpPr>
      <p:grpSpPr>
        <a:xfrm>
          <a:off x="0" y="0"/>
          <a:ext cx="0" cy="0"/>
          <a:chOff x="0" y="0"/>
          <a:chExt cx="0" cy="0"/>
        </a:xfrm>
      </p:grpSpPr>
      <p:sp>
        <p:nvSpPr>
          <p:cNvPr id="4" name="Text 2">
            <a:extLst>
              <a:ext uri="{FF2B5EF4-FFF2-40B4-BE49-F238E27FC236}">
                <a16:creationId xmlns:a16="http://schemas.microsoft.com/office/drawing/2014/main" id="{30777E77-B2FE-7053-3AE4-C2C65280BC68}"/>
              </a:ext>
            </a:extLst>
          </p:cNvPr>
          <p:cNvSpPr/>
          <p:nvPr/>
        </p:nvSpPr>
        <p:spPr>
          <a:xfrm>
            <a:off x="502920" y="137014"/>
            <a:ext cx="8046720" cy="786531"/>
          </a:xfrm>
          <a:prstGeom prst="rect">
            <a:avLst/>
          </a:prstGeom>
          <a:noFill/>
          <a:ln/>
        </p:spPr>
        <p:txBody>
          <a:bodyPr wrap="square" rtlCol="0" anchor="ctr"/>
          <a:lstStyle/>
          <a:p>
            <a:r>
              <a:rPr lang="en-US" sz="2700" dirty="0">
                <a:solidFill>
                  <a:srgbClr val="0F172A"/>
                </a:solidFill>
                <a:latin typeface="Aptos Display" pitchFamily="34" charset="0"/>
                <a:ea typeface="Aptos Display" pitchFamily="34" charset="-122"/>
                <a:cs typeface="Aptos Display" pitchFamily="34" charset="-120"/>
              </a:rPr>
              <a:t>Exercise 2</a:t>
            </a:r>
            <a:endParaRPr lang="en-US" sz="2700" dirty="0"/>
          </a:p>
        </p:txBody>
      </p:sp>
      <p:sp>
        <p:nvSpPr>
          <p:cNvPr id="5" name="Shape 3">
            <a:extLst>
              <a:ext uri="{FF2B5EF4-FFF2-40B4-BE49-F238E27FC236}">
                <a16:creationId xmlns:a16="http://schemas.microsoft.com/office/drawing/2014/main" id="{91976BE6-CBB2-AB6D-38D9-9651386824E6}"/>
              </a:ext>
            </a:extLst>
          </p:cNvPr>
          <p:cNvSpPr/>
          <p:nvPr/>
        </p:nvSpPr>
        <p:spPr>
          <a:xfrm>
            <a:off x="518160" y="956224"/>
            <a:ext cx="11155680" cy="0"/>
          </a:xfrm>
          <a:prstGeom prst="line">
            <a:avLst/>
          </a:prstGeom>
          <a:noFill/>
          <a:ln w="12700">
            <a:solidFill>
              <a:srgbClr val="CBD5E1"/>
            </a:solidFill>
            <a:prstDash val="solid"/>
          </a:ln>
        </p:spPr>
        <p:txBody>
          <a:bodyPr/>
          <a:lstStyle/>
          <a:p>
            <a:endParaRPr lang="en-US"/>
          </a:p>
        </p:txBody>
      </p:sp>
      <p:sp>
        <p:nvSpPr>
          <p:cNvPr id="3" name="Shape 4">
            <a:extLst>
              <a:ext uri="{FF2B5EF4-FFF2-40B4-BE49-F238E27FC236}">
                <a16:creationId xmlns:a16="http://schemas.microsoft.com/office/drawing/2014/main" id="{21E92689-A9EF-FED7-AD6E-56C5D3E7D18C}"/>
              </a:ext>
            </a:extLst>
          </p:cNvPr>
          <p:cNvSpPr/>
          <p:nvPr/>
        </p:nvSpPr>
        <p:spPr>
          <a:xfrm>
            <a:off x="868680" y="1424438"/>
            <a:ext cx="10424160" cy="2630204"/>
          </a:xfrm>
          <a:prstGeom prst="roundRect">
            <a:avLst>
              <a:gd name="adj" fmla="val 3902"/>
            </a:avLst>
          </a:prstGeom>
          <a:solidFill>
            <a:srgbClr val="EEF2FF"/>
          </a:solidFill>
          <a:ln w="12700">
            <a:solidFill>
              <a:srgbClr val="C7D2FE"/>
            </a:solidFill>
            <a:prstDash val="solid"/>
          </a:ln>
        </p:spPr>
        <p:txBody>
          <a:bodyPr/>
          <a:lstStyle/>
          <a:p>
            <a:endParaRPr lang="en-US"/>
          </a:p>
        </p:txBody>
      </p:sp>
      <p:sp>
        <p:nvSpPr>
          <p:cNvPr id="6" name="Text 5">
            <a:extLst>
              <a:ext uri="{FF2B5EF4-FFF2-40B4-BE49-F238E27FC236}">
                <a16:creationId xmlns:a16="http://schemas.microsoft.com/office/drawing/2014/main" id="{C17504C3-C5A9-1589-9696-C59E84C015BD}"/>
              </a:ext>
            </a:extLst>
          </p:cNvPr>
          <p:cNvSpPr/>
          <p:nvPr/>
        </p:nvSpPr>
        <p:spPr>
          <a:xfrm>
            <a:off x="1158240" y="1565650"/>
            <a:ext cx="9875520" cy="2272424"/>
          </a:xfrm>
          <a:prstGeom prst="rect">
            <a:avLst/>
          </a:prstGeom>
          <a:noFill/>
          <a:ln/>
        </p:spPr>
        <p:txBody>
          <a:bodyPr wrap="square" rtlCol="0" anchor="t"/>
          <a:lstStyle/>
          <a:p>
            <a:pPr algn="ctr">
              <a:lnSpc>
                <a:spcPct val="114000"/>
              </a:lnSpc>
              <a:buNone/>
            </a:pPr>
            <a:r>
              <a:rPr lang="en-GB" sz="2000" dirty="0"/>
              <a:t>You </a:t>
            </a:r>
            <a:r>
              <a:rPr lang="en-GB" sz="2000" dirty="0" err="1"/>
              <a:t>analyze</a:t>
            </a:r>
            <a:r>
              <a:rPr lang="en-GB" sz="2000" dirty="0"/>
              <a:t> EEG recordings from multiple participants in an oddball experiment to test whether rare target tones produce a larger P300 response than frequent standard tones. The workflow includes loading the raw EEG and event markers, checking data quality and alignment, preprocessing the signals, extracting ERP and P300 measures, comparing conditions statistically across participants, and saving the resulting figures and summary outputs</a:t>
            </a:r>
            <a:r>
              <a:rPr lang="en-US" sz="2000" dirty="0">
                <a:solidFill>
                  <a:srgbClr val="17324D"/>
                </a:solidFill>
              </a:rPr>
              <a:t>.</a:t>
            </a:r>
            <a:endParaRPr lang="en-US" sz="2000" dirty="0"/>
          </a:p>
        </p:txBody>
      </p:sp>
    </p:spTree>
    <p:extLst>
      <p:ext uri="{BB962C8B-B14F-4D97-AF65-F5344CB8AC3E}">
        <p14:creationId xmlns:p14="http://schemas.microsoft.com/office/powerpoint/2010/main" val="3191955016"/>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91F7976-7739-4810-758B-A2FCBAE99D3C}"/>
            </a:ext>
          </a:extLst>
        </p:cNvPr>
        <p:cNvGrpSpPr/>
        <p:nvPr/>
      </p:nvGrpSpPr>
      <p:grpSpPr>
        <a:xfrm>
          <a:off x="0" y="0"/>
          <a:ext cx="0" cy="0"/>
          <a:chOff x="0" y="0"/>
          <a:chExt cx="0" cy="0"/>
        </a:xfrm>
      </p:grpSpPr>
      <p:sp>
        <p:nvSpPr>
          <p:cNvPr id="4" name="Text 2">
            <a:extLst>
              <a:ext uri="{FF2B5EF4-FFF2-40B4-BE49-F238E27FC236}">
                <a16:creationId xmlns:a16="http://schemas.microsoft.com/office/drawing/2014/main" id="{149CE0D8-5C3A-2FA0-4AA1-1F20CD9C943A}"/>
              </a:ext>
            </a:extLst>
          </p:cNvPr>
          <p:cNvSpPr/>
          <p:nvPr/>
        </p:nvSpPr>
        <p:spPr>
          <a:xfrm>
            <a:off x="502920" y="137014"/>
            <a:ext cx="8046720" cy="786531"/>
          </a:xfrm>
          <a:prstGeom prst="rect">
            <a:avLst/>
          </a:prstGeom>
          <a:noFill/>
          <a:ln/>
        </p:spPr>
        <p:txBody>
          <a:bodyPr wrap="square" rtlCol="0" anchor="ctr"/>
          <a:lstStyle/>
          <a:p>
            <a:r>
              <a:rPr lang="en-US" sz="2700" dirty="0">
                <a:solidFill>
                  <a:srgbClr val="0F172A"/>
                </a:solidFill>
                <a:latin typeface="Aptos Display" pitchFamily="34" charset="0"/>
                <a:ea typeface="Aptos Display" pitchFamily="34" charset="-122"/>
                <a:cs typeface="Aptos Display" pitchFamily="34" charset="-120"/>
              </a:rPr>
              <a:t>Exercise 3</a:t>
            </a:r>
            <a:endParaRPr lang="en-US" sz="2700" dirty="0"/>
          </a:p>
        </p:txBody>
      </p:sp>
      <p:sp>
        <p:nvSpPr>
          <p:cNvPr id="5" name="Shape 3">
            <a:extLst>
              <a:ext uri="{FF2B5EF4-FFF2-40B4-BE49-F238E27FC236}">
                <a16:creationId xmlns:a16="http://schemas.microsoft.com/office/drawing/2014/main" id="{BB5D5744-55A8-B417-9E52-45B725F2F745}"/>
              </a:ext>
            </a:extLst>
          </p:cNvPr>
          <p:cNvSpPr/>
          <p:nvPr/>
        </p:nvSpPr>
        <p:spPr>
          <a:xfrm>
            <a:off x="518160" y="956224"/>
            <a:ext cx="11155680" cy="0"/>
          </a:xfrm>
          <a:prstGeom prst="line">
            <a:avLst/>
          </a:prstGeom>
          <a:noFill/>
          <a:ln w="12700">
            <a:solidFill>
              <a:srgbClr val="CBD5E1"/>
            </a:solidFill>
            <a:prstDash val="solid"/>
          </a:ln>
        </p:spPr>
        <p:txBody>
          <a:bodyPr/>
          <a:lstStyle/>
          <a:p>
            <a:endParaRPr lang="en-US"/>
          </a:p>
        </p:txBody>
      </p:sp>
      <p:sp>
        <p:nvSpPr>
          <p:cNvPr id="3" name="Shape 4">
            <a:extLst>
              <a:ext uri="{FF2B5EF4-FFF2-40B4-BE49-F238E27FC236}">
                <a16:creationId xmlns:a16="http://schemas.microsoft.com/office/drawing/2014/main" id="{4521692A-9A10-3135-0E61-D0FBCF646340}"/>
              </a:ext>
            </a:extLst>
          </p:cNvPr>
          <p:cNvSpPr/>
          <p:nvPr/>
        </p:nvSpPr>
        <p:spPr>
          <a:xfrm>
            <a:off x="868680" y="1424437"/>
            <a:ext cx="10424160" cy="2317373"/>
          </a:xfrm>
          <a:prstGeom prst="roundRect">
            <a:avLst>
              <a:gd name="adj" fmla="val 3902"/>
            </a:avLst>
          </a:prstGeom>
          <a:solidFill>
            <a:srgbClr val="EEF2FF"/>
          </a:solidFill>
          <a:ln w="12700">
            <a:solidFill>
              <a:srgbClr val="C7D2FE"/>
            </a:solidFill>
            <a:prstDash val="solid"/>
          </a:ln>
        </p:spPr>
        <p:txBody>
          <a:bodyPr/>
          <a:lstStyle/>
          <a:p>
            <a:endParaRPr lang="en-US"/>
          </a:p>
        </p:txBody>
      </p:sp>
      <p:sp>
        <p:nvSpPr>
          <p:cNvPr id="6" name="Text 5">
            <a:extLst>
              <a:ext uri="{FF2B5EF4-FFF2-40B4-BE49-F238E27FC236}">
                <a16:creationId xmlns:a16="http://schemas.microsoft.com/office/drawing/2014/main" id="{8640F65D-8911-1364-0332-EFEBDE29854E}"/>
              </a:ext>
            </a:extLst>
          </p:cNvPr>
          <p:cNvSpPr/>
          <p:nvPr/>
        </p:nvSpPr>
        <p:spPr>
          <a:xfrm>
            <a:off x="1158240" y="1565649"/>
            <a:ext cx="9875520" cy="1993393"/>
          </a:xfrm>
          <a:prstGeom prst="rect">
            <a:avLst/>
          </a:prstGeom>
          <a:noFill/>
          <a:ln/>
        </p:spPr>
        <p:txBody>
          <a:bodyPr wrap="square" rtlCol="0" anchor="ctr"/>
          <a:lstStyle/>
          <a:p>
            <a:pPr algn="ctr"/>
            <a:r>
              <a:rPr lang="en-GB" sz="2000" dirty="0"/>
              <a:t>You </a:t>
            </a:r>
            <a:r>
              <a:rPr lang="en-GB" sz="2000" dirty="0" err="1"/>
              <a:t>analyze</a:t>
            </a:r>
            <a:r>
              <a:rPr lang="en-GB" sz="2000" dirty="0"/>
              <a:t> fMRI data from a memory task to test whether retrieval produces stronger activation than encoding in hippocampal and prefrontal regions. The workflow includes loading imaging and event data, checking data quality and run alignment, preprocessing the scans, building and fitting subject-level GLMs, computing the retrieval-versus-encoding contrast, performing ROI and group-level analyses, and generating the final maps, plots, and report.</a:t>
            </a:r>
            <a:endParaRPr lang="en-US" sz="2000" dirty="0"/>
          </a:p>
        </p:txBody>
      </p:sp>
    </p:spTree>
    <p:extLst>
      <p:ext uri="{BB962C8B-B14F-4D97-AF65-F5344CB8AC3E}">
        <p14:creationId xmlns:p14="http://schemas.microsoft.com/office/powerpoint/2010/main" val="854737458"/>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ptos Display"/>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69</TotalTime>
  <Words>1020</Words>
  <Application>Microsoft Macintosh PowerPoint</Application>
  <PresentationFormat>Widescreen</PresentationFormat>
  <Paragraphs>166</Paragraphs>
  <Slides>13</Slides>
  <Notes>13</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13</vt:i4>
      </vt:variant>
    </vt:vector>
  </HeadingPairs>
  <TitlesOfParts>
    <vt:vector size="18" baseType="lpstr">
      <vt:lpstr>Aptos</vt:lpstr>
      <vt:lpstr>Aptos Display</vt:lpstr>
      <vt:lpstr>Arial</vt:lpstr>
      <vt:lpstr>Consolas</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OpenAI</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Block Design in Neuroscience Coding Projects</dc:title>
  <dc:subject>Improved block design lecture for neuroscience coding projects</dc:subject>
  <dc:creator>OpenAI</dc:creator>
  <cp:lastModifiedBy>Sara Assecondi</cp:lastModifiedBy>
  <cp:revision>5</cp:revision>
  <dcterms:created xsi:type="dcterms:W3CDTF">2026-04-12T12:54:04Z</dcterms:created>
  <dcterms:modified xsi:type="dcterms:W3CDTF">2026-04-12T14:07:54Z</dcterms:modified>
</cp:coreProperties>
</file>