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9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0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7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08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08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0841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1B2EA-75BF-36CC-9923-281EB963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A43D87-8186-F206-FFC7-366B3C1AA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754BE-05FD-D661-B8FF-3F545F40DA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User-provided source deck: Prompt_Engineering_Neuroscience_Lecture.pptx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15EF0-F12C-C507-98F4-B3460E4094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227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87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05" y="3278125"/>
            <a:ext cx="12191695" cy="45719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799" y="240591"/>
            <a:ext cx="9384323" cy="2862373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>
              <a:lnSpc>
                <a:spcPct val="150000"/>
              </a:lnSpc>
            </a:pPr>
            <a:r>
              <a:rPr lang="en-GB" sz="2800" b="1" cap="all" dirty="0"/>
              <a:t>Python for (Open) Neuroscience</a:t>
            </a:r>
          </a:p>
          <a:p>
            <a:pPr>
              <a:lnSpc>
                <a:spcPct val="150000"/>
              </a:lnSpc>
            </a:pPr>
            <a:r>
              <a:rPr lang="en-GB" sz="2400" b="1" cap="all" dirty="0"/>
              <a:t>Lecture p.3 — </a:t>
            </a:r>
            <a:r>
              <a:rPr lang="en-GB" sz="2400" b="1" i="1" cap="all" dirty="0"/>
              <a:t>Prompt formulation for Scientific Coding</a:t>
            </a:r>
            <a:endParaRPr lang="en-GB" sz="2400" b="1" cap="all" dirty="0"/>
          </a:p>
          <a:p>
            <a:pPr>
              <a:lnSpc>
                <a:spcPct val="150000"/>
              </a:lnSpc>
            </a:pPr>
            <a:r>
              <a:rPr lang="en-GB" b="1" i="1" cap="all" dirty="0"/>
              <a:t>Module P - PROJECT</a:t>
            </a:r>
          </a:p>
          <a:p>
            <a:endParaRPr lang="en-GB" b="1" i="1" cap="all" dirty="0"/>
          </a:p>
          <a:p>
            <a:r>
              <a:rPr lang="en-GB" dirty="0"/>
              <a:t>Sara Assecondi</a:t>
            </a:r>
          </a:p>
          <a:p>
            <a:r>
              <a:rPr lang="en-GB" dirty="0"/>
              <a:t>Department of Psychology and Cognitive Sciences</a:t>
            </a:r>
            <a:endParaRPr lang="en-US" sz="2800" b="1" dirty="0">
              <a:solidFill>
                <a:srgbClr val="0F172A"/>
              </a:solidFill>
              <a:latin typeface="Aptos Display" pitchFamily="34" charset="0"/>
              <a:ea typeface="Aptos Display" pitchFamily="34" charset="-122"/>
              <a:cs typeface="Aptos Display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2703326" y="5370826"/>
            <a:ext cx="8503920" cy="938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50000"/>
              </a:lnSpc>
            </a:pPr>
            <a:r>
              <a:rPr lang="en-GB" sz="2000" b="1" i="1" dirty="0"/>
              <a:t>Goal of this lecture</a:t>
            </a:r>
            <a:r>
              <a:rPr lang="en-US" sz="2000" b="1" i="1" dirty="0"/>
              <a:t>: </a:t>
            </a:r>
            <a:r>
              <a:rPr lang="en-US" sz="2000" dirty="0"/>
              <a:t>Treat prompts as experimental specifications, not casual requests.</a:t>
            </a:r>
          </a:p>
        </p:txBody>
      </p:sp>
      <p:sp>
        <p:nvSpPr>
          <p:cNvPr id="32" name="Shape 1">
            <a:extLst>
              <a:ext uri="{FF2B5EF4-FFF2-40B4-BE49-F238E27FC236}">
                <a16:creationId xmlns:a16="http://schemas.microsoft.com/office/drawing/2014/main" id="{1EE46222-4BE7-06CF-01D7-7D5E8076BE1E}"/>
              </a:ext>
            </a:extLst>
          </p:cNvPr>
          <p:cNvSpPr/>
          <p:nvPr/>
        </p:nvSpPr>
        <p:spPr>
          <a:xfrm rot="5400000">
            <a:off x="2026595" y="5757647"/>
            <a:ext cx="938533" cy="16489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bg1">
                <a:lumMod val="6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2920" y="137014"/>
            <a:ext cx="8046720" cy="786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design comes first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545265"/>
            <a:ext cx="2151888" cy="1968653"/>
          </a:xfrm>
          <a:prstGeom prst="roundRect">
            <a:avLst>
              <a:gd name="adj" fmla="val 1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 anchor="ctr"/>
          <a:lstStyle/>
          <a:p>
            <a:pPr algn="ctr"/>
            <a:endParaRPr lang="en-US" b="1" dirty="0">
              <a:solidFill>
                <a:srgbClr val="C00000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algn="ctr"/>
            <a:r>
              <a:rPr lang="en-US" sz="2400" dirty="0">
                <a:solidFill>
                  <a:srgbClr val="C00000"/>
                </a:solidFill>
              </a:rPr>
              <a:t>Without explicit design</a:t>
            </a:r>
          </a:p>
          <a:p>
            <a:pPr algn="ctr"/>
            <a:endParaRPr lang="en-US" b="1" dirty="0">
              <a:solidFill>
                <a:srgbClr val="C00000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40080" y="3998546"/>
            <a:ext cx="2151888" cy="1968653"/>
          </a:xfrm>
          <a:prstGeom prst="roundRect">
            <a:avLst>
              <a:gd name="adj" fmla="val 1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2400" dirty="0">
                <a:solidFill>
                  <a:srgbClr val="16A34A"/>
                </a:solidFill>
              </a:rPr>
              <a:t>With block design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093783" y="2744481"/>
            <a:ext cx="2727960" cy="19686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/>
              <a:t>Design is the bridge between the scientific question and the implementation.</a:t>
            </a:r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651EAC50-7FDD-9464-244A-F37B11AE4B12}"/>
              </a:ext>
            </a:extLst>
          </p:cNvPr>
          <p:cNvSpPr/>
          <p:nvPr/>
        </p:nvSpPr>
        <p:spPr>
          <a:xfrm>
            <a:off x="3066288" y="1545265"/>
            <a:ext cx="5483352" cy="1968658"/>
          </a:xfrm>
          <a:prstGeom prst="roundRect">
            <a:avLst>
              <a:gd name="adj" fmla="val 166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 anchor="ctr"/>
          <a:lstStyle/>
          <a:p>
            <a:r>
              <a:rPr lang="en-US" sz="200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dirty="0">
                <a:latin typeface="Aptos" pitchFamily="34" charset="0"/>
                <a:ea typeface="Aptos" pitchFamily="34" charset="-122"/>
                <a:cs typeface="Aptos" pitchFamily="34" charset="-120"/>
              </a:rPr>
              <a:t>one giant notebook or script
</a:t>
            </a:r>
            <a:r>
              <a:rPr lang="en-US" sz="200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dirty="0">
                <a:latin typeface="Aptos" pitchFamily="34" charset="0"/>
                <a:ea typeface="Aptos" pitchFamily="34" charset="-122"/>
                <a:cs typeface="Aptos" pitchFamily="34" charset="-120"/>
              </a:rPr>
              <a:t>mixed preprocessing and statistics
</a:t>
            </a:r>
            <a:r>
              <a:rPr lang="en-US" sz="200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dirty="0">
                <a:latin typeface="Aptos" pitchFamily="34" charset="0"/>
                <a:ea typeface="Aptos" pitchFamily="34" charset="-122"/>
                <a:cs typeface="Aptos" pitchFamily="34" charset="-120"/>
              </a:rPr>
              <a:t>hidden assumptions about files or trials
</a:t>
            </a:r>
            <a:r>
              <a:rPr lang="en-US" sz="200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2000" dirty="0">
                <a:latin typeface="Aptos" pitchFamily="34" charset="0"/>
                <a:ea typeface="Aptos" pitchFamily="34" charset="-122"/>
                <a:cs typeface="Aptos" pitchFamily="34" charset="-120"/>
              </a:rPr>
              <a:t>hard to debug or rerun later
</a:t>
            </a:r>
            <a:r>
              <a:rPr lang="en-US" sz="2000" b="1" dirty="0">
                <a:latin typeface="Aptos" pitchFamily="34" charset="0"/>
                <a:ea typeface="Aptos" pitchFamily="34" charset="-122"/>
                <a:cs typeface="Aptos" pitchFamily="34" charset="-120"/>
              </a:rPr>
              <a:t>• weak reproducibility</a:t>
            </a:r>
            <a:endParaRPr lang="en-US" sz="2000" b="1" dirty="0"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D4ED3EAC-670C-DF6A-04AC-1EC93CB16D28}"/>
              </a:ext>
            </a:extLst>
          </p:cNvPr>
          <p:cNvSpPr/>
          <p:nvPr/>
        </p:nvSpPr>
        <p:spPr>
          <a:xfrm>
            <a:off x="3050498" y="3998547"/>
            <a:ext cx="5499142" cy="1968652"/>
          </a:xfrm>
          <a:prstGeom prst="roundRect">
            <a:avLst>
              <a:gd name="adj" fmla="val 1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 anchor="ctr"/>
          <a:lstStyle/>
          <a:p>
            <a:r>
              <a:rPr lang="en-US" sz="2000" dirty="0">
                <a:latin typeface="Aptos" pitchFamily="34" charset="0"/>
              </a:rPr>
              <a:t>• clear data flow between stages
• </a:t>
            </a:r>
            <a:r>
              <a:rPr lang="en-US" sz="2000" b="1" dirty="0">
                <a:latin typeface="Aptos" pitchFamily="34" charset="0"/>
              </a:rPr>
              <a:t>reusable</a:t>
            </a:r>
            <a:r>
              <a:rPr lang="en-US" sz="2000" dirty="0">
                <a:latin typeface="Aptos" pitchFamily="34" charset="0"/>
              </a:rPr>
              <a:t> preprocessing and QC
• parameters kept </a:t>
            </a:r>
            <a:r>
              <a:rPr lang="en-US" sz="2000" b="1" dirty="0">
                <a:latin typeface="Aptos" pitchFamily="34" charset="0"/>
              </a:rPr>
              <a:t>explicit</a:t>
            </a:r>
            <a:r>
              <a:rPr lang="en-US" sz="2000" dirty="0">
                <a:latin typeface="Aptos" pitchFamily="34" charset="0"/>
              </a:rPr>
              <a:t>
• easier testing and debugging
• cleaner collaboration and </a:t>
            </a:r>
            <a:r>
              <a:rPr lang="en-US" sz="2000" b="1" dirty="0">
                <a:latin typeface="Aptos" pitchFamily="34" charset="0"/>
              </a:rPr>
              <a:t>replication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664A34F7-069D-4FBA-3878-FD25DF60A631}"/>
              </a:ext>
            </a:extLst>
          </p:cNvPr>
          <p:cNvCxnSpPr>
            <a:cxnSpLocks/>
            <a:stCxn id="14" idx="3"/>
            <a:endCxn id="12" idx="0"/>
          </p:cNvCxnSpPr>
          <p:nvPr/>
        </p:nvCxnSpPr>
        <p:spPr>
          <a:xfrm>
            <a:off x="8549640" y="2529594"/>
            <a:ext cx="1908123" cy="21488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24B8B430-B4BB-A52A-B762-35CC2B7E3AF1}"/>
              </a:ext>
            </a:extLst>
          </p:cNvPr>
          <p:cNvCxnSpPr>
            <a:cxnSpLocks/>
            <a:stCxn id="15" idx="3"/>
            <a:endCxn id="12" idx="2"/>
          </p:cNvCxnSpPr>
          <p:nvPr/>
        </p:nvCxnSpPr>
        <p:spPr>
          <a:xfrm flipV="1">
            <a:off x="8549640" y="4713123"/>
            <a:ext cx="1908123" cy="26975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440382" y="1114023"/>
            <a:ext cx="3756244" cy="360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16173"/>
                </a:solidFill>
              </a:rPr>
              <a:t>LLM = Large Language </a:t>
            </a:r>
            <a:r>
              <a:rPr lang="en-US" sz="2000" b="1" dirty="0">
                <a:solidFill>
                  <a:srgbClr val="516173"/>
                </a:solidFill>
              </a:rPr>
              <a:t>Model</a:t>
            </a:r>
            <a:endParaRPr lang="en-US" sz="2000" b="1" dirty="0"/>
          </a:p>
        </p:txBody>
      </p:sp>
      <p:sp>
        <p:nvSpPr>
          <p:cNvPr id="4" name="Shape 2"/>
          <p:cNvSpPr/>
          <p:nvPr/>
        </p:nvSpPr>
        <p:spPr>
          <a:xfrm>
            <a:off x="822960" y="1737359"/>
            <a:ext cx="3566160" cy="2423159"/>
          </a:xfrm>
          <a:prstGeom prst="roundRect">
            <a:avLst>
              <a:gd name="adj" fmla="val 3636"/>
            </a:avLst>
          </a:prstGeom>
          <a:solidFill>
            <a:srgbClr val="FDECEC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1755648"/>
            <a:ext cx="121920" cy="240487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8992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43E"/>
                </a:solidFill>
              </a:rPr>
              <a:t>Common failure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78992" y="2443393"/>
            <a:ext cx="32186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“Analyze my EEG data” is underspecified: task, assumptions, preprocessing, and outputs remain ambiguous.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26280" y="1737359"/>
            <a:ext cx="3063240" cy="2423159"/>
          </a:xfrm>
          <a:prstGeom prst="roundRect">
            <a:avLst>
              <a:gd name="adj" fmla="val 3636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44568" y="1755648"/>
            <a:ext cx="121920" cy="240487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82312" y="19385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43E"/>
                </a:solidFill>
              </a:rPr>
              <a:t>Systems view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782312" y="2443393"/>
            <a:ext cx="271576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A prompt is an executable specification delivered to a stochastic model.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7726680" y="1737359"/>
            <a:ext cx="3611880" cy="2423159"/>
          </a:xfrm>
          <a:prstGeom prst="roundRect">
            <a:avLst>
              <a:gd name="adj" fmla="val 3636"/>
            </a:avLst>
          </a:prstGeom>
          <a:solidFill>
            <a:srgbClr val="E7F6F2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44968" y="1755648"/>
            <a:ext cx="121920" cy="240487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82712" y="193852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0243E"/>
                </a:solidFill>
              </a:rPr>
              <a:t>Operational goal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982712" y="2443393"/>
            <a:ext cx="3264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Increase reliability, controllability, and auditability of model outputs.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6132" y="4667478"/>
            <a:ext cx="10149840" cy="1550413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52400" indent="-1524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0243E"/>
                </a:solidFill>
              </a:rPr>
              <a:t>Use prompts to define task boundaries, context, and admissible outputs.</a:t>
            </a:r>
            <a:endParaRPr lang="en-US" sz="2000" dirty="0"/>
          </a:p>
          <a:p>
            <a:pPr marL="152400" indent="-1524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0243E"/>
                </a:solidFill>
              </a:rPr>
              <a:t>Optimize coding prompts for correctness, inspectability, and reproducibility.</a:t>
            </a:r>
            <a:endParaRPr lang="en-US" sz="2000" dirty="0"/>
          </a:p>
          <a:p>
            <a:pPr marL="152400" indent="-1524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0243E"/>
                </a:solidFill>
              </a:rPr>
              <a:t>Treat prompt design as interface design between scientific intent and model behavior.</a:t>
            </a:r>
            <a:endParaRPr lang="en-US" sz="20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086824A8-8E40-37F2-9625-AF52930C3DCF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52C7C9A2-3B36-0762-CADA-3DC132654B00}"/>
              </a:ext>
            </a:extLst>
          </p:cNvPr>
          <p:cNvSpPr/>
          <p:nvPr/>
        </p:nvSpPr>
        <p:spPr>
          <a:xfrm>
            <a:off x="502920" y="137014"/>
            <a:ext cx="8046720" cy="786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prompt formulation matters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70560" y="132588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8848" y="1344168"/>
            <a:ext cx="109728" cy="2066544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26592" y="1527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Task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26592" y="1990349"/>
            <a:ext cx="157276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Define the exact action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2910840" y="132588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E7F6F2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929128" y="1344168"/>
            <a:ext cx="109728" cy="20665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166872" y="1527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Context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166872" y="1990349"/>
            <a:ext cx="157276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Provide domain facts and data layout</a:t>
            </a:r>
            <a:endParaRPr lang="en-US" dirty="0"/>
          </a:p>
        </p:txBody>
      </p:sp>
      <p:sp>
        <p:nvSpPr>
          <p:cNvPr id="14" name="Shape 10"/>
          <p:cNvSpPr/>
          <p:nvPr/>
        </p:nvSpPr>
        <p:spPr>
          <a:xfrm>
            <a:off x="5151120" y="132588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169408" y="1344168"/>
            <a:ext cx="109728" cy="2066544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407152" y="1527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Constraints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407152" y="1990349"/>
            <a:ext cx="157276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State rules, exclusions, priorities</a:t>
            </a:r>
            <a:endParaRPr lang="en-US" dirty="0"/>
          </a:p>
        </p:txBody>
      </p:sp>
      <p:sp>
        <p:nvSpPr>
          <p:cNvPr id="19" name="Shape 14"/>
          <p:cNvSpPr/>
          <p:nvPr/>
        </p:nvSpPr>
        <p:spPr>
          <a:xfrm>
            <a:off x="7391400" y="132588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E7F6F2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409688" y="1344168"/>
            <a:ext cx="109728" cy="20665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7647432" y="1527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Output schema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7647432" y="1990349"/>
            <a:ext cx="157276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Specify structure, fields, style</a:t>
            </a:r>
            <a:endParaRPr lang="en-US" dirty="0"/>
          </a:p>
        </p:txBody>
      </p:sp>
      <p:sp>
        <p:nvSpPr>
          <p:cNvPr id="24" name="Shape 18"/>
          <p:cNvSpPr/>
          <p:nvPr/>
        </p:nvSpPr>
        <p:spPr>
          <a:xfrm>
            <a:off x="9631680" y="132588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9649968" y="1344168"/>
            <a:ext cx="109728" cy="2066544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9887712" y="1527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Verification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9887712" y="1990349"/>
            <a:ext cx="157276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Ask for checks, tests, uncertainty signals</a:t>
            </a:r>
            <a:endParaRPr lang="en-US" dirty="0"/>
          </a:p>
        </p:txBody>
      </p:sp>
      <p:sp>
        <p:nvSpPr>
          <p:cNvPr id="28" name="Shape 22"/>
          <p:cNvSpPr/>
          <p:nvPr/>
        </p:nvSpPr>
        <p:spPr>
          <a:xfrm>
            <a:off x="688848" y="3947165"/>
            <a:ext cx="2823963" cy="1165167"/>
          </a:xfrm>
          <a:prstGeom prst="roundRect">
            <a:avLst>
              <a:gd name="adj" fmla="val 4348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853163" y="4107184"/>
            <a:ext cx="2652037" cy="699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4231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Weak prompt</a:t>
            </a:r>
            <a:endParaRPr lang="en-US" sz="1800" b="1" dirty="0"/>
          </a:p>
          <a:p>
            <a:pPr marL="0" indent="0">
              <a:buNone/>
            </a:pPr>
            <a:r>
              <a:rPr lang="en-US" sz="1800" dirty="0">
                <a:solidFill>
                  <a:srgbClr val="B4231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Analyze this neural dataset.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3796145" y="3947165"/>
            <a:ext cx="7877695" cy="1737357"/>
          </a:xfrm>
          <a:prstGeom prst="roundRect">
            <a:avLst>
              <a:gd name="adj" fmla="val 3448"/>
            </a:avLst>
          </a:prstGeom>
          <a:solidFill>
            <a:srgbClr val="E7F6F2"/>
          </a:solidFill>
          <a:ln w="12700">
            <a:solidFill>
              <a:srgbClr val="E7F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5"/>
          <p:cNvSpPr/>
          <p:nvPr/>
        </p:nvSpPr>
        <p:spPr>
          <a:xfrm>
            <a:off x="3796145" y="3947165"/>
            <a:ext cx="7877695" cy="1737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Stronger spec</a:t>
            </a: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Task</a:t>
            </a:r>
            <a:r>
              <a:rPr lang="en-US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: compute per-neuron firing rate by condition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Context</a:t>
            </a:r>
            <a:r>
              <a:rPr lang="en-US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: one CSV, columns = neuron_id, t_ms, condition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Constraints</a:t>
            </a:r>
            <a:r>
              <a:rPr lang="en-US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: pandas + numpy only, no plotting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Output</a:t>
            </a:r>
            <a:r>
              <a:rPr lang="en-US" dirty="0">
                <a:solidFill>
                  <a:srgbClr val="0F766E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: one function, one test, brief assumptions</a:t>
            </a:r>
            <a:endParaRPr lang="en-US" dirty="0"/>
          </a:p>
        </p:txBody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06FE40DA-6A8E-A675-3337-CCEC3A660BDA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0D26FA13-276F-7EEA-CF95-D7F8B6C41DD4}"/>
              </a:ext>
            </a:extLst>
          </p:cNvPr>
          <p:cNvSpPr/>
          <p:nvPr/>
        </p:nvSpPr>
        <p:spPr>
          <a:xfrm>
            <a:off x="502920" y="137014"/>
            <a:ext cx="8046720" cy="786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700" dirty="0">
                <a:solidFill>
                  <a:srgbClr val="0F172A"/>
                </a:solidFill>
                <a:latin typeface="Aptos Display" pitchFamily="34" charset="0"/>
              </a:rPr>
              <a:t>A prompt is a specification</a:t>
            </a: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53640" y="2057400"/>
            <a:ext cx="548640" cy="146304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3920" y="2057400"/>
            <a:ext cx="548640" cy="146304"/>
          </a:xfrm>
          <a:prstGeom prst="rect">
            <a:avLst/>
          </a:prstGeom>
        </p:spPr>
      </p:pic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34200" y="2057400"/>
            <a:ext cx="548640" cy="146304"/>
          </a:xfrm>
          <a:prstGeom prst="rect">
            <a:avLst/>
          </a:prstGeom>
        </p:spPr>
      </p:pic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74480" y="2057400"/>
            <a:ext cx="548640" cy="14630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4068" y="1097280"/>
            <a:ext cx="9939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/>
              <a:t>Use the same </a:t>
            </a:r>
            <a:r>
              <a:rPr lang="en-US" sz="2400" b="1" dirty="0"/>
              <a:t>modular thinking </a:t>
            </a:r>
            <a:r>
              <a:rPr lang="en-US" sz="2400" dirty="0"/>
              <a:t>as a neuroscience pipeline.</a:t>
            </a:r>
          </a:p>
        </p:txBody>
      </p:sp>
      <p:sp>
        <p:nvSpPr>
          <p:cNvPr id="4" name="Shape 2"/>
          <p:cNvSpPr/>
          <p:nvPr/>
        </p:nvSpPr>
        <p:spPr>
          <a:xfrm>
            <a:off x="389313" y="2031075"/>
            <a:ext cx="2148840" cy="254092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7601" y="2049364"/>
            <a:ext cx="109728" cy="2249424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5345" y="223224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1. Problem formulation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27057" y="2737110"/>
            <a:ext cx="180136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Scientific objective, unit of analysis, acceptable abstraction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2675313" y="2031075"/>
            <a:ext cx="2148840" cy="254092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693601" y="2049364"/>
            <a:ext cx="109728" cy="22494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931345" y="223224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2. Context assembly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931345" y="2737110"/>
            <a:ext cx="180136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Data schema, codebase constraints, domain assumptions, prior decisions</a:t>
            </a:r>
            <a:endParaRPr lang="en-US" dirty="0"/>
          </a:p>
        </p:txBody>
      </p:sp>
      <p:sp>
        <p:nvSpPr>
          <p:cNvPr id="14" name="Shape 10"/>
          <p:cNvSpPr/>
          <p:nvPr/>
        </p:nvSpPr>
        <p:spPr>
          <a:xfrm>
            <a:off x="4961313" y="2031075"/>
            <a:ext cx="2148840" cy="254092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979601" y="2049364"/>
            <a:ext cx="109728" cy="2249424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217345" y="223224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3. Instruction layer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217345" y="2737110"/>
            <a:ext cx="180136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Exact task, ordered priorities, negative constraints, output contract</a:t>
            </a:r>
            <a:endParaRPr lang="en-US" dirty="0"/>
          </a:p>
        </p:txBody>
      </p:sp>
      <p:sp>
        <p:nvSpPr>
          <p:cNvPr id="19" name="Shape 14"/>
          <p:cNvSpPr/>
          <p:nvPr/>
        </p:nvSpPr>
        <p:spPr>
          <a:xfrm>
            <a:off x="7247313" y="2031075"/>
            <a:ext cx="2148840" cy="254092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265601" y="2049364"/>
            <a:ext cx="109728" cy="2249424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7503345" y="223224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4. Model + tools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7503345" y="2737110"/>
            <a:ext cx="180136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Model call, retrieval or execution tools, bounded permissions</a:t>
            </a:r>
            <a:endParaRPr lang="en-US" dirty="0"/>
          </a:p>
        </p:txBody>
      </p:sp>
      <p:sp>
        <p:nvSpPr>
          <p:cNvPr id="24" name="Shape 18"/>
          <p:cNvSpPr/>
          <p:nvPr/>
        </p:nvSpPr>
        <p:spPr>
          <a:xfrm>
            <a:off x="9533313" y="2031075"/>
            <a:ext cx="2148840" cy="254092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9551601" y="2049364"/>
            <a:ext cx="109728" cy="224942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9789345" y="223224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5. Validation layer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9789345" y="2737110"/>
            <a:ext cx="180136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Syntax, tests, format compliance, scientific plausibility</a:t>
            </a:r>
            <a:endParaRPr lang="en-US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87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30" name="Shape 3">
            <a:extLst>
              <a:ext uri="{FF2B5EF4-FFF2-40B4-BE49-F238E27FC236}">
                <a16:creationId xmlns:a16="http://schemas.microsoft.com/office/drawing/2014/main" id="{44597667-69DC-A9A4-9354-81F246309E3C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AE17A8EE-9560-976C-22DD-B752EFB1DF66}"/>
              </a:ext>
            </a:extLst>
          </p:cNvPr>
          <p:cNvSpPr/>
          <p:nvPr/>
        </p:nvSpPr>
        <p:spPr>
          <a:xfrm>
            <a:off x="502920" y="137014"/>
            <a:ext cx="8046720" cy="786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Block design for a prompt system</a:t>
            </a: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4417" y="2945476"/>
            <a:ext cx="457200" cy="128016"/>
          </a:xfrm>
          <a:prstGeom prst="rect">
            <a:avLst/>
          </a:prstGeom>
        </p:spPr>
      </p:pic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0417" y="2945476"/>
            <a:ext cx="457200" cy="128016"/>
          </a:xfrm>
          <a:prstGeom prst="rect">
            <a:avLst/>
          </a:prstGeom>
        </p:spPr>
      </p:pic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36417" y="2945476"/>
            <a:ext cx="457200" cy="128016"/>
          </a:xfrm>
          <a:prstGeom prst="rect">
            <a:avLst/>
          </a:prstGeom>
        </p:spPr>
      </p:pic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2417" y="2945476"/>
            <a:ext cx="457200" cy="12801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093385"/>
            <a:ext cx="9875520" cy="51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Every segment should reduce ambiguity</a:t>
            </a:r>
          </a:p>
        </p:txBody>
      </p:sp>
      <p:sp>
        <p:nvSpPr>
          <p:cNvPr id="4" name="Shape 2"/>
          <p:cNvSpPr/>
          <p:nvPr/>
        </p:nvSpPr>
        <p:spPr>
          <a:xfrm>
            <a:off x="6711142" y="1107777"/>
            <a:ext cx="5120640" cy="5613201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726382" y="1126065"/>
            <a:ext cx="128016" cy="5594913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59782" y="118093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Template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10430" y="1619841"/>
            <a:ext cx="4629912" cy="4918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Role: </a:t>
            </a:r>
            <a:r>
              <a:rPr lang="en-US" sz="1600" dirty="0">
                <a:solidFill>
                  <a:srgbClr val="516173"/>
                </a:solidFill>
              </a:rPr>
              <a:t>coding assistant for neuroscience analysis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Objective</a:t>
            </a:r>
            <a:endParaRPr lang="en-US" sz="1600" b="1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implement a specific task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Context</a:t>
            </a:r>
            <a:endParaRPr lang="en-US" sz="1600" b="1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data layout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experimental design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available libraries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Constraints</a:t>
            </a:r>
            <a:endParaRPr lang="en-US" sz="1600" b="1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do not fabricate files or results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preserve variable names where possible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state assumptions explicitly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Output</a:t>
            </a:r>
            <a:endParaRPr lang="en-US" sz="1600" b="1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1. short plan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2. code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3. minimal test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4. caveats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18160" y="1861480"/>
            <a:ext cx="5303520" cy="1551032"/>
          </a:xfrm>
          <a:prstGeom prst="roundRect">
            <a:avLst>
              <a:gd name="adj" fmla="val 6957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18160" y="1861480"/>
            <a:ext cx="128016" cy="1567520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92480" y="200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Context has highest leverage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4192" y="2423747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Schema, file names, variables, library limits, and interfaces improve correctness more than stylistic phrasing.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18160" y="3774580"/>
            <a:ext cx="5303520" cy="1253942"/>
          </a:xfrm>
          <a:prstGeom prst="roundRect">
            <a:avLst>
              <a:gd name="adj" fmla="val 7619"/>
            </a:avLst>
          </a:prstGeom>
          <a:solidFill>
            <a:srgbClr val="E7F6F2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36448" y="3792868"/>
            <a:ext cx="109728" cy="123565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4192" y="38843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Constraints expose priorities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4192" y="4286643"/>
            <a:ext cx="4956048" cy="633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Tell the model what not to do, how to handle uncertainty, and what to optimize.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18160" y="5284554"/>
            <a:ext cx="5303520" cy="1253943"/>
          </a:xfrm>
          <a:prstGeom prst="roundRect">
            <a:avLst>
              <a:gd name="adj" fmla="val 7619"/>
            </a:avLst>
          </a:prstGeom>
          <a:solidFill>
            <a:srgbClr val="FFF3E7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36448" y="5302843"/>
            <a:ext cx="109728" cy="1253942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4192" y="5447933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Structured outputs are testable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4192" y="5796619"/>
            <a:ext cx="49560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If you can parse it, you can evaluate it: ask for lists, schemas, functions, or stepwise deliverables.</a:t>
            </a:r>
            <a:endParaRPr lang="en-US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C9178548-5AB1-F9AD-53CC-5E784F7EEA29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17AC8522-F3C9-5DBD-96A4-AAD6B5209B3F}"/>
              </a:ext>
            </a:extLst>
          </p:cNvPr>
          <p:cNvSpPr/>
          <p:nvPr/>
        </p:nvSpPr>
        <p:spPr>
          <a:xfrm>
            <a:off x="502920" y="137014"/>
            <a:ext cx="8046720" cy="786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Anatomy of a high-quality technical prompt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114300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Different task classes need different prompt architectures.</a:t>
            </a:r>
          </a:p>
        </p:txBody>
      </p:sp>
      <p:sp>
        <p:nvSpPr>
          <p:cNvPr id="4" name="Shape 2"/>
          <p:cNvSpPr/>
          <p:nvPr/>
        </p:nvSpPr>
        <p:spPr>
          <a:xfrm>
            <a:off x="822959" y="1677924"/>
            <a:ext cx="5910349" cy="964276"/>
          </a:xfrm>
          <a:prstGeom prst="roundRect">
            <a:avLst>
              <a:gd name="adj" fmla="val 8421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5868" y="1664072"/>
            <a:ext cx="119011" cy="9781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8992" y="174401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Analysis planning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0704" y="2051861"/>
            <a:ext cx="5562876" cy="590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Ask for decomposition: inputs, transformations, outputs, tests, and likely failure points before code is written.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822960" y="2765364"/>
            <a:ext cx="5910348" cy="1018589"/>
          </a:xfrm>
          <a:prstGeom prst="roundRect">
            <a:avLst>
              <a:gd name="adj" fmla="val 8421"/>
            </a:avLst>
          </a:prstGeom>
          <a:solidFill>
            <a:srgbClr val="E7F6F2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41248" y="2783653"/>
            <a:ext cx="109728" cy="83210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78992" y="2843089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Code generation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3176845"/>
            <a:ext cx="5544588" cy="50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solidFill>
                  <a:srgbClr val="516173"/>
                </a:solidFill>
              </a:rPr>
              <a:t>Pin down libraries, data schema, function signatures, and edge cases. Request tests or assertions.</a:t>
            </a:r>
          </a:p>
        </p:txBody>
      </p:sp>
      <p:sp>
        <p:nvSpPr>
          <p:cNvPr id="12" name="Shape 10"/>
          <p:cNvSpPr/>
          <p:nvPr/>
        </p:nvSpPr>
        <p:spPr>
          <a:xfrm>
            <a:off x="822960" y="3923610"/>
            <a:ext cx="5910348" cy="1277942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41248" y="3941897"/>
            <a:ext cx="103632" cy="1266857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78992" y="402419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Debugging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0704" y="4332872"/>
            <a:ext cx="55628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Provide traceback, minimal reproducer, expected behavior, and what changed. Ask for ranked hypotheses, then a fix.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22960" y="5348410"/>
            <a:ext cx="5910348" cy="1266857"/>
          </a:xfrm>
          <a:prstGeom prst="roundRect">
            <a:avLst>
              <a:gd name="adj" fmla="val 8421"/>
            </a:avLst>
          </a:prstGeom>
          <a:solidFill>
            <a:srgbClr val="FFF3E7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22960" y="5348410"/>
            <a:ext cx="121919" cy="1266858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66800" y="5416851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Interpretation / writing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8992" y="5768479"/>
            <a:ext cx="5654316" cy="832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Provide result objects and guard against overclaiming. Require uncertainty language and separation of result vs inference.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355654" y="1828800"/>
            <a:ext cx="443484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51498" y="1874801"/>
            <a:ext cx="109728" cy="3849624"/>
          </a:xfrm>
          <a:prstGeom prst="rect">
            <a:avLst/>
          </a:prstGeom>
          <a:solidFill>
            <a:srgbClr val="153E75"/>
          </a:solidFill>
          <a:ln w="12700">
            <a:solidFill>
              <a:srgbClr val="153E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630807" y="1923845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Example: debugging prompt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630806" y="2340864"/>
            <a:ext cx="4073513" cy="3227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Task</a:t>
            </a:r>
            <a:r>
              <a:rPr lang="en-US" sz="1600" dirty="0">
                <a:solidFill>
                  <a:srgbClr val="516173"/>
                </a:solidFill>
              </a:rPr>
              <a:t>: diagnose a shape mismatch in my MNE pipeline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Context</a:t>
            </a:r>
            <a:r>
              <a:rPr lang="en-US" sz="1600" dirty="0">
                <a:solidFill>
                  <a:srgbClr val="516173"/>
                </a:solidFill>
              </a:rPr>
              <a:t>: epochs.get_data() returns (n_trials, n_channels, n_times)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Error</a:t>
            </a:r>
            <a:r>
              <a:rPr lang="en-US" sz="1600" dirty="0">
                <a:solidFill>
                  <a:srgbClr val="516173"/>
                </a:solidFill>
              </a:rPr>
              <a:t>: ValueError: operands could not be broadcast together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What changed: baseline correction was added after averaging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516173"/>
                </a:solidFill>
              </a:rPr>
              <a:t>Output</a:t>
            </a:r>
            <a:r>
              <a:rPr lang="en-US" sz="1600" dirty="0">
                <a:solidFill>
                  <a:srgbClr val="516173"/>
                </a:solidFill>
              </a:rPr>
              <a:t>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- 3 ranked hypotheses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exact code fix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16173"/>
                </a:solidFill>
              </a:rPr>
              <a:t>- one assert to catch this earlier</a:t>
            </a:r>
            <a:endParaRPr lang="en-US" sz="1600" dirty="0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FD8A5BD9-DD4D-A70E-37D9-11D7609C9C2A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E9E2BBD0-8359-C38D-ED0B-23A64529BA28}"/>
              </a:ext>
            </a:extLst>
          </p:cNvPr>
          <p:cNvSpPr/>
          <p:nvPr/>
        </p:nvSpPr>
        <p:spPr>
          <a:xfrm>
            <a:off x="502920" y="137014"/>
            <a:ext cx="8046720" cy="786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Prompting patterns for neuroscience coding tasks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18160" y="1184825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Prompt engineering is empirical: design → run → inspect → revise.</a:t>
            </a:r>
          </a:p>
        </p:txBody>
      </p:sp>
      <p:sp>
        <p:nvSpPr>
          <p:cNvPr id="4" name="Shape 2"/>
          <p:cNvSpPr/>
          <p:nvPr/>
        </p:nvSpPr>
        <p:spPr>
          <a:xfrm>
            <a:off x="453044" y="1986195"/>
            <a:ext cx="2011680" cy="786527"/>
          </a:xfrm>
          <a:prstGeom prst="roundRect">
            <a:avLst>
              <a:gd name="adj" fmla="val 11429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0224" y="206617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53E75"/>
                </a:solidFill>
              </a:rPr>
              <a:t>Baseline prompt</a:t>
            </a: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2720756" y="1986195"/>
            <a:ext cx="2011680" cy="786523"/>
          </a:xfrm>
          <a:prstGeom prst="roundRect">
            <a:avLst>
              <a:gd name="adj" fmla="val 11429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139094" y="2078989"/>
            <a:ext cx="12573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53E75"/>
                </a:solidFill>
              </a:rPr>
              <a:t>Inspect errors</a:t>
            </a:r>
            <a:endParaRPr lang="en-US" dirty="0"/>
          </a:p>
        </p:txBody>
      </p:sp>
      <p:sp>
        <p:nvSpPr>
          <p:cNvPr id="10" name="Shape 6"/>
          <p:cNvSpPr/>
          <p:nvPr/>
        </p:nvSpPr>
        <p:spPr>
          <a:xfrm>
            <a:off x="4988468" y="1986196"/>
            <a:ext cx="2011680" cy="783114"/>
          </a:xfrm>
          <a:prstGeom prst="roundRect">
            <a:avLst>
              <a:gd name="adj" fmla="val 11429"/>
            </a:avLst>
          </a:prstGeom>
          <a:solidFill>
            <a:srgbClr val="FFF3E7"/>
          </a:solidFill>
          <a:ln w="12700">
            <a:solidFill>
              <a:srgbClr val="FFF3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5125212" y="2037165"/>
            <a:ext cx="1636776" cy="71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B54708"/>
                </a:solidFill>
              </a:rPr>
              <a:t>Classify failure mode</a:t>
            </a:r>
            <a:endParaRPr lang="en-US" dirty="0"/>
          </a:p>
        </p:txBody>
      </p:sp>
      <p:sp>
        <p:nvSpPr>
          <p:cNvPr id="13" name="Shape 8"/>
          <p:cNvSpPr/>
          <p:nvPr/>
        </p:nvSpPr>
        <p:spPr>
          <a:xfrm>
            <a:off x="7256180" y="1986195"/>
            <a:ext cx="2011680" cy="786523"/>
          </a:xfrm>
          <a:prstGeom prst="roundRect">
            <a:avLst>
              <a:gd name="adj" fmla="val 11429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7256180" y="205020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53E75"/>
                </a:solidFill>
              </a:rPr>
              <a:t>Add missing constraint</a:t>
            </a:r>
            <a:endParaRPr lang="en-US" dirty="0"/>
          </a:p>
        </p:txBody>
      </p:sp>
      <p:sp>
        <p:nvSpPr>
          <p:cNvPr id="16" name="Shape 10"/>
          <p:cNvSpPr/>
          <p:nvPr/>
        </p:nvSpPr>
        <p:spPr>
          <a:xfrm>
            <a:off x="9523892" y="1986195"/>
            <a:ext cx="2011680" cy="786523"/>
          </a:xfrm>
          <a:prstGeom prst="roundRect">
            <a:avLst>
              <a:gd name="adj" fmla="val 11429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/>
          <p:nvPr/>
        </p:nvSpPr>
        <p:spPr>
          <a:xfrm>
            <a:off x="9523892" y="205020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53E75"/>
                </a:solidFill>
              </a:rPr>
              <a:t>Re-run and compare</a:t>
            </a:r>
            <a:endParaRPr lang="en-US" dirty="0"/>
          </a:p>
        </p:txBody>
      </p:sp>
      <p:sp>
        <p:nvSpPr>
          <p:cNvPr id="18" name="Shape 12"/>
          <p:cNvSpPr/>
          <p:nvPr/>
        </p:nvSpPr>
        <p:spPr>
          <a:xfrm>
            <a:off x="914400" y="3541215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DECEC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932688" y="3559503"/>
            <a:ext cx="109728" cy="156362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1170432" y="3742383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Typical failure modes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1170432" y="4053279"/>
            <a:ext cx="449884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Missing context, underspecified output format, weak negative constraints on what to avoid, absent tests, or excessive task scope.</a:t>
            </a:r>
            <a:endParaRPr lang="en-US" dirty="0"/>
          </a:p>
        </p:txBody>
      </p:sp>
      <p:sp>
        <p:nvSpPr>
          <p:cNvPr id="22" name="Shape 16"/>
          <p:cNvSpPr/>
          <p:nvPr/>
        </p:nvSpPr>
        <p:spPr>
          <a:xfrm>
            <a:off x="6080760" y="3541215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E7F6F2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48" y="3559503"/>
            <a:ext cx="109728" cy="156362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6336792" y="3742383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Good practice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6336792" y="4053279"/>
            <a:ext cx="449884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Revise one variable at a time when possible and compare outputs on a small representative task set.</a:t>
            </a: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914400" y="5577840"/>
            <a:ext cx="10058400" cy="747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If the output is fluent but wrong, improve the specification before escalating model complexity.</a:t>
            </a:r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F20681E0-BB9D-7846-5A22-94C16BE77936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489D857D-C8F5-66B8-5A1E-5DA5B22D4E4D}"/>
              </a:ext>
            </a:extLst>
          </p:cNvPr>
          <p:cNvSpPr/>
          <p:nvPr/>
        </p:nvSpPr>
        <p:spPr>
          <a:xfrm>
            <a:off x="502920" y="137014"/>
            <a:ext cx="8046720" cy="786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700" dirty="0">
                <a:solidFill>
                  <a:srgbClr val="0F172A"/>
                </a:solidFill>
                <a:latin typeface="Aptos Display" pitchFamily="34" charset="0"/>
              </a:rPr>
              <a:t>Iterative prompt refinement</a:t>
            </a: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45852" y="2260516"/>
            <a:ext cx="457200" cy="128016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3564" y="2260516"/>
            <a:ext cx="457200" cy="128016"/>
          </a:xfrm>
          <a:prstGeom prst="rect">
            <a:avLst/>
          </a:prstGeom>
        </p:spPr>
      </p:pic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1276" y="2260516"/>
            <a:ext cx="457200" cy="128016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8988" y="2260516"/>
            <a:ext cx="457200" cy="12801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8160" y="31089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700" dirty="0">
                <a:solidFill>
                  <a:srgbClr val="0F172A"/>
                </a:solidFill>
                <a:latin typeface="Aptos Display" pitchFamily="34" charset="0"/>
              </a:rPr>
              <a:t>Evaluation: how do we know a prompt is good?</a:t>
            </a:r>
          </a:p>
        </p:txBody>
      </p:sp>
      <p:sp>
        <p:nvSpPr>
          <p:cNvPr id="4" name="Shape 2"/>
          <p:cNvSpPr/>
          <p:nvPr/>
        </p:nvSpPr>
        <p:spPr>
          <a:xfrm>
            <a:off x="725978" y="1561968"/>
            <a:ext cx="3383280" cy="2719085"/>
          </a:xfrm>
          <a:prstGeom prst="roundRect">
            <a:avLst>
              <a:gd name="adj" fmla="val 3636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4266" y="1580256"/>
            <a:ext cx="109728" cy="2669647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2010" y="1763137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For code tasks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2010" y="2212582"/>
            <a:ext cx="3035808" cy="217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Compiles or runs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Passes minimal tests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Uses allowed libraries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Matches requested API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Handles stated edge cases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292138" y="1561968"/>
            <a:ext cx="3383280" cy="2719085"/>
          </a:xfrm>
          <a:prstGeom prst="roundRect">
            <a:avLst>
              <a:gd name="adj" fmla="val 3636"/>
            </a:avLst>
          </a:prstGeom>
          <a:solidFill>
            <a:srgbClr val="E7F6F2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10426" y="1580256"/>
            <a:ext cx="109728" cy="2669647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48170" y="1763137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For scientific writing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48170" y="2212582"/>
            <a:ext cx="3035808" cy="217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Factual fidelity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No overclaiming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Explicit uncertainty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Correct separation of method, result, inference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Citations when required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7858298" y="1561968"/>
            <a:ext cx="3383280" cy="2719085"/>
          </a:xfrm>
          <a:prstGeom prst="roundRect">
            <a:avLst>
              <a:gd name="adj" fmla="val 3636"/>
            </a:avLst>
          </a:prstGeom>
          <a:solidFill>
            <a:srgbClr val="FFF3E7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876586" y="1580256"/>
            <a:ext cx="109728" cy="2669647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114330" y="1763137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For structured outputs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114330" y="2212582"/>
            <a:ext cx="3035808" cy="217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Schema validity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Field completeness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No hallucinated fields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Deterministic formatting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Easy downstream parsing</a:t>
            </a:r>
            <a:endParaRPr lang="en-US" dirty="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AE2D5D59-87CC-63B3-4D04-51BC569C3577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8160" y="3801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700" dirty="0">
                <a:solidFill>
                  <a:srgbClr val="0F172A"/>
                </a:solidFill>
                <a:latin typeface="Aptos Display" pitchFamily="34" charset="0"/>
              </a:rPr>
              <a:t>Failure modes and risks in research settings</a:t>
            </a:r>
          </a:p>
        </p:txBody>
      </p:sp>
      <p:sp>
        <p:nvSpPr>
          <p:cNvPr id="3" name="Text 1"/>
          <p:cNvSpPr/>
          <p:nvPr/>
        </p:nvSpPr>
        <p:spPr>
          <a:xfrm>
            <a:off x="518160" y="1148249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LLMs are helpful accelerators, but they are not ground truth.</a:t>
            </a:r>
          </a:p>
        </p:txBody>
      </p:sp>
      <p:sp>
        <p:nvSpPr>
          <p:cNvPr id="4" name="Shape 2"/>
          <p:cNvSpPr/>
          <p:nvPr/>
        </p:nvSpPr>
        <p:spPr>
          <a:xfrm>
            <a:off x="868680" y="1673352"/>
            <a:ext cx="10424160" cy="722376"/>
          </a:xfrm>
          <a:prstGeom prst="roundRect">
            <a:avLst>
              <a:gd name="adj" fmla="val 9091"/>
            </a:avLst>
          </a:prstGeom>
          <a:solidFill>
            <a:srgbClr val="FDECEC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86968" y="1691640"/>
            <a:ext cx="109728" cy="68954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24712" y="173736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Hallucinated APIs or file paths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4712" y="2020824"/>
            <a:ext cx="100766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Model invents functions, packages, columns, or filenames that do not exist. 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868680" y="2523744"/>
            <a:ext cx="10424160" cy="1024128"/>
          </a:xfrm>
          <a:prstGeom prst="roundRect">
            <a:avLst>
              <a:gd name="adj" fmla="val 9091"/>
            </a:avLst>
          </a:prstGeom>
          <a:solidFill>
            <a:srgbClr val="FFF3E7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86968" y="2542031"/>
            <a:ext cx="109728" cy="977577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24712" y="262432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Scientific overreach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24712" y="2907792"/>
            <a:ext cx="10076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Interpretation exceeds what the statistics support  </a:t>
            </a:r>
            <a:r>
              <a:rPr lang="en-US" dirty="0">
                <a:solidFill>
                  <a:srgbClr val="516173"/>
                </a:solidFill>
                <a:sym typeface="Wingdings" pitchFamily="2" charset="2"/>
              </a:rPr>
              <a:t> </a:t>
            </a:r>
            <a:r>
              <a:rPr lang="en-US" dirty="0">
                <a:solidFill>
                  <a:srgbClr val="516173"/>
                </a:solidFill>
              </a:rPr>
              <a:t>cautious language and human review of conclusions.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68680" y="3694176"/>
            <a:ext cx="10424160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86968" y="3712464"/>
            <a:ext cx="109728" cy="76809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24712" y="37490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Silent assumption injection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24712" y="4096512"/>
            <a:ext cx="1007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The model fills gaps without clearly flagging assumptions </a:t>
            </a:r>
            <a:r>
              <a:rPr lang="en-US" dirty="0">
                <a:solidFill>
                  <a:srgbClr val="516173"/>
                </a:solidFill>
                <a:sym typeface="Wingdings" pitchFamily="2" charset="2"/>
              </a:rPr>
              <a:t> </a:t>
            </a:r>
            <a:r>
              <a:rPr lang="en-US" dirty="0">
                <a:solidFill>
                  <a:srgbClr val="516173"/>
                </a:solidFill>
              </a:rPr>
              <a:t>require explicit assumptions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68680" y="4654296"/>
            <a:ext cx="10424160" cy="804672"/>
          </a:xfrm>
          <a:prstGeom prst="roundRect">
            <a:avLst>
              <a:gd name="adj" fmla="val 9091"/>
            </a:avLst>
          </a:prstGeom>
          <a:solidFill>
            <a:srgbClr val="FDECEC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86968" y="4672584"/>
            <a:ext cx="109728" cy="768096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24712" y="474573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Data leakage / privacy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24712" y="5074920"/>
            <a:ext cx="10076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Sensitive data pasted into prompts may violate lab or patient-data rules. 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868680" y="5586984"/>
            <a:ext cx="10424160" cy="804672"/>
          </a:xfrm>
          <a:prstGeom prst="roundRect">
            <a:avLst>
              <a:gd name="adj" fmla="val 9091"/>
            </a:avLst>
          </a:prstGeom>
          <a:solidFill>
            <a:srgbClr val="E7F6F2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86968" y="5605272"/>
            <a:ext cx="109728" cy="76809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124712" y="56784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Brittle dependence on phrasing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24712" y="6099048"/>
            <a:ext cx="1007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A solution works only for one wording and fails under small changes.  </a:t>
            </a:r>
            <a:endParaRPr lang="en-US" dirty="0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54918A35-04DC-E7DB-2840-CEAB741048BB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49808" y="122529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8160" y="1184147"/>
            <a:ext cx="11137392" cy="1467611"/>
          </a:xfrm>
          <a:prstGeom prst="roundRect">
            <a:avLst>
              <a:gd name="adj" fmla="val 7619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36448" y="1202436"/>
            <a:ext cx="97536" cy="138920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4192" y="1385316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Scenario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4192" y="1696212"/>
            <a:ext cx="10697372" cy="895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/>
              <a:t>You have calcium imaging data from multiple animals across two stimulus conditions. You want help generating a Python analysis scaffold that loads data, computes ΔF/F summaries, compares conditions, and produces a figure.</a:t>
            </a:r>
          </a:p>
        </p:txBody>
      </p:sp>
      <p:sp>
        <p:nvSpPr>
          <p:cNvPr id="8" name="Shape 6"/>
          <p:cNvSpPr/>
          <p:nvPr/>
        </p:nvSpPr>
        <p:spPr>
          <a:xfrm>
            <a:off x="914400" y="3063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109728" cy="2112264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70432" y="326440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task A · Problem formulation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70432" y="3783129"/>
            <a:ext cx="28986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scientific objective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unit of analysis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desired deliverable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what must not be assumed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480560" y="3063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98848" y="3081528"/>
            <a:ext cx="109728" cy="21122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36592" y="313639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task B · Context block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36592" y="3783129"/>
            <a:ext cx="28986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file structure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variable names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available libraries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expected outputs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046720" y="3063240"/>
            <a:ext cx="324612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65008" y="3081528"/>
            <a:ext cx="109728" cy="2112264"/>
          </a:xfrm>
          <a:prstGeom prst="rect">
            <a:avLst/>
          </a:prstGeom>
          <a:solidFill>
            <a:srgbClr val="B54708"/>
          </a:solidFill>
          <a:ln w="12700">
            <a:solidFill>
              <a:srgbClr val="B547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02752" y="3167153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task C · Validation block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02752" y="3783129"/>
            <a:ext cx="28986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one test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one schema check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one failure condition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16173"/>
                </a:solidFill>
              </a:rPr>
              <a:t>- one required caveat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82752" y="5623562"/>
            <a:ext cx="10058400" cy="514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53E75"/>
                </a:solidFill>
              </a:rPr>
              <a:t>? explain </a:t>
            </a:r>
            <a:r>
              <a:rPr lang="en-US" dirty="0">
                <a:solidFill>
                  <a:srgbClr val="153E75"/>
                </a:solidFill>
              </a:rPr>
              <a:t>why each block changes model behavior and reduces a specific failure mode.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87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A4D7F9B2-AD40-CE13-0C1C-6494C2860F17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A60DC70F-A898-C296-FD4D-AAE322BA4B50}"/>
              </a:ext>
            </a:extLst>
          </p:cNvPr>
          <p:cNvSpPr/>
          <p:nvPr/>
        </p:nvSpPr>
        <p:spPr>
          <a:xfrm>
            <a:off x="518160" y="380152"/>
            <a:ext cx="1118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700" dirty="0">
                <a:solidFill>
                  <a:srgbClr val="0F172A"/>
                </a:solidFill>
                <a:latin typeface="Aptos Display" pitchFamily="34" charset="0"/>
              </a:rPr>
              <a:t>Exercise 1: </a:t>
            </a:r>
            <a:r>
              <a:rPr lang="en-US" sz="2800" dirty="0">
                <a:solidFill>
                  <a:srgbClr val="516173"/>
                </a:solidFill>
              </a:rPr>
              <a:t>Design a prompt system, not just a single prompt.</a:t>
            </a:r>
            <a:endParaRPr lang="en-US" sz="2800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2F941-4BEA-A8FF-7B6A-CD322BB32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5C04CCD-26BE-5C89-B8B8-9370E4AF9508}"/>
              </a:ext>
            </a:extLst>
          </p:cNvPr>
          <p:cNvSpPr/>
          <p:nvPr/>
        </p:nvSpPr>
        <p:spPr>
          <a:xfrm>
            <a:off x="749808" y="122529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1FBAD00-33D7-D534-B9E9-33E2774668C7}"/>
              </a:ext>
            </a:extLst>
          </p:cNvPr>
          <p:cNvSpPr/>
          <p:nvPr/>
        </p:nvSpPr>
        <p:spPr>
          <a:xfrm>
            <a:off x="518160" y="1184147"/>
            <a:ext cx="11137392" cy="2847524"/>
          </a:xfrm>
          <a:prstGeom prst="roundRect">
            <a:avLst>
              <a:gd name="adj" fmla="val 7619"/>
            </a:avLst>
          </a:prstGeom>
          <a:solidFill>
            <a:srgbClr val="EAF2FF"/>
          </a:solidFill>
          <a:ln w="12700">
            <a:solidFill>
              <a:srgbClr val="DCE5F0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42BC1B8-C860-F469-2F5A-AA3764D5B38C}"/>
              </a:ext>
            </a:extLst>
          </p:cNvPr>
          <p:cNvSpPr/>
          <p:nvPr/>
        </p:nvSpPr>
        <p:spPr>
          <a:xfrm>
            <a:off x="536448" y="1202435"/>
            <a:ext cx="97536" cy="2847523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46A9258-C331-3815-0932-267BE193E210}"/>
              </a:ext>
            </a:extLst>
          </p:cNvPr>
          <p:cNvSpPr/>
          <p:nvPr/>
        </p:nvSpPr>
        <p:spPr>
          <a:xfrm>
            <a:off x="774192" y="1385316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43E"/>
                </a:solidFill>
              </a:rPr>
              <a:t>Scenario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D84FECA-B0FB-C1F2-5569-C7A2260FC346}"/>
              </a:ext>
            </a:extLst>
          </p:cNvPr>
          <p:cNvSpPr/>
          <p:nvPr/>
        </p:nvSpPr>
        <p:spPr>
          <a:xfrm>
            <a:off x="774192" y="1696211"/>
            <a:ext cx="10697372" cy="2335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dirty="0"/>
              <a:t>You have spike train data from multiple neurons recorded during two </a:t>
            </a:r>
            <a:r>
              <a:rPr lang="en-GB" dirty="0" err="1"/>
              <a:t>behavioral</a:t>
            </a:r>
            <a:r>
              <a:rPr lang="en-GB" dirty="0"/>
              <a:t> conditions: </a:t>
            </a:r>
            <a:r>
              <a:rPr lang="en-GB" b="1" dirty="0"/>
              <a:t>rest</a:t>
            </a:r>
            <a:r>
              <a:rPr lang="en-GB" dirty="0"/>
              <a:t> and </a:t>
            </a:r>
            <a:r>
              <a:rPr lang="en-GB" b="1" dirty="0"/>
              <a:t>movement</a:t>
            </a:r>
            <a:r>
              <a:rPr lang="en-GB" dirty="0"/>
              <a:t>. You want help generating a Python analysis scaffold that: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loads the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computes firing-rate summaries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compares the two conditions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produces one figure </a:t>
            </a:r>
          </a:p>
          <a:p>
            <a:r>
              <a:rPr lang="en-GB" dirty="0"/>
              <a:t>Your goal is to design a prompt system that would let a coding model generate a reliable first draft.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6873CA3-BF28-12F0-835F-CEE5A4BFDE9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87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3C509DA6-4E34-8A9A-1064-B7EF8935DBEF}"/>
              </a:ext>
            </a:extLst>
          </p:cNvPr>
          <p:cNvSpPr/>
          <p:nvPr/>
        </p:nvSpPr>
        <p:spPr>
          <a:xfrm>
            <a:off x="518160" y="956224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910C9E63-C966-88AA-D349-EDBD06EC2C66}"/>
              </a:ext>
            </a:extLst>
          </p:cNvPr>
          <p:cNvSpPr/>
          <p:nvPr/>
        </p:nvSpPr>
        <p:spPr>
          <a:xfrm>
            <a:off x="518160" y="380152"/>
            <a:ext cx="1118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700" dirty="0">
                <a:solidFill>
                  <a:srgbClr val="0F172A"/>
                </a:solidFill>
                <a:latin typeface="Aptos Display" pitchFamily="34" charset="0"/>
              </a:rPr>
              <a:t>Exercise 2: </a:t>
            </a:r>
            <a:r>
              <a:rPr lang="en-US" sz="2800" dirty="0">
                <a:solidFill>
                  <a:srgbClr val="516173"/>
                </a:solidFill>
              </a:rPr>
              <a:t>Design a prompt system, not just a single prompt.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74491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Words>1422</Words>
  <Application>Microsoft Macintosh PowerPoint</Application>
  <PresentationFormat>Widescreen</PresentationFormat>
  <Paragraphs>198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Aptos Mono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for Scientific Coding</dc:title>
  <dc:subject>Prompt Engineering for Scientific Coding</dc:subject>
  <dc:creator>OpenAI</dc:creator>
  <cp:lastModifiedBy>Sara Assecondi</cp:lastModifiedBy>
  <cp:revision>4</cp:revision>
  <dcterms:created xsi:type="dcterms:W3CDTF">2026-04-12T13:06:06Z</dcterms:created>
  <dcterms:modified xsi:type="dcterms:W3CDTF">2026-04-12T15:09:46Z</dcterms:modified>
</cp:coreProperties>
</file>